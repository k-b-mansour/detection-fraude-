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suis Khawla Ben Mansour. Je présente un projet de détection de fraude bancaire mené de bout en bout, du socle de données jusqu'à la mise en production, en un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fraude carte est un problème de classe rarissime : 1,5 % des transactions. Un modèle qui répond toujours non a 98,5 % de justesse et ne sert à rien. Toute la difficulté est là.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objectifs, un par bloc de compétences. Chacun est vérifiable par un livrable exécutable, pas par une déclaration.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a été mené en un mois, structuré comme en entreprise : cadrage, données, exploration, modélisation, industrialisation, validation. Les blocs se recouvrent volontairement — l'API a été préparée pendant l'entraînement des modèles.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chaîne complète. Chaque bloc consomme la sortie du précédent : les données alimentent l'analyse, l'analyse oriente les modèles, le modèle est servi par l'API, et le dernier bloc mesure la conformité et la valeur.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bloc : sans données fiables, tout le reste est du bruit.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couches, une seule fonction de transformation partagée entre le batch et le streaming : le chemin ne peut pas diverger entre les deux voies. C'est la décision structurante du bloc.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pipeline temps réel doit survivre aux pannes. Idempotence, déduplication, offsets commités après écriture, file de rejet pour les messages invalides. Et dix contrôles qualité qui tournent après chaque chargement.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bloc : regarder les données avant de modéliser.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fraude pour 66 transactions légitimes. C'est le chiffre qui conditionne tous les choix méthodologiques du projet : métriques, pondération des classes, choix du seuil.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portrait-robot : paiement en ligne, sans authentification, la nuit, et surtout depuis un pays inhabituel — ce dernier signal est presque déterministe dans les données simulées, ce qui est une limite à assumer.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les distributions : la fraude est plus chère et beaucoup plus lointaine, mais les distributions se recouvrent largement — un simple seuil sur le montant ne suffira pas. À droite, la démonstration : les détecteurs statistiques classiques échouent.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bloc : le cœur modélisation.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modèles comparés sur un découpage temporel, pas aléatoire : on entraîne sur le passé et on teste sur le futur, comme en production. LightGBM domine largement.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SMOTE fabrique des fraudes artificielles pour rééquilibrer. Le rappel monte, mais la précision s'écroule à 23 % : trois alertes sur quatre seraient fausses. Technique écartée — et c'est un résultat, pas un échec.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seuil n'est pas un paramètre technique, c'est une décision de gestion. Ici deux options : 0,5 attrape presque tout mais alerte beaucoup ; 0,98 est plus sobre mais laisse passer une fraude sur quatre. Le BC06 tranchera avec des euros.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Explicabilité : quelles variables comptent globalement, et pourquoi cette transaction précise a été bloquée. C'est ce qui rend l'article 22 du RGPD tenable.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bloc : le deep learning, testé sérieusement et remis à sa juste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L'autoencodeur n'apprend que le comportement normal ; ce qu'il reconstruit mal est suspect. Il ne bat pas LightGBM, mais il n'a jamais vu une seule étiquette de fraude — c'est là son intérêt : détecter des fraudes d'un type inconnu.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résultat le plus intéressant du bloc : l'autoencodeur excelle sur les fraudes qui rompent le comportement habituel, et est aveugle aux fraudes discrètes comme le test de carte. C'est une conclusion opérationnelle.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LSTM lit l'historique des 5 dernières transactions du client. Il approche LightGBM sans le dépasser, mais il capture 24 fraudes que LightGBM rate — d'où la piste d'un système à deux modèles.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bloc : passer du notebook au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L'API répond en 24 à 60 millisecondes, très en dessous du budget de 200. Elle renvoie aussi les cinq facteurs SHAP de la décision. Sept tests automatisés, pipeline CI/CD vert après trois échecs réels documentés.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modèle vieillit parce que le monde change. Le monitoring compare la distribution des données reçues à celle de l'entraînement. Sous 20 % de colonnes dérivées, pas d'alerte ; au-dessus, alerte. Le scénario simulé la déclenche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Dernier bloc : conformité et valeur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L'audit RGPD est un script qui interroge le schéma réel de la base. Six contrôles sur huit passent. Les deux échecs sont affichés, pas cachés : pas de politique de purge, et un mot de passe de démonstration dans le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résultat le plus important du projet : le seuil optimisé statistiquement n'est pas le plus rentable. Il coûte 20 901 euros de plus, parce qu'une fraude manquée coûte bien plus cher qu'une fausse alerte. C'est la valeur ajoutée de raisonner en euros et pas en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résumé : une chaîne complète, un modèle en service, une décision chiffrée. Les limites sont connues et la feuille de route est écrite. Merci,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D3D"/>
        </a:solidFill>
      </p:bgPr>
    </p:bg>
    <p:spTree>
      <p:nvGrpSpPr>
        <p:cNvPr id="1" name=""/>
        <p:cNvGrpSpPr/>
        <p:nvPr/>
      </p:nvGrpSpPr>
      <p:grpSpPr>
        <a:xfrm>
          <a:off x="0" y="0"/>
          <a:ext cx="0" cy="0"/>
          <a:chOff x="0" y="0"/>
          <a:chExt cx="0" cy="0"/>
        </a:xfrm>
      </p:grpSpPr>
      <p:sp>
        <p:nvSpPr>
          <p:cNvPr id="2" name="Text 0"/>
          <p:cNvSpPr/>
          <p:nvPr/>
        </p:nvSpPr>
        <p:spPr>
          <a:xfrm>
            <a:off x="1066800" y="914400"/>
            <a:ext cx="9151551" cy="336550"/>
          </a:xfrm>
          <a:prstGeom prst="rect">
            <a:avLst/>
          </a:prstGeom>
          <a:noFill/>
          <a:ln/>
        </p:spPr>
        <p:txBody>
          <a:bodyPr wrap="square" lIns="25400" tIns="25400" rIns="25400" bIns="25400" rtlCol="0" anchor="t">
            <a:normAutofit/>
          </a:bodyPr>
          <a:lstStyle/>
          <a:p>
            <a:pPr algn="l" indent="0" marL="0">
              <a:buNone/>
            </a:pPr>
            <a:r>
              <a:rPr lang="en-US" sz="1950" spc="351" kern="0" dirty="0">
                <a:solidFill>
                  <a:srgbClr val="94BCE3"/>
                </a:solidFill>
                <a:latin typeface="Arial" pitchFamily="34" charset="0"/>
                <a:ea typeface="Arial" pitchFamily="34" charset="-122"/>
                <a:cs typeface="Arial" pitchFamily="34" charset="-120"/>
              </a:rPr>
              <a:t>TITRE RNCP · CONCEPTEUR DÉVELOPPEUR EN SCIENCE DES DONNÉES</a:t>
            </a:r>
            <a:endParaRPr lang="en-US" sz="1950" dirty="0"/>
          </a:p>
        </p:txBody>
      </p:sp>
      <p:sp>
        <p:nvSpPr>
          <p:cNvPr id="3" name="Text 1"/>
          <p:cNvSpPr/>
          <p:nvPr/>
        </p:nvSpPr>
        <p:spPr>
          <a:xfrm>
            <a:off x="15524262" y="914400"/>
            <a:ext cx="1866632" cy="336550"/>
          </a:xfrm>
          <a:prstGeom prst="rect">
            <a:avLst/>
          </a:prstGeom>
          <a:noFill/>
          <a:ln/>
        </p:spPr>
        <p:txBody>
          <a:bodyPr wrap="square" lIns="25400" tIns="25400" rIns="25400" bIns="25400" rtlCol="0" anchor="t">
            <a:normAutofit/>
          </a:bodyPr>
          <a:lstStyle/>
          <a:p>
            <a:pPr algn="l" indent="0" marL="0">
              <a:buNone/>
            </a:pPr>
            <a:r>
              <a:rPr lang="en-US" sz="1950" spc="351" kern="0" dirty="0">
                <a:solidFill>
                  <a:srgbClr val="94BCE3"/>
                </a:solidFill>
                <a:latin typeface="Arial" pitchFamily="34" charset="0"/>
                <a:ea typeface="Arial" pitchFamily="34" charset="-122"/>
                <a:cs typeface="Arial" pitchFamily="34" charset="-120"/>
              </a:rPr>
              <a:t>SESSION 2026</a:t>
            </a:r>
            <a:endParaRPr lang="en-US" sz="1950" dirty="0"/>
          </a:p>
        </p:txBody>
      </p:sp>
      <p:sp>
        <p:nvSpPr>
          <p:cNvPr id="4" name="Shape 2"/>
          <p:cNvSpPr/>
          <p:nvPr/>
        </p:nvSpPr>
        <p:spPr>
          <a:xfrm>
            <a:off x="1066800" y="2345333"/>
            <a:ext cx="1143000" cy="9525"/>
          </a:xfrm>
          <a:prstGeom prst="rect">
            <a:avLst/>
          </a:prstGeom>
          <a:solidFill>
            <a:srgbClr val="597EA3"/>
          </a:solidFill>
          <a:ln/>
        </p:spPr>
      </p:sp>
      <p:sp>
        <p:nvSpPr>
          <p:cNvPr id="5" name="Text 3"/>
          <p:cNvSpPr/>
          <p:nvPr/>
        </p:nvSpPr>
        <p:spPr>
          <a:xfrm>
            <a:off x="1066800" y="2697758"/>
            <a:ext cx="14716125" cy="2724150"/>
          </a:xfrm>
          <a:prstGeom prst="rect">
            <a:avLst/>
          </a:prstGeom>
          <a:noFill/>
          <a:ln/>
        </p:spPr>
        <p:txBody>
          <a:bodyPr wrap="square" lIns="25400" tIns="25400" rIns="25400" bIns="25400" rtlCol="0" anchor="t">
            <a:normAutofit/>
          </a:bodyPr>
          <a:lstStyle/>
          <a:p>
            <a:pPr algn="l" indent="0" marL="0">
              <a:lnSpc>
                <a:spcPct val="81660"/>
              </a:lnSpc>
              <a:buNone/>
            </a:pPr>
            <a:r>
              <a:rPr lang="en-US" sz="11250" b="1" spc="-225" kern="0" dirty="0">
                <a:solidFill>
                  <a:srgbClr val="F2F2F3"/>
                </a:solidFill>
                <a:latin typeface="Arial" pitchFamily="34" charset="0"/>
                <a:ea typeface="Arial" pitchFamily="34" charset="-122"/>
                <a:cs typeface="Arial" pitchFamily="34" charset="-120"/>
              </a:rPr>
              <a:t>Détection de fraude sur transactions bancaires</a:t>
            </a:r>
            <a:endParaRPr lang="en-US" sz="11250" dirty="0"/>
          </a:p>
        </p:txBody>
      </p:sp>
      <p:sp>
        <p:nvSpPr>
          <p:cNvPr id="6" name="Text 4"/>
          <p:cNvSpPr/>
          <p:nvPr/>
        </p:nvSpPr>
        <p:spPr>
          <a:xfrm>
            <a:off x="1066800" y="5726708"/>
            <a:ext cx="11576685" cy="1446609"/>
          </a:xfrm>
          <a:prstGeom prst="rect">
            <a:avLst/>
          </a:prstGeom>
          <a:noFill/>
          <a:ln/>
        </p:spPr>
        <p:txBody>
          <a:bodyPr wrap="square" lIns="25400" tIns="25400" rIns="25400" bIns="25400" rtlCol="0" anchor="t">
            <a:normAutofit/>
          </a:bodyPr>
          <a:lstStyle/>
          <a:p>
            <a:pPr algn="l" indent="0" marL="0">
              <a:lnSpc>
                <a:spcPct val="125339"/>
              </a:lnSpc>
              <a:buNone/>
            </a:pPr>
            <a:r>
              <a:rPr lang="en-US" sz="2550" dirty="0">
                <a:solidFill>
                  <a:srgbClr val="D6EBFF"/>
                </a:solidFill>
                <a:latin typeface="Arial" pitchFamily="34" charset="0"/>
                <a:ea typeface="Arial" pitchFamily="34" charset="-122"/>
                <a:cs typeface="Arial" pitchFamily="34" charset="-120"/>
              </a:rPr>
              <a:t>Pipeline ML / Deep Learning de bout en bout — socle de données, analyse, modélisation, mise en production et conformité. Présentation bloc par bloc, BC01 → BC06.</a:t>
            </a:r>
            <a:endParaRPr lang="en-US" sz="2550" dirty="0"/>
          </a:p>
        </p:txBody>
      </p:sp>
      <p:sp>
        <p:nvSpPr>
          <p:cNvPr id="7" name="Shape 5"/>
          <p:cNvSpPr/>
          <p:nvPr/>
        </p:nvSpPr>
        <p:spPr>
          <a:xfrm>
            <a:off x="1066800" y="8267700"/>
            <a:ext cx="16154400" cy="9525"/>
          </a:xfrm>
          <a:prstGeom prst="rect">
            <a:avLst/>
          </a:prstGeom>
          <a:solidFill>
            <a:srgbClr val="416180"/>
          </a:solidFill>
          <a:ln/>
        </p:spPr>
      </p:sp>
      <p:sp>
        <p:nvSpPr>
          <p:cNvPr id="8" name="Text 6"/>
          <p:cNvSpPr/>
          <p:nvPr/>
        </p:nvSpPr>
        <p:spPr>
          <a:xfrm>
            <a:off x="1066800" y="8540750"/>
            <a:ext cx="8431005" cy="539750"/>
          </a:xfrm>
          <a:prstGeom prst="rect">
            <a:avLst/>
          </a:prstGeom>
          <a:noFill/>
          <a:ln/>
        </p:spPr>
        <p:txBody>
          <a:bodyPr wrap="square" lIns="25400" tIns="25400" rIns="25400" bIns="25400" rtlCol="0" anchor="t">
            <a:normAutofit/>
          </a:bodyPr>
          <a:lstStyle/>
          <a:p>
            <a:pPr algn="l" indent="0" marL="0">
              <a:buNone/>
            </a:pPr>
            <a:r>
              <a:rPr lang="en-US" sz="3300" spc="66" kern="0" dirty="0">
                <a:solidFill>
                  <a:srgbClr val="F2F2F3"/>
                </a:solidFill>
                <a:latin typeface="Arial" pitchFamily="34" charset="0"/>
                <a:ea typeface="Arial" pitchFamily="34" charset="-122"/>
                <a:cs typeface="Arial" pitchFamily="34" charset="-120"/>
              </a:rPr>
              <a:t>Khawla Ben Mansour</a:t>
            </a:r>
            <a:endParaRPr lang="en-US" sz="3300" dirty="0"/>
          </a:p>
        </p:txBody>
      </p:sp>
      <p:sp>
        <p:nvSpPr>
          <p:cNvPr id="9" name="Text 7"/>
          <p:cNvSpPr/>
          <p:nvPr/>
        </p:nvSpPr>
        <p:spPr>
          <a:xfrm>
            <a:off x="1066800" y="9099550"/>
            <a:ext cx="8431005" cy="311150"/>
          </a:xfrm>
          <a:prstGeom prst="rect">
            <a:avLst/>
          </a:prstGeom>
          <a:noFill/>
          <a:ln/>
        </p:spPr>
        <p:txBody>
          <a:bodyPr wrap="square" lIns="25400" tIns="25400" rIns="25400" bIns="25400" rtlCol="0" anchor="t">
            <a:normAutofit/>
          </a:bodyPr>
          <a:lstStyle/>
          <a:p>
            <a:pPr algn="l" indent="0" marL="0">
              <a:buNone/>
            </a:pPr>
            <a:r>
              <a:rPr lang="en-US" sz="1800" dirty="0">
                <a:solidFill>
                  <a:srgbClr val="94BCE3"/>
                </a:solidFill>
                <a:latin typeface="Arial" pitchFamily="34" charset="0"/>
                <a:ea typeface="Arial" pitchFamily="34" charset="-122"/>
                <a:cs typeface="Arial" pitchFamily="34" charset="-120"/>
              </a:rPr>
              <a:t>Projet mené en 1 mois · données simulées 5 000 clients / 400 000 transactions</a:t>
            </a:r>
            <a:endParaRPr lang="en-US" sz="1800" dirty="0"/>
          </a:p>
        </p:txBody>
      </p:sp>
      <p:sp>
        <p:nvSpPr>
          <p:cNvPr id="10" name="Text 8"/>
          <p:cNvSpPr/>
          <p:nvPr/>
        </p:nvSpPr>
        <p:spPr>
          <a:xfrm>
            <a:off x="12790190" y="9099550"/>
            <a:ext cx="4874111" cy="311150"/>
          </a:xfrm>
          <a:prstGeom prst="rect">
            <a:avLst/>
          </a:prstGeom>
          <a:noFill/>
          <a:ln/>
        </p:spPr>
        <p:txBody>
          <a:bodyPr wrap="square" lIns="25400" tIns="25400" rIns="25400" bIns="25400" rtlCol="0" anchor="t">
            <a:normAutofit/>
          </a:bodyPr>
          <a:lstStyle/>
          <a:p>
            <a:pPr algn="l" indent="0" marL="0">
              <a:buNone/>
            </a:pPr>
            <a:r>
              <a:rPr lang="en-US" sz="1800" dirty="0">
                <a:solidFill>
                  <a:srgbClr val="94BCE3"/>
                </a:solidFill>
                <a:latin typeface="Arial" pitchFamily="34" charset="0"/>
                <a:ea typeface="Arial" pitchFamily="34" charset="-122"/>
                <a:cs typeface="Arial" pitchFamily="34" charset="-120"/>
              </a:rPr>
              <a:t>github.com/k-b-mansour/Detection-Fraude-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1029990"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CADRAGE</a:t>
            </a:r>
            <a:endParaRPr lang="en-US" sz="1800" dirty="0"/>
          </a:p>
        </p:txBody>
      </p:sp>
      <p:sp>
        <p:nvSpPr>
          <p:cNvPr id="3" name="Text 1"/>
          <p:cNvSpPr/>
          <p:nvPr/>
        </p:nvSpPr>
        <p:spPr>
          <a:xfrm>
            <a:off x="16442036" y="685800"/>
            <a:ext cx="855365"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01 / 06</a:t>
            </a:r>
            <a:endParaRPr lang="en-US" sz="1800" dirty="0"/>
          </a:p>
        </p:txBody>
      </p:sp>
      <p:sp>
        <p:nvSpPr>
          <p:cNvPr id="4" name="Text 2"/>
          <p:cNvSpPr/>
          <p:nvPr/>
        </p:nvSpPr>
        <p:spPr>
          <a:xfrm>
            <a:off x="1066800" y="1377950"/>
            <a:ext cx="17769840" cy="873621"/>
          </a:xfrm>
          <a:prstGeom prst="rect">
            <a:avLst/>
          </a:prstGeom>
          <a:noFill/>
          <a:ln/>
        </p:spPr>
        <p:txBody>
          <a:bodyPr wrap="square" lIns="25400" tIns="25400" rIns="25400" bIns="25400" rtlCol="0" anchor="t">
            <a:normAutofit/>
          </a:bodyPr>
          <a:lstStyle/>
          <a:p>
            <a:pPr algn="l" indent="0" marL="0">
              <a:lnSpc>
                <a:spcPct val="88905"/>
              </a:lnSpc>
              <a:buNone/>
            </a:pPr>
            <a:r>
              <a:rPr lang="en-US" sz="6450" b="1" spc="-97" kern="0" dirty="0">
                <a:solidFill>
                  <a:srgbClr val="1D1F20"/>
                </a:solidFill>
                <a:latin typeface="Arial" pitchFamily="34" charset="0"/>
                <a:ea typeface="Arial" pitchFamily="34" charset="-122"/>
                <a:cs typeface="Arial" pitchFamily="34" charset="-120"/>
              </a:rPr>
              <a:t>Contexte &amp; problématique</a:t>
            </a:r>
            <a:endParaRPr lang="en-US" sz="6450" dirty="0"/>
          </a:p>
        </p:txBody>
      </p:sp>
      <p:sp>
        <p:nvSpPr>
          <p:cNvPr id="5" name="Text 3"/>
          <p:cNvSpPr/>
          <p:nvPr/>
        </p:nvSpPr>
        <p:spPr>
          <a:xfrm>
            <a:off x="1066800" y="2632571"/>
            <a:ext cx="8564070" cy="1752600"/>
          </a:xfrm>
          <a:prstGeom prst="rect">
            <a:avLst/>
          </a:prstGeom>
          <a:noFill/>
          <a:ln/>
        </p:spPr>
        <p:txBody>
          <a:bodyPr wrap="square" lIns="25400" tIns="25400" rIns="25400" bIns="25400" rtlCol="0" anchor="t">
            <a:normAutofit/>
          </a:bodyPr>
          <a:lstStyle/>
          <a:p>
            <a:pPr algn="l" indent="0" marL="0">
              <a:lnSpc>
                <a:spcPct val="129808"/>
              </a:lnSpc>
              <a:buNone/>
            </a:pPr>
            <a:r>
              <a:rPr lang="en-US" sz="2250" dirty="0">
                <a:solidFill>
                  <a:srgbClr val="1D1F20"/>
                </a:solidFill>
                <a:latin typeface="Arial" pitchFamily="34" charset="0"/>
                <a:ea typeface="Arial" pitchFamily="34" charset="-122"/>
                <a:cs typeface="Arial" pitchFamily="34" charset="-120"/>
              </a:rPr>
              <a:t>Une banque traite des centaines de milliers de paiements carte. Une infime part est frauduleuse, mais chaque fraude non détectée est une perte sèche — et chaque fausse alerte est un client bloqué en caisse.</a:t>
            </a:r>
            <a:endParaRPr lang="en-US" sz="2250" dirty="0"/>
          </a:p>
        </p:txBody>
      </p:sp>
      <p:sp>
        <p:nvSpPr>
          <p:cNvPr id="6" name="Shape 4"/>
          <p:cNvSpPr/>
          <p:nvPr/>
        </p:nvSpPr>
        <p:spPr>
          <a:xfrm>
            <a:off x="1066800" y="4594721"/>
            <a:ext cx="8314631" cy="2747963"/>
          </a:xfrm>
          <a:prstGeom prst="rect">
            <a:avLst/>
          </a:prstGeom>
          <a:ln w="6350">
            <a:solidFill>
              <a:srgbClr val="1D1F20">
                <a:alpha val="16000"/>
              </a:srgbClr>
            </a:solidFill>
            <a:prstDash val="solid"/>
          </a:ln>
        </p:spPr>
      </p:sp>
      <p:sp>
        <p:nvSpPr>
          <p:cNvPr id="7" name="Shape 5"/>
          <p:cNvSpPr/>
          <p:nvPr/>
        </p:nvSpPr>
        <p:spPr>
          <a:xfrm>
            <a:off x="1016000" y="4543921"/>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8" name="Shape 6"/>
          <p:cNvSpPr/>
          <p:nvPr/>
        </p:nvSpPr>
        <p:spPr>
          <a:xfrm>
            <a:off x="9327456" y="4543921"/>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9" name="Shape 7"/>
          <p:cNvSpPr/>
          <p:nvPr/>
        </p:nvSpPr>
        <p:spPr>
          <a:xfrm>
            <a:off x="1016000" y="7288709"/>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0" name="Shape 8"/>
          <p:cNvSpPr/>
          <p:nvPr/>
        </p:nvSpPr>
        <p:spPr>
          <a:xfrm>
            <a:off x="9327456" y="7288709"/>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1" name="Text 9"/>
          <p:cNvSpPr/>
          <p:nvPr/>
        </p:nvSpPr>
        <p:spPr>
          <a:xfrm>
            <a:off x="1416050" y="4905871"/>
            <a:ext cx="8377744"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LA PROBLÉMATIQUE</a:t>
            </a:r>
            <a:endParaRPr lang="en-US" sz="1800" dirty="0"/>
          </a:p>
        </p:txBody>
      </p:sp>
      <p:sp>
        <p:nvSpPr>
          <p:cNvPr id="12" name="Text 10"/>
          <p:cNvSpPr/>
          <p:nvPr/>
        </p:nvSpPr>
        <p:spPr>
          <a:xfrm>
            <a:off x="1416050" y="5312271"/>
            <a:ext cx="7844614" cy="1757363"/>
          </a:xfrm>
          <a:prstGeom prst="rect">
            <a:avLst/>
          </a:prstGeom>
          <a:noFill/>
          <a:ln/>
        </p:spPr>
        <p:txBody>
          <a:bodyPr wrap="square" lIns="25400" tIns="25400" rIns="25400" bIns="25400" rtlCol="0" anchor="t">
            <a:normAutofit/>
          </a:bodyPr>
          <a:lstStyle/>
          <a:p>
            <a:pPr algn="l" indent="0" marL="0">
              <a:lnSpc>
                <a:spcPct val="122182"/>
              </a:lnSpc>
              <a:buNone/>
            </a:pPr>
            <a:r>
              <a:rPr lang="en-US" sz="2400" dirty="0">
                <a:solidFill>
                  <a:srgbClr val="1D1F20"/>
                </a:solidFill>
                <a:latin typeface="Arial" pitchFamily="34" charset="0"/>
                <a:ea typeface="Arial" pitchFamily="34" charset="-122"/>
                <a:cs typeface="Arial" pitchFamily="34" charset="-120"/>
              </a:rPr>
              <a:t>Comment détecter en temps réel une fraude qui représente </a:t>
            </a:r>
            <a:pPr algn="l" indent="0" marL="0">
              <a:lnSpc>
                <a:spcPct val="122182"/>
              </a:lnSpc>
              <a:buNone/>
            </a:pPr>
            <a:r>
              <a:rPr lang="en-US" sz="2400" b="1" dirty="0">
                <a:solidFill>
                  <a:srgbClr val="1D1F20"/>
                </a:solidFill>
                <a:latin typeface="Arial" pitchFamily="34" charset="0"/>
                <a:ea typeface="Arial" pitchFamily="34" charset="-122"/>
                <a:cs typeface="Arial" pitchFamily="34" charset="-120"/>
              </a:rPr>
              <a:t>1 transaction sur 66 </a:t>
            </a:r>
            <a:pPr algn="l" indent="0" marL="0">
              <a:lnSpc>
                <a:spcPct val="122182"/>
              </a:lnSpc>
              <a:buNone/>
            </a:pPr>
            <a:r>
              <a:rPr lang="en-US" sz="2400" dirty="0">
                <a:solidFill>
                  <a:srgbClr val="1D1F20"/>
                </a:solidFill>
                <a:latin typeface="Arial" pitchFamily="34" charset="0"/>
                <a:ea typeface="Arial" pitchFamily="34" charset="-122"/>
                <a:cs typeface="Arial" pitchFamily="34" charset="-120"/>
              </a:rPr>
              <a:t>, sans noyer les équipes sous les fausses alertes — et en sachant justifier chaque décision auprès du client et du régulateur ?</a:t>
            </a:r>
            <a:endParaRPr lang="en-US" sz="2400" dirty="0"/>
          </a:p>
        </p:txBody>
      </p:sp>
      <p:sp>
        <p:nvSpPr>
          <p:cNvPr id="13" name="Text 11"/>
          <p:cNvSpPr/>
          <p:nvPr/>
        </p:nvSpPr>
        <p:spPr>
          <a:xfrm>
            <a:off x="1066800" y="7590334"/>
            <a:ext cx="8564070" cy="163830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5D5D60"/>
                </a:solidFill>
                <a:latin typeface="Arial" pitchFamily="34" charset="0"/>
                <a:ea typeface="Arial" pitchFamily="34" charset="-122"/>
                <a:cs typeface="Arial" pitchFamily="34" charset="-120"/>
              </a:rPr>
              <a:t>Le piège classique : un modèle qui prédit « jamais de fraude » affiche 98,5 % de justesse et ne détecte rien. La justesse (accuracy) est donc inutilisable ici — d'où le recours au rappel, à la précision et à la courbe précision-rappel tout au long du projet.</a:t>
            </a:r>
            <a:endParaRPr lang="en-US" sz="2100" dirty="0"/>
          </a:p>
        </p:txBody>
      </p:sp>
      <p:sp>
        <p:nvSpPr>
          <p:cNvPr id="14" name="Shape 12"/>
          <p:cNvSpPr/>
          <p:nvPr/>
        </p:nvSpPr>
        <p:spPr>
          <a:xfrm>
            <a:off x="9991031" y="2632571"/>
            <a:ext cx="9525" cy="2170410"/>
          </a:xfrm>
          <a:prstGeom prst="rect">
            <a:avLst/>
          </a:prstGeom>
          <a:solidFill>
            <a:srgbClr val="1D1F20">
              <a:alpha val="16000"/>
            </a:srgbClr>
          </a:solidFill>
          <a:ln/>
        </p:spPr>
      </p:sp>
      <p:sp>
        <p:nvSpPr>
          <p:cNvPr id="15" name="Text 13"/>
          <p:cNvSpPr/>
          <p:nvPr/>
        </p:nvSpPr>
        <p:spPr>
          <a:xfrm>
            <a:off x="10264080" y="3092252"/>
            <a:ext cx="7652723" cy="952500"/>
          </a:xfrm>
          <a:prstGeom prst="rect">
            <a:avLst/>
          </a:prstGeom>
          <a:noFill/>
          <a:ln/>
        </p:spPr>
        <p:txBody>
          <a:bodyPr wrap="square" lIns="25400" tIns="25400" rIns="25400" bIns="25400" rtlCol="0" anchor="t">
            <a:normAutofit/>
          </a:bodyPr>
          <a:lstStyle/>
          <a:p>
            <a:pPr algn="l" indent="0" marL="0">
              <a:lnSpc>
                <a:spcPct val="86747"/>
              </a:lnSpc>
              <a:buNone/>
            </a:pPr>
            <a:r>
              <a:rPr lang="en-US" sz="7200" dirty="0">
                <a:solidFill>
                  <a:srgbClr val="416180"/>
                </a:solidFill>
                <a:latin typeface="Arial" pitchFamily="34" charset="0"/>
                <a:ea typeface="Arial" pitchFamily="34" charset="-122"/>
                <a:cs typeface="Arial" pitchFamily="34" charset="-120"/>
              </a:rPr>
              <a:t>1,5 %</a:t>
            </a:r>
            <a:endParaRPr lang="en-US" sz="7200" dirty="0"/>
          </a:p>
        </p:txBody>
      </p:sp>
      <p:sp>
        <p:nvSpPr>
          <p:cNvPr id="16" name="Text 14"/>
          <p:cNvSpPr/>
          <p:nvPr/>
        </p:nvSpPr>
        <p:spPr>
          <a:xfrm>
            <a:off x="10264080" y="4044752"/>
            <a:ext cx="7652723" cy="336550"/>
          </a:xfrm>
          <a:prstGeom prst="rect">
            <a:avLst/>
          </a:prstGeom>
          <a:noFill/>
          <a:ln/>
        </p:spPr>
        <p:txBody>
          <a:bodyPr wrap="square" lIns="25400" tIns="25400" rIns="25400" bIns="25400" rtlCol="0" anchor="t">
            <a:normAutofit/>
          </a:bodyPr>
          <a:lstStyle/>
          <a:p>
            <a:pPr algn="l" indent="0" marL="0">
              <a:buNone/>
            </a:pPr>
            <a:r>
              <a:rPr lang="en-US" sz="1950" dirty="0">
                <a:solidFill>
                  <a:srgbClr val="5D5D60"/>
                </a:solidFill>
                <a:latin typeface="Arial" pitchFamily="34" charset="0"/>
                <a:ea typeface="Arial" pitchFamily="34" charset="-122"/>
                <a:cs typeface="Arial" pitchFamily="34" charset="-120"/>
              </a:rPr>
              <a:t>de transactions frauduleuses — 6 000 sur 400 000</a:t>
            </a:r>
            <a:endParaRPr lang="en-US" sz="1950" dirty="0"/>
          </a:p>
        </p:txBody>
      </p:sp>
      <p:sp>
        <p:nvSpPr>
          <p:cNvPr id="17" name="Shape 15"/>
          <p:cNvSpPr/>
          <p:nvPr/>
        </p:nvSpPr>
        <p:spPr>
          <a:xfrm>
            <a:off x="9991031" y="5031581"/>
            <a:ext cx="9525" cy="2170509"/>
          </a:xfrm>
          <a:prstGeom prst="rect">
            <a:avLst/>
          </a:prstGeom>
          <a:solidFill>
            <a:srgbClr val="1D1F20">
              <a:alpha val="16000"/>
            </a:srgbClr>
          </a:solidFill>
          <a:ln/>
        </p:spPr>
      </p:sp>
      <p:sp>
        <p:nvSpPr>
          <p:cNvPr id="18" name="Text 16"/>
          <p:cNvSpPr/>
          <p:nvPr/>
        </p:nvSpPr>
        <p:spPr>
          <a:xfrm>
            <a:off x="10264080" y="5491361"/>
            <a:ext cx="7652723" cy="952500"/>
          </a:xfrm>
          <a:prstGeom prst="rect">
            <a:avLst/>
          </a:prstGeom>
          <a:noFill/>
          <a:ln/>
        </p:spPr>
        <p:txBody>
          <a:bodyPr wrap="square" lIns="25400" tIns="25400" rIns="25400" bIns="25400" rtlCol="0" anchor="t">
            <a:normAutofit/>
          </a:bodyPr>
          <a:lstStyle/>
          <a:p>
            <a:pPr algn="l" indent="0" marL="0">
              <a:lnSpc>
                <a:spcPct val="86747"/>
              </a:lnSpc>
              <a:buNone/>
            </a:pPr>
            <a:r>
              <a:rPr lang="en-US" sz="7200" dirty="0">
                <a:solidFill>
                  <a:srgbClr val="416180"/>
                </a:solidFill>
                <a:latin typeface="Arial" pitchFamily="34" charset="0"/>
                <a:ea typeface="Arial" pitchFamily="34" charset="-122"/>
                <a:cs typeface="Arial" pitchFamily="34" charset="-120"/>
              </a:rPr>
              <a:t>297 239 €</a:t>
            </a:r>
            <a:endParaRPr lang="en-US" sz="7200" dirty="0"/>
          </a:p>
        </p:txBody>
      </p:sp>
      <p:sp>
        <p:nvSpPr>
          <p:cNvPr id="19" name="Text 17"/>
          <p:cNvSpPr/>
          <p:nvPr/>
        </p:nvSpPr>
        <p:spPr>
          <a:xfrm>
            <a:off x="10264080" y="6443861"/>
            <a:ext cx="7652723" cy="336550"/>
          </a:xfrm>
          <a:prstGeom prst="rect">
            <a:avLst/>
          </a:prstGeom>
          <a:noFill/>
          <a:ln/>
        </p:spPr>
        <p:txBody>
          <a:bodyPr wrap="square" lIns="25400" tIns="25400" rIns="25400" bIns="25400" rtlCol="0" anchor="t">
            <a:normAutofit/>
          </a:bodyPr>
          <a:lstStyle/>
          <a:p>
            <a:pPr algn="l" indent="0" marL="0">
              <a:buNone/>
            </a:pPr>
            <a:r>
              <a:rPr lang="en-US" sz="1950" dirty="0">
                <a:solidFill>
                  <a:srgbClr val="5D5D60"/>
                </a:solidFill>
                <a:latin typeface="Arial" pitchFamily="34" charset="0"/>
                <a:ea typeface="Arial" pitchFamily="34" charset="-122"/>
                <a:cs typeface="Arial" pitchFamily="34" charset="-120"/>
              </a:rPr>
              <a:t>de fraude sur la seule période de test (80 000 transactions)</a:t>
            </a:r>
            <a:endParaRPr lang="en-US" sz="1950" dirty="0"/>
          </a:p>
        </p:txBody>
      </p:sp>
      <p:sp>
        <p:nvSpPr>
          <p:cNvPr id="20" name="Shape 18"/>
          <p:cNvSpPr/>
          <p:nvPr/>
        </p:nvSpPr>
        <p:spPr>
          <a:xfrm>
            <a:off x="9991031" y="7430691"/>
            <a:ext cx="9525" cy="2170410"/>
          </a:xfrm>
          <a:prstGeom prst="rect">
            <a:avLst/>
          </a:prstGeom>
          <a:solidFill>
            <a:srgbClr val="1D1F20">
              <a:alpha val="16000"/>
            </a:srgbClr>
          </a:solidFill>
          <a:ln/>
        </p:spPr>
      </p:sp>
      <p:sp>
        <p:nvSpPr>
          <p:cNvPr id="21" name="Text 19"/>
          <p:cNvSpPr/>
          <p:nvPr/>
        </p:nvSpPr>
        <p:spPr>
          <a:xfrm>
            <a:off x="10264080" y="7890371"/>
            <a:ext cx="7652723" cy="952500"/>
          </a:xfrm>
          <a:prstGeom prst="rect">
            <a:avLst/>
          </a:prstGeom>
          <a:noFill/>
          <a:ln/>
        </p:spPr>
        <p:txBody>
          <a:bodyPr wrap="square" lIns="25400" tIns="25400" rIns="25400" bIns="25400" rtlCol="0" anchor="t">
            <a:normAutofit/>
          </a:bodyPr>
          <a:lstStyle/>
          <a:p>
            <a:pPr algn="l" indent="0" marL="0">
              <a:lnSpc>
                <a:spcPct val="86747"/>
              </a:lnSpc>
              <a:buNone/>
            </a:pPr>
            <a:r>
              <a:rPr lang="en-US" sz="7200" dirty="0">
                <a:solidFill>
                  <a:srgbClr val="416180"/>
                </a:solidFill>
                <a:latin typeface="Arial" pitchFamily="34" charset="0"/>
                <a:ea typeface="Arial" pitchFamily="34" charset="-122"/>
                <a:cs typeface="Arial" pitchFamily="34" charset="-120"/>
              </a:rPr>
              <a:t>200 ms</a:t>
            </a:r>
            <a:endParaRPr lang="en-US" sz="7200" dirty="0"/>
          </a:p>
        </p:txBody>
      </p:sp>
      <p:sp>
        <p:nvSpPr>
          <p:cNvPr id="22" name="Text 20"/>
          <p:cNvSpPr/>
          <p:nvPr/>
        </p:nvSpPr>
        <p:spPr>
          <a:xfrm>
            <a:off x="10264080" y="8842871"/>
            <a:ext cx="7652723" cy="336550"/>
          </a:xfrm>
          <a:prstGeom prst="rect">
            <a:avLst/>
          </a:prstGeom>
          <a:noFill/>
          <a:ln/>
        </p:spPr>
        <p:txBody>
          <a:bodyPr wrap="square" lIns="25400" tIns="25400" rIns="25400" bIns="25400" rtlCol="0" anchor="t">
            <a:normAutofit/>
          </a:bodyPr>
          <a:lstStyle/>
          <a:p>
            <a:pPr algn="l" indent="0" marL="0">
              <a:buNone/>
            </a:pPr>
            <a:r>
              <a:rPr lang="en-US" sz="1950" dirty="0">
                <a:solidFill>
                  <a:srgbClr val="5D5D60"/>
                </a:solidFill>
                <a:latin typeface="Arial" pitchFamily="34" charset="0"/>
                <a:ea typeface="Arial" pitchFamily="34" charset="-122"/>
                <a:cs typeface="Arial" pitchFamily="34" charset="-120"/>
              </a:rPr>
              <a:t>budget de réponse maximum pour autoriser un paiement</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1029990"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CADRAGE</a:t>
            </a:r>
            <a:endParaRPr lang="en-US" sz="1800" dirty="0"/>
          </a:p>
        </p:txBody>
      </p:sp>
      <p:sp>
        <p:nvSpPr>
          <p:cNvPr id="3" name="Text 1"/>
          <p:cNvSpPr/>
          <p:nvPr/>
        </p:nvSpPr>
        <p:spPr>
          <a:xfrm>
            <a:off x="16408698" y="685800"/>
            <a:ext cx="888702"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02 / 06</a:t>
            </a:r>
            <a:endParaRPr lang="en-US" sz="1800" dirty="0"/>
          </a:p>
        </p:txBody>
      </p:sp>
      <p:sp>
        <p:nvSpPr>
          <p:cNvPr id="4" name="Text 2"/>
          <p:cNvSpPr/>
          <p:nvPr/>
        </p:nvSpPr>
        <p:spPr>
          <a:xfrm>
            <a:off x="1066800" y="1339850"/>
            <a:ext cx="17769840" cy="873621"/>
          </a:xfrm>
          <a:prstGeom prst="rect">
            <a:avLst/>
          </a:prstGeom>
          <a:noFill/>
          <a:ln/>
        </p:spPr>
        <p:txBody>
          <a:bodyPr wrap="square" lIns="25400" tIns="25400" rIns="25400" bIns="25400" rtlCol="0" anchor="t">
            <a:normAutofit/>
          </a:bodyPr>
          <a:lstStyle/>
          <a:p>
            <a:pPr algn="l" indent="0" marL="0">
              <a:lnSpc>
                <a:spcPct val="88905"/>
              </a:lnSpc>
              <a:buNone/>
            </a:pPr>
            <a:r>
              <a:rPr lang="en-US" sz="6450" b="1" spc="-97" kern="0" dirty="0">
                <a:solidFill>
                  <a:srgbClr val="1D1F20"/>
                </a:solidFill>
                <a:latin typeface="Arial" pitchFamily="34" charset="0"/>
                <a:ea typeface="Arial" pitchFamily="34" charset="-122"/>
                <a:cs typeface="Arial" pitchFamily="34" charset="-120"/>
              </a:rPr>
              <a:t>Objectifs du projet</a:t>
            </a:r>
            <a:endParaRPr lang="en-US" sz="6450" dirty="0"/>
          </a:p>
        </p:txBody>
      </p:sp>
      <p:sp>
        <p:nvSpPr>
          <p:cNvPr id="5" name="Text 3"/>
          <p:cNvSpPr/>
          <p:nvPr/>
        </p:nvSpPr>
        <p:spPr>
          <a:xfrm>
            <a:off x="1066800" y="2556371"/>
            <a:ext cx="13735050" cy="895350"/>
          </a:xfrm>
          <a:prstGeom prst="rect">
            <a:avLst/>
          </a:prstGeom>
          <a:noFill/>
          <a:ln/>
        </p:spPr>
        <p:txBody>
          <a:bodyPr wrap="square" lIns="25400" tIns="25400" rIns="25400" bIns="25400" rtlCol="0" anchor="t">
            <a:normAutofit/>
          </a:bodyPr>
          <a:lstStyle/>
          <a:p>
            <a:pPr algn="l" indent="0" marL="0">
              <a:lnSpc>
                <a:spcPct val="129808"/>
              </a:lnSpc>
              <a:buNone/>
            </a:pPr>
            <a:r>
              <a:rPr lang="en-US" sz="2250" dirty="0">
                <a:solidFill>
                  <a:srgbClr val="1D1F20"/>
                </a:solidFill>
                <a:latin typeface="Arial" pitchFamily="34" charset="0"/>
                <a:ea typeface="Arial" pitchFamily="34" charset="-122"/>
                <a:cs typeface="Arial" pitchFamily="34" charset="-120"/>
              </a:rPr>
              <a:t>Un objectif par bloc de compétences, chacun validé par un livrable qui s'exécute — un script, un modèle entraîné, une API qui répond — et non par une intention.</a:t>
            </a:r>
            <a:endParaRPr lang="en-US" sz="2250" dirty="0"/>
          </a:p>
        </p:txBody>
      </p:sp>
      <p:sp>
        <p:nvSpPr>
          <p:cNvPr id="6" name="Shape 4"/>
          <p:cNvSpPr/>
          <p:nvPr/>
        </p:nvSpPr>
        <p:spPr>
          <a:xfrm>
            <a:off x="1066800" y="3794621"/>
            <a:ext cx="5207000" cy="2684066"/>
          </a:xfrm>
          <a:prstGeom prst="rect">
            <a:avLst/>
          </a:prstGeom>
          <a:ln w="6350">
            <a:solidFill>
              <a:srgbClr val="1D1F20">
                <a:alpha val="16000"/>
              </a:srgbClr>
            </a:solidFill>
            <a:prstDash val="solid"/>
          </a:ln>
        </p:spPr>
      </p:sp>
      <p:sp>
        <p:nvSpPr>
          <p:cNvPr id="7" name="Shape 5"/>
          <p:cNvSpPr/>
          <p:nvPr/>
        </p:nvSpPr>
        <p:spPr>
          <a:xfrm>
            <a:off x="1016000" y="3743821"/>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8" name="Shape 6"/>
          <p:cNvSpPr/>
          <p:nvPr/>
        </p:nvSpPr>
        <p:spPr>
          <a:xfrm>
            <a:off x="6219825" y="6424712"/>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9" name="Text 7"/>
          <p:cNvSpPr/>
          <p:nvPr/>
        </p:nvSpPr>
        <p:spPr>
          <a:xfrm>
            <a:off x="1377950" y="4086721"/>
            <a:ext cx="5043170"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BC01</a:t>
            </a:r>
            <a:endParaRPr lang="en-US" sz="1800" dirty="0"/>
          </a:p>
        </p:txBody>
      </p:sp>
      <p:sp>
        <p:nvSpPr>
          <p:cNvPr id="10" name="Text 8"/>
          <p:cNvSpPr/>
          <p:nvPr/>
        </p:nvSpPr>
        <p:spPr>
          <a:xfrm>
            <a:off x="1377950" y="4474071"/>
            <a:ext cx="4722241" cy="918170"/>
          </a:xfrm>
          <a:prstGeom prst="rect">
            <a:avLst/>
          </a:prstGeom>
          <a:noFill/>
          <a:ln/>
        </p:spPr>
        <p:txBody>
          <a:bodyPr wrap="square" lIns="25400" tIns="25400" rIns="25400" bIns="25400" rtlCol="0" anchor="t">
            <a:normAutofit/>
          </a:bodyPr>
          <a:lstStyle/>
          <a:p>
            <a:pPr algn="l" indent="0" marL="0">
              <a:lnSpc>
                <a:spcPct val="91184"/>
              </a:lnSpc>
              <a:buNone/>
            </a:pPr>
            <a:r>
              <a:rPr lang="en-US" sz="3300" dirty="0">
                <a:solidFill>
                  <a:srgbClr val="1D1F20"/>
                </a:solidFill>
                <a:latin typeface="Arial" pitchFamily="34" charset="0"/>
                <a:ea typeface="Arial" pitchFamily="34" charset="-122"/>
                <a:cs typeface="Arial" pitchFamily="34" charset="-120"/>
              </a:rPr>
              <a:t>Construire un socle de données fiable</a:t>
            </a:r>
            <a:endParaRPr lang="en-US" sz="3300" dirty="0"/>
          </a:p>
        </p:txBody>
      </p:sp>
      <p:sp>
        <p:nvSpPr>
          <p:cNvPr id="11" name="Text 9"/>
          <p:cNvSpPr/>
          <p:nvPr/>
        </p:nvSpPr>
        <p:spPr>
          <a:xfrm>
            <a:off x="1377950" y="5468442"/>
            <a:ext cx="4722241" cy="756245"/>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5D5D60"/>
                </a:solidFill>
                <a:latin typeface="Arial" pitchFamily="34" charset="0"/>
                <a:ea typeface="Arial" pitchFamily="34" charset="-122"/>
                <a:cs typeface="Arial" pitchFamily="34" charset="-120"/>
              </a:rPr>
              <a:t>Entrepôt en étoile, ingestion batch et streaming, contrôles qualité automatisés.</a:t>
            </a:r>
            <a:endParaRPr lang="en-US" sz="1950" dirty="0"/>
          </a:p>
        </p:txBody>
      </p:sp>
      <p:sp>
        <p:nvSpPr>
          <p:cNvPr id="12" name="Shape 10"/>
          <p:cNvSpPr/>
          <p:nvPr/>
        </p:nvSpPr>
        <p:spPr>
          <a:xfrm>
            <a:off x="6540500" y="3794621"/>
            <a:ext cx="5207000" cy="2684066"/>
          </a:xfrm>
          <a:prstGeom prst="rect">
            <a:avLst/>
          </a:prstGeom>
          <a:ln w="6350">
            <a:solidFill>
              <a:srgbClr val="1D1F20">
                <a:alpha val="16000"/>
              </a:srgbClr>
            </a:solidFill>
            <a:prstDash val="solid"/>
          </a:ln>
        </p:spPr>
      </p:sp>
      <p:sp>
        <p:nvSpPr>
          <p:cNvPr id="13" name="Shape 11"/>
          <p:cNvSpPr/>
          <p:nvPr/>
        </p:nvSpPr>
        <p:spPr>
          <a:xfrm>
            <a:off x="6489700" y="3743821"/>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4" name="Shape 12"/>
          <p:cNvSpPr/>
          <p:nvPr/>
        </p:nvSpPr>
        <p:spPr>
          <a:xfrm>
            <a:off x="11693526" y="6424712"/>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5" name="Text 13"/>
          <p:cNvSpPr/>
          <p:nvPr/>
        </p:nvSpPr>
        <p:spPr>
          <a:xfrm>
            <a:off x="6851650" y="4086721"/>
            <a:ext cx="5043170"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BC02</a:t>
            </a:r>
            <a:endParaRPr lang="en-US" sz="1800" dirty="0"/>
          </a:p>
        </p:txBody>
      </p:sp>
      <p:sp>
        <p:nvSpPr>
          <p:cNvPr id="16" name="Text 14"/>
          <p:cNvSpPr/>
          <p:nvPr/>
        </p:nvSpPr>
        <p:spPr>
          <a:xfrm>
            <a:off x="6851650" y="4474071"/>
            <a:ext cx="4722241" cy="918170"/>
          </a:xfrm>
          <a:prstGeom prst="rect">
            <a:avLst/>
          </a:prstGeom>
          <a:noFill/>
          <a:ln/>
        </p:spPr>
        <p:txBody>
          <a:bodyPr wrap="square" lIns="25400" tIns="25400" rIns="25400" bIns="25400" rtlCol="0" anchor="t">
            <a:normAutofit/>
          </a:bodyPr>
          <a:lstStyle/>
          <a:p>
            <a:pPr algn="l" indent="0" marL="0">
              <a:lnSpc>
                <a:spcPct val="91184"/>
              </a:lnSpc>
              <a:buNone/>
            </a:pPr>
            <a:r>
              <a:rPr lang="en-US" sz="3300" dirty="0">
                <a:solidFill>
                  <a:srgbClr val="1D1F20"/>
                </a:solidFill>
                <a:latin typeface="Arial" pitchFamily="34" charset="0"/>
                <a:ea typeface="Arial" pitchFamily="34" charset="-122"/>
                <a:cs typeface="Arial" pitchFamily="34" charset="-120"/>
              </a:rPr>
              <a:t>Comprendre la fraude avant de modéliser</a:t>
            </a:r>
            <a:endParaRPr lang="en-US" sz="3300" dirty="0"/>
          </a:p>
        </p:txBody>
      </p:sp>
      <p:sp>
        <p:nvSpPr>
          <p:cNvPr id="17" name="Text 15"/>
          <p:cNvSpPr/>
          <p:nvPr/>
        </p:nvSpPr>
        <p:spPr>
          <a:xfrm>
            <a:off x="6851650" y="5468442"/>
            <a:ext cx="4722241" cy="756245"/>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5D5D60"/>
                </a:solidFill>
                <a:latin typeface="Arial" pitchFamily="34" charset="0"/>
                <a:ea typeface="Arial" pitchFamily="34" charset="-122"/>
                <a:cs typeface="Arial" pitchFamily="34" charset="-120"/>
              </a:rPr>
              <a:t>Mesurer le déséquilibre, profiler les fraudeurs, tester les méthodes naïves.</a:t>
            </a:r>
            <a:endParaRPr lang="en-US" sz="1950" dirty="0"/>
          </a:p>
        </p:txBody>
      </p:sp>
      <p:sp>
        <p:nvSpPr>
          <p:cNvPr id="18" name="Shape 16"/>
          <p:cNvSpPr/>
          <p:nvPr/>
        </p:nvSpPr>
        <p:spPr>
          <a:xfrm>
            <a:off x="12014200" y="3794621"/>
            <a:ext cx="5207000" cy="2684066"/>
          </a:xfrm>
          <a:prstGeom prst="rect">
            <a:avLst/>
          </a:prstGeom>
          <a:ln w="6350">
            <a:solidFill>
              <a:srgbClr val="1D1F20">
                <a:alpha val="16000"/>
              </a:srgbClr>
            </a:solidFill>
            <a:prstDash val="solid"/>
          </a:ln>
        </p:spPr>
      </p:sp>
      <p:sp>
        <p:nvSpPr>
          <p:cNvPr id="19" name="Shape 17"/>
          <p:cNvSpPr/>
          <p:nvPr/>
        </p:nvSpPr>
        <p:spPr>
          <a:xfrm>
            <a:off x="11963400" y="3743821"/>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0" name="Shape 18"/>
          <p:cNvSpPr/>
          <p:nvPr/>
        </p:nvSpPr>
        <p:spPr>
          <a:xfrm>
            <a:off x="17167225" y="6424712"/>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1" name="Text 19"/>
          <p:cNvSpPr/>
          <p:nvPr/>
        </p:nvSpPr>
        <p:spPr>
          <a:xfrm>
            <a:off x="12325350" y="4086721"/>
            <a:ext cx="5043170"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BC03</a:t>
            </a:r>
            <a:endParaRPr lang="en-US" sz="1800" dirty="0"/>
          </a:p>
        </p:txBody>
      </p:sp>
      <p:sp>
        <p:nvSpPr>
          <p:cNvPr id="22" name="Text 20"/>
          <p:cNvSpPr/>
          <p:nvPr/>
        </p:nvSpPr>
        <p:spPr>
          <a:xfrm>
            <a:off x="12325350" y="4474071"/>
            <a:ext cx="4722241" cy="918170"/>
          </a:xfrm>
          <a:prstGeom prst="rect">
            <a:avLst/>
          </a:prstGeom>
          <a:noFill/>
          <a:ln/>
        </p:spPr>
        <p:txBody>
          <a:bodyPr wrap="square" lIns="25400" tIns="25400" rIns="25400" bIns="25400" rtlCol="0" anchor="t">
            <a:normAutofit/>
          </a:bodyPr>
          <a:lstStyle/>
          <a:p>
            <a:pPr algn="l" indent="0" marL="0">
              <a:lnSpc>
                <a:spcPct val="91184"/>
              </a:lnSpc>
              <a:buNone/>
            </a:pPr>
            <a:r>
              <a:rPr lang="en-US" sz="3300" dirty="0">
                <a:solidFill>
                  <a:srgbClr val="1D1F20"/>
                </a:solidFill>
                <a:latin typeface="Arial" pitchFamily="34" charset="0"/>
                <a:ea typeface="Arial" pitchFamily="34" charset="-122"/>
                <a:cs typeface="Arial" pitchFamily="34" charset="-120"/>
              </a:rPr>
              <a:t>Entraîner un modèle performant et explicable</a:t>
            </a:r>
            <a:endParaRPr lang="en-US" sz="3300" dirty="0"/>
          </a:p>
        </p:txBody>
      </p:sp>
      <p:sp>
        <p:nvSpPr>
          <p:cNvPr id="23" name="Text 21"/>
          <p:cNvSpPr/>
          <p:nvPr/>
        </p:nvSpPr>
        <p:spPr>
          <a:xfrm>
            <a:off x="12325350" y="5468442"/>
            <a:ext cx="4722241" cy="756245"/>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5D5D60"/>
                </a:solidFill>
                <a:latin typeface="Arial" pitchFamily="34" charset="0"/>
                <a:ea typeface="Arial" pitchFamily="34" charset="-122"/>
                <a:cs typeface="Arial" pitchFamily="34" charset="-120"/>
              </a:rPr>
              <a:t>Régression logistique, LightGBM, SMOTE, SHAP, choix du seuil de décision.</a:t>
            </a:r>
            <a:endParaRPr lang="en-US" sz="1950" dirty="0"/>
          </a:p>
        </p:txBody>
      </p:sp>
      <p:sp>
        <p:nvSpPr>
          <p:cNvPr id="24" name="Shape 22"/>
          <p:cNvSpPr/>
          <p:nvPr/>
        </p:nvSpPr>
        <p:spPr>
          <a:xfrm>
            <a:off x="1066800" y="6745387"/>
            <a:ext cx="5207000" cy="3043138"/>
          </a:xfrm>
          <a:prstGeom prst="rect">
            <a:avLst/>
          </a:prstGeom>
          <a:ln w="6350">
            <a:solidFill>
              <a:srgbClr val="1D1F20">
                <a:alpha val="16000"/>
              </a:srgbClr>
            </a:solidFill>
            <a:prstDash val="solid"/>
          </a:ln>
        </p:spPr>
      </p:sp>
      <p:sp>
        <p:nvSpPr>
          <p:cNvPr id="25" name="Shape 23"/>
          <p:cNvSpPr/>
          <p:nvPr/>
        </p:nvSpPr>
        <p:spPr>
          <a:xfrm>
            <a:off x="1016000" y="669458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6" name="Shape 24"/>
          <p:cNvSpPr/>
          <p:nvPr/>
        </p:nvSpPr>
        <p:spPr>
          <a:xfrm>
            <a:off x="6219825" y="9734550"/>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7" name="Text 25"/>
          <p:cNvSpPr/>
          <p:nvPr/>
        </p:nvSpPr>
        <p:spPr>
          <a:xfrm>
            <a:off x="1377950" y="7037487"/>
            <a:ext cx="5043170"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BC04</a:t>
            </a:r>
            <a:endParaRPr lang="en-US" sz="1800" dirty="0"/>
          </a:p>
        </p:txBody>
      </p:sp>
      <p:sp>
        <p:nvSpPr>
          <p:cNvPr id="28" name="Text 26"/>
          <p:cNvSpPr/>
          <p:nvPr/>
        </p:nvSpPr>
        <p:spPr>
          <a:xfrm>
            <a:off x="1377950" y="7424837"/>
            <a:ext cx="4722241" cy="918170"/>
          </a:xfrm>
          <a:prstGeom prst="rect">
            <a:avLst/>
          </a:prstGeom>
          <a:noFill/>
          <a:ln/>
        </p:spPr>
        <p:txBody>
          <a:bodyPr wrap="square" lIns="25400" tIns="25400" rIns="25400" bIns="25400" rtlCol="0" anchor="t">
            <a:normAutofit/>
          </a:bodyPr>
          <a:lstStyle/>
          <a:p>
            <a:pPr algn="l" indent="0" marL="0">
              <a:lnSpc>
                <a:spcPct val="91184"/>
              </a:lnSpc>
              <a:buNone/>
            </a:pPr>
            <a:r>
              <a:rPr lang="en-US" sz="3300" dirty="0">
                <a:solidFill>
                  <a:srgbClr val="1D1F20"/>
                </a:solidFill>
                <a:latin typeface="Arial" pitchFamily="34" charset="0"/>
                <a:ea typeface="Arial" pitchFamily="34" charset="-122"/>
                <a:cs typeface="Arial" pitchFamily="34" charset="-120"/>
              </a:rPr>
              <a:t>Tester le deep learning à sa juste place</a:t>
            </a:r>
            <a:endParaRPr lang="en-US" sz="3300" dirty="0"/>
          </a:p>
        </p:txBody>
      </p:sp>
      <p:sp>
        <p:nvSpPr>
          <p:cNvPr id="29" name="Text 27"/>
          <p:cNvSpPr/>
          <p:nvPr/>
        </p:nvSpPr>
        <p:spPr>
          <a:xfrm>
            <a:off x="1377950" y="8419207"/>
            <a:ext cx="4722241"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5D5D60"/>
                </a:solidFill>
                <a:latin typeface="Arial" pitchFamily="34" charset="0"/>
                <a:ea typeface="Arial" pitchFamily="34" charset="-122"/>
                <a:cs typeface="Arial" pitchFamily="34" charset="-120"/>
              </a:rPr>
              <a:t>Autoencodeur sans étiquettes, LSTM sur séquences — et savoir conclure honnêtement.</a:t>
            </a:r>
            <a:endParaRPr lang="en-US" sz="1950" dirty="0"/>
          </a:p>
        </p:txBody>
      </p:sp>
      <p:sp>
        <p:nvSpPr>
          <p:cNvPr id="30" name="Shape 28"/>
          <p:cNvSpPr/>
          <p:nvPr/>
        </p:nvSpPr>
        <p:spPr>
          <a:xfrm>
            <a:off x="6540500" y="6745387"/>
            <a:ext cx="5207000" cy="3043138"/>
          </a:xfrm>
          <a:prstGeom prst="rect">
            <a:avLst/>
          </a:prstGeom>
          <a:ln w="6350">
            <a:solidFill>
              <a:srgbClr val="1D1F20">
                <a:alpha val="16000"/>
              </a:srgbClr>
            </a:solidFill>
            <a:prstDash val="solid"/>
          </a:ln>
        </p:spPr>
      </p:sp>
      <p:sp>
        <p:nvSpPr>
          <p:cNvPr id="31" name="Shape 29"/>
          <p:cNvSpPr/>
          <p:nvPr/>
        </p:nvSpPr>
        <p:spPr>
          <a:xfrm>
            <a:off x="6489700" y="669458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32" name="Shape 30"/>
          <p:cNvSpPr/>
          <p:nvPr/>
        </p:nvSpPr>
        <p:spPr>
          <a:xfrm>
            <a:off x="11693526" y="9734550"/>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33" name="Text 31"/>
          <p:cNvSpPr/>
          <p:nvPr/>
        </p:nvSpPr>
        <p:spPr>
          <a:xfrm>
            <a:off x="6851650" y="7037487"/>
            <a:ext cx="5043170"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BC05</a:t>
            </a:r>
            <a:endParaRPr lang="en-US" sz="1800" dirty="0"/>
          </a:p>
        </p:txBody>
      </p:sp>
      <p:sp>
        <p:nvSpPr>
          <p:cNvPr id="34" name="Text 32"/>
          <p:cNvSpPr/>
          <p:nvPr/>
        </p:nvSpPr>
        <p:spPr>
          <a:xfrm>
            <a:off x="6851650" y="7424837"/>
            <a:ext cx="5043170" cy="478135"/>
          </a:xfrm>
          <a:prstGeom prst="rect">
            <a:avLst/>
          </a:prstGeom>
          <a:noFill/>
          <a:ln/>
        </p:spPr>
        <p:txBody>
          <a:bodyPr wrap="square" lIns="25400" tIns="25400" rIns="25400" bIns="25400" rtlCol="0" anchor="t">
            <a:normAutofit/>
          </a:bodyPr>
          <a:lstStyle/>
          <a:p>
            <a:pPr algn="l" indent="0" marL="0">
              <a:lnSpc>
                <a:spcPct val="91184"/>
              </a:lnSpc>
              <a:buNone/>
            </a:pPr>
            <a:r>
              <a:rPr lang="en-US" sz="3300" dirty="0">
                <a:solidFill>
                  <a:srgbClr val="1D1F20"/>
                </a:solidFill>
                <a:latin typeface="Arial" pitchFamily="34" charset="0"/>
                <a:ea typeface="Arial" pitchFamily="34" charset="-122"/>
                <a:cs typeface="Arial" pitchFamily="34" charset="-120"/>
              </a:rPr>
              <a:t>Mettre le modèle en production</a:t>
            </a:r>
            <a:endParaRPr lang="en-US" sz="3300" dirty="0"/>
          </a:p>
        </p:txBody>
      </p:sp>
      <p:sp>
        <p:nvSpPr>
          <p:cNvPr id="35" name="Text 33"/>
          <p:cNvSpPr/>
          <p:nvPr/>
        </p:nvSpPr>
        <p:spPr>
          <a:xfrm>
            <a:off x="6851650" y="7979172"/>
            <a:ext cx="4722241" cy="756245"/>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5D5D60"/>
                </a:solidFill>
                <a:latin typeface="Arial" pitchFamily="34" charset="0"/>
                <a:ea typeface="Arial" pitchFamily="34" charset="-122"/>
                <a:cs typeface="Arial" pitchFamily="34" charset="-120"/>
              </a:rPr>
              <a:t>API temps réel, conteneur Docker, CI/CD, surveillance de la dérive.</a:t>
            </a:r>
            <a:endParaRPr lang="en-US" sz="1950" dirty="0"/>
          </a:p>
        </p:txBody>
      </p:sp>
      <p:sp>
        <p:nvSpPr>
          <p:cNvPr id="36" name="Shape 34"/>
          <p:cNvSpPr/>
          <p:nvPr/>
        </p:nvSpPr>
        <p:spPr>
          <a:xfrm>
            <a:off x="12014200" y="6745387"/>
            <a:ext cx="5207000" cy="3043138"/>
          </a:xfrm>
          <a:prstGeom prst="rect">
            <a:avLst/>
          </a:prstGeom>
          <a:ln w="6350">
            <a:solidFill>
              <a:srgbClr val="1D1F20">
                <a:alpha val="16000"/>
              </a:srgbClr>
            </a:solidFill>
            <a:prstDash val="solid"/>
          </a:ln>
        </p:spPr>
      </p:sp>
      <p:sp>
        <p:nvSpPr>
          <p:cNvPr id="37" name="Shape 35"/>
          <p:cNvSpPr/>
          <p:nvPr/>
        </p:nvSpPr>
        <p:spPr>
          <a:xfrm>
            <a:off x="11963400" y="669458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38" name="Shape 36"/>
          <p:cNvSpPr/>
          <p:nvPr/>
        </p:nvSpPr>
        <p:spPr>
          <a:xfrm>
            <a:off x="17167225" y="9734550"/>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39" name="Text 37"/>
          <p:cNvSpPr/>
          <p:nvPr/>
        </p:nvSpPr>
        <p:spPr>
          <a:xfrm>
            <a:off x="12325350" y="7037487"/>
            <a:ext cx="5043170"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BC06</a:t>
            </a:r>
            <a:endParaRPr lang="en-US" sz="1800" dirty="0"/>
          </a:p>
        </p:txBody>
      </p:sp>
      <p:sp>
        <p:nvSpPr>
          <p:cNvPr id="40" name="Text 38"/>
          <p:cNvSpPr/>
          <p:nvPr/>
        </p:nvSpPr>
        <p:spPr>
          <a:xfrm>
            <a:off x="12325350" y="7424837"/>
            <a:ext cx="4722241" cy="918170"/>
          </a:xfrm>
          <a:prstGeom prst="rect">
            <a:avLst/>
          </a:prstGeom>
          <a:noFill/>
          <a:ln/>
        </p:spPr>
        <p:txBody>
          <a:bodyPr wrap="square" lIns="25400" tIns="25400" rIns="25400" bIns="25400" rtlCol="0" anchor="t">
            <a:normAutofit/>
          </a:bodyPr>
          <a:lstStyle/>
          <a:p>
            <a:pPr algn="l" indent="0" marL="0">
              <a:lnSpc>
                <a:spcPct val="91184"/>
              </a:lnSpc>
              <a:buNone/>
            </a:pPr>
            <a:r>
              <a:rPr lang="en-US" sz="3300" dirty="0">
                <a:solidFill>
                  <a:srgbClr val="1D1F20"/>
                </a:solidFill>
                <a:latin typeface="Arial" pitchFamily="34" charset="0"/>
                <a:ea typeface="Arial" pitchFamily="34" charset="-122"/>
                <a:cs typeface="Arial" pitchFamily="34" charset="-120"/>
              </a:rPr>
              <a:t>Prouver la conformité et la valeur métier</a:t>
            </a:r>
            <a:endParaRPr lang="en-US" sz="3300" dirty="0"/>
          </a:p>
        </p:txBody>
      </p:sp>
      <p:sp>
        <p:nvSpPr>
          <p:cNvPr id="41" name="Text 39"/>
          <p:cNvSpPr/>
          <p:nvPr/>
        </p:nvSpPr>
        <p:spPr>
          <a:xfrm>
            <a:off x="12325350" y="8419207"/>
            <a:ext cx="4722241" cy="756245"/>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5D5D60"/>
                </a:solidFill>
                <a:latin typeface="Arial" pitchFamily="34" charset="0"/>
                <a:ea typeface="Arial" pitchFamily="34" charset="-122"/>
                <a:cs typeface="Arial" pitchFamily="34" charset="-120"/>
              </a:rPr>
              <a:t>Audit RGPD exécutable et chiffrage financier des seuils de décision.</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1029990"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CADRAGE</a:t>
            </a:r>
            <a:endParaRPr lang="en-US" sz="1800" dirty="0"/>
          </a:p>
        </p:txBody>
      </p:sp>
      <p:sp>
        <p:nvSpPr>
          <p:cNvPr id="3" name="Text 1"/>
          <p:cNvSpPr/>
          <p:nvPr/>
        </p:nvSpPr>
        <p:spPr>
          <a:xfrm>
            <a:off x="16407309" y="685800"/>
            <a:ext cx="890091"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03 / 06</a:t>
            </a:r>
            <a:endParaRPr lang="en-US" sz="1800" dirty="0"/>
          </a:p>
        </p:txBody>
      </p:sp>
      <p:sp>
        <p:nvSpPr>
          <p:cNvPr id="4" name="Text 2"/>
          <p:cNvSpPr/>
          <p:nvPr/>
        </p:nvSpPr>
        <p:spPr>
          <a:xfrm>
            <a:off x="1066800" y="1339850"/>
            <a:ext cx="17769840" cy="873621"/>
          </a:xfrm>
          <a:prstGeom prst="rect">
            <a:avLst/>
          </a:prstGeom>
          <a:noFill/>
          <a:ln/>
        </p:spPr>
        <p:txBody>
          <a:bodyPr wrap="square" lIns="25400" tIns="25400" rIns="25400" bIns="25400" rtlCol="0" anchor="t">
            <a:normAutofit/>
          </a:bodyPr>
          <a:lstStyle/>
          <a:p>
            <a:pPr algn="l" indent="0" marL="0">
              <a:lnSpc>
                <a:spcPct val="88905"/>
              </a:lnSpc>
              <a:buNone/>
            </a:pPr>
            <a:r>
              <a:rPr lang="en-US" sz="6450" b="1" spc="-97" kern="0" dirty="0">
                <a:solidFill>
                  <a:srgbClr val="1D1F20"/>
                </a:solidFill>
                <a:latin typeface="Arial" pitchFamily="34" charset="0"/>
                <a:ea typeface="Arial" pitchFamily="34" charset="-122"/>
                <a:cs typeface="Arial" pitchFamily="34" charset="-120"/>
              </a:rPr>
              <a:t>Gestion du temps — 1 mois, 4 semaines</a:t>
            </a:r>
            <a:endParaRPr lang="en-US" sz="6450" dirty="0"/>
          </a:p>
        </p:txBody>
      </p:sp>
      <p:sp>
        <p:nvSpPr>
          <p:cNvPr id="5" name="Text 3"/>
          <p:cNvSpPr/>
          <p:nvPr/>
        </p:nvSpPr>
        <p:spPr>
          <a:xfrm>
            <a:off x="1066800" y="2556371"/>
            <a:ext cx="14716125" cy="1323975"/>
          </a:xfrm>
          <a:prstGeom prst="rect">
            <a:avLst/>
          </a:prstGeom>
          <a:noFill/>
          <a:ln/>
        </p:spPr>
        <p:txBody>
          <a:bodyPr wrap="square" lIns="25400" tIns="25400" rIns="25400" bIns="25400" rtlCol="0" anchor="t">
            <a:normAutofit/>
          </a:bodyPr>
          <a:lstStyle/>
          <a:p>
            <a:pPr algn="l" indent="0" marL="0">
              <a:lnSpc>
                <a:spcPct val="129808"/>
              </a:lnSpc>
              <a:buNone/>
            </a:pPr>
            <a:r>
              <a:rPr lang="en-US" sz="2250" dirty="0">
                <a:solidFill>
                  <a:srgbClr val="1D1F20"/>
                </a:solidFill>
                <a:latin typeface="Arial" pitchFamily="34" charset="0"/>
                <a:ea typeface="Arial" pitchFamily="34" charset="-122"/>
                <a:cs typeface="Arial" pitchFamily="34" charset="-120"/>
              </a:rPr>
              <a:t>Le projet est découpé en étapes cohérentes et enchaînées, proches d'une démarche professionnelle : compréhension du contexte, préparation des données, exploration, modélisation, validation, publication. Les recouvrements sont volontaires — la mise en production a été préparée pendant l'entraînement.</a:t>
            </a:r>
            <a:endParaRPr lang="en-US" sz="2250" dirty="0"/>
          </a:p>
        </p:txBody>
      </p:sp>
      <p:sp>
        <p:nvSpPr>
          <p:cNvPr id="6" name="Shape 4"/>
          <p:cNvSpPr/>
          <p:nvPr/>
        </p:nvSpPr>
        <p:spPr>
          <a:xfrm>
            <a:off x="1066800" y="4635996"/>
            <a:ext cx="16154400" cy="9525"/>
          </a:xfrm>
          <a:prstGeom prst="rect">
            <a:avLst/>
          </a:prstGeom>
          <a:solidFill>
            <a:srgbClr val="1D1F20">
              <a:alpha val="16000"/>
            </a:srgbClr>
          </a:solidFill>
          <a:ln/>
        </p:spPr>
      </p:sp>
      <p:sp>
        <p:nvSpPr>
          <p:cNvPr id="7" name="Text 5"/>
          <p:cNvSpPr/>
          <p:nvPr/>
        </p:nvSpPr>
        <p:spPr>
          <a:xfrm>
            <a:off x="1066800" y="4223246"/>
            <a:ext cx="5448300" cy="33655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5D5D60"/>
                </a:solidFill>
                <a:latin typeface="Arial" pitchFamily="34" charset="0"/>
                <a:ea typeface="Arial" pitchFamily="34" charset="-122"/>
                <a:cs typeface="Arial" pitchFamily="34" charset="-120"/>
              </a:rPr>
              <a:t>ÉTAPE</a:t>
            </a:r>
            <a:endParaRPr lang="en-US" sz="1950" dirty="0"/>
          </a:p>
        </p:txBody>
      </p:sp>
      <p:sp>
        <p:nvSpPr>
          <p:cNvPr id="8" name="Text 6"/>
          <p:cNvSpPr/>
          <p:nvPr/>
        </p:nvSpPr>
        <p:spPr>
          <a:xfrm>
            <a:off x="6019800" y="4223246"/>
            <a:ext cx="3080385" cy="33655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5D5D60"/>
                </a:solidFill>
                <a:latin typeface="Arial" pitchFamily="34" charset="0"/>
                <a:ea typeface="Arial" pitchFamily="34" charset="-122"/>
                <a:cs typeface="Arial" pitchFamily="34" charset="-120"/>
              </a:rPr>
              <a:t>SEMAINE 1</a:t>
            </a:r>
            <a:endParaRPr lang="en-US" sz="1950" dirty="0"/>
          </a:p>
        </p:txBody>
      </p:sp>
      <p:sp>
        <p:nvSpPr>
          <p:cNvPr id="9" name="Text 7"/>
          <p:cNvSpPr/>
          <p:nvPr/>
        </p:nvSpPr>
        <p:spPr>
          <a:xfrm>
            <a:off x="8820150" y="4223246"/>
            <a:ext cx="3080385" cy="33655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5D5D60"/>
                </a:solidFill>
                <a:latin typeface="Arial" pitchFamily="34" charset="0"/>
                <a:ea typeface="Arial" pitchFamily="34" charset="-122"/>
                <a:cs typeface="Arial" pitchFamily="34" charset="-120"/>
              </a:rPr>
              <a:t>SEMAINE 2</a:t>
            </a:r>
            <a:endParaRPr lang="en-US" sz="1950" dirty="0"/>
          </a:p>
        </p:txBody>
      </p:sp>
      <p:sp>
        <p:nvSpPr>
          <p:cNvPr id="10" name="Text 8"/>
          <p:cNvSpPr/>
          <p:nvPr/>
        </p:nvSpPr>
        <p:spPr>
          <a:xfrm>
            <a:off x="11620500" y="4223246"/>
            <a:ext cx="3080385" cy="33655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5D5D60"/>
                </a:solidFill>
                <a:latin typeface="Arial" pitchFamily="34" charset="0"/>
                <a:ea typeface="Arial" pitchFamily="34" charset="-122"/>
                <a:cs typeface="Arial" pitchFamily="34" charset="-120"/>
              </a:rPr>
              <a:t>SEMAINE 3</a:t>
            </a:r>
            <a:endParaRPr lang="en-US" sz="1950" dirty="0"/>
          </a:p>
        </p:txBody>
      </p:sp>
      <p:sp>
        <p:nvSpPr>
          <p:cNvPr id="11" name="Text 9"/>
          <p:cNvSpPr/>
          <p:nvPr/>
        </p:nvSpPr>
        <p:spPr>
          <a:xfrm>
            <a:off x="14420850" y="4223246"/>
            <a:ext cx="3080385" cy="33655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5D5D60"/>
                </a:solidFill>
                <a:latin typeface="Arial" pitchFamily="34" charset="0"/>
                <a:ea typeface="Arial" pitchFamily="34" charset="-122"/>
                <a:cs typeface="Arial" pitchFamily="34" charset="-120"/>
              </a:rPr>
              <a:t>SEMAINE 4</a:t>
            </a:r>
            <a:endParaRPr lang="en-US" sz="1950" dirty="0"/>
          </a:p>
        </p:txBody>
      </p:sp>
      <p:sp>
        <p:nvSpPr>
          <p:cNvPr id="12" name="Shape 10"/>
          <p:cNvSpPr/>
          <p:nvPr/>
        </p:nvSpPr>
        <p:spPr>
          <a:xfrm>
            <a:off x="1066800" y="5226546"/>
            <a:ext cx="16154400" cy="9525"/>
          </a:xfrm>
          <a:prstGeom prst="rect">
            <a:avLst/>
          </a:prstGeom>
          <a:solidFill>
            <a:srgbClr val="1D1F20">
              <a:alpha val="8000"/>
            </a:srgbClr>
          </a:solidFill>
          <a:ln/>
        </p:spPr>
      </p:sp>
      <p:sp>
        <p:nvSpPr>
          <p:cNvPr id="13" name="Text 11"/>
          <p:cNvSpPr/>
          <p:nvPr/>
        </p:nvSpPr>
        <p:spPr>
          <a:xfrm>
            <a:off x="1066800" y="4775696"/>
            <a:ext cx="5448300" cy="3556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Compréhension du contexte &amp; cadrage</a:t>
            </a:r>
            <a:endParaRPr lang="en-US" sz="2100" dirty="0"/>
          </a:p>
        </p:txBody>
      </p:sp>
      <p:sp>
        <p:nvSpPr>
          <p:cNvPr id="14" name="Shape 12"/>
          <p:cNvSpPr/>
          <p:nvPr/>
        </p:nvSpPr>
        <p:spPr>
          <a:xfrm>
            <a:off x="6248400" y="4791571"/>
            <a:ext cx="2743200" cy="285750"/>
          </a:xfrm>
          <a:prstGeom prst="rect">
            <a:avLst/>
          </a:prstGeom>
          <a:solidFill>
            <a:srgbClr val="94BCE3"/>
          </a:solidFill>
          <a:ln/>
        </p:spPr>
      </p:sp>
      <p:sp>
        <p:nvSpPr>
          <p:cNvPr id="15" name="Shape 13"/>
          <p:cNvSpPr/>
          <p:nvPr/>
        </p:nvSpPr>
        <p:spPr>
          <a:xfrm>
            <a:off x="1066800" y="5817096"/>
            <a:ext cx="16154400" cy="9525"/>
          </a:xfrm>
          <a:prstGeom prst="rect">
            <a:avLst/>
          </a:prstGeom>
          <a:solidFill>
            <a:srgbClr val="1D1F20">
              <a:alpha val="8000"/>
            </a:srgbClr>
          </a:solidFill>
          <a:ln/>
        </p:spPr>
      </p:sp>
      <p:sp>
        <p:nvSpPr>
          <p:cNvPr id="16" name="Text 14"/>
          <p:cNvSpPr/>
          <p:nvPr/>
        </p:nvSpPr>
        <p:spPr>
          <a:xfrm>
            <a:off x="1066800" y="5366246"/>
            <a:ext cx="5448300" cy="3556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BC01 — Socle de données &amp; ingestion</a:t>
            </a:r>
            <a:endParaRPr lang="en-US" sz="2100" dirty="0"/>
          </a:p>
        </p:txBody>
      </p:sp>
      <p:sp>
        <p:nvSpPr>
          <p:cNvPr id="17" name="Shape 15"/>
          <p:cNvSpPr/>
          <p:nvPr/>
        </p:nvSpPr>
        <p:spPr>
          <a:xfrm>
            <a:off x="6248400" y="5382121"/>
            <a:ext cx="5486400" cy="285750"/>
          </a:xfrm>
          <a:prstGeom prst="rect">
            <a:avLst/>
          </a:prstGeom>
          <a:solidFill>
            <a:srgbClr val="5980A6"/>
          </a:solidFill>
          <a:ln/>
        </p:spPr>
      </p:sp>
      <p:sp>
        <p:nvSpPr>
          <p:cNvPr id="18" name="Shape 16"/>
          <p:cNvSpPr/>
          <p:nvPr/>
        </p:nvSpPr>
        <p:spPr>
          <a:xfrm>
            <a:off x="1066800" y="6407646"/>
            <a:ext cx="16154400" cy="9525"/>
          </a:xfrm>
          <a:prstGeom prst="rect">
            <a:avLst/>
          </a:prstGeom>
          <a:solidFill>
            <a:srgbClr val="1D1F20">
              <a:alpha val="8000"/>
            </a:srgbClr>
          </a:solidFill>
          <a:ln/>
        </p:spPr>
      </p:sp>
      <p:sp>
        <p:nvSpPr>
          <p:cNvPr id="19" name="Text 17"/>
          <p:cNvSpPr/>
          <p:nvPr/>
        </p:nvSpPr>
        <p:spPr>
          <a:xfrm>
            <a:off x="1066800" y="5956796"/>
            <a:ext cx="5448300" cy="3556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BC02 — Analyse exploratoire</a:t>
            </a:r>
            <a:endParaRPr lang="en-US" sz="2100" dirty="0"/>
          </a:p>
        </p:txBody>
      </p:sp>
      <p:sp>
        <p:nvSpPr>
          <p:cNvPr id="20" name="Shape 18"/>
          <p:cNvSpPr/>
          <p:nvPr/>
        </p:nvSpPr>
        <p:spPr>
          <a:xfrm>
            <a:off x="8991600" y="5972671"/>
            <a:ext cx="2743200" cy="285750"/>
          </a:xfrm>
          <a:prstGeom prst="rect">
            <a:avLst/>
          </a:prstGeom>
          <a:solidFill>
            <a:srgbClr val="5980A6"/>
          </a:solidFill>
          <a:ln/>
        </p:spPr>
      </p:sp>
      <p:sp>
        <p:nvSpPr>
          <p:cNvPr id="21" name="Shape 19"/>
          <p:cNvSpPr/>
          <p:nvPr/>
        </p:nvSpPr>
        <p:spPr>
          <a:xfrm>
            <a:off x="1066800" y="6998196"/>
            <a:ext cx="16154400" cy="9525"/>
          </a:xfrm>
          <a:prstGeom prst="rect">
            <a:avLst/>
          </a:prstGeom>
          <a:solidFill>
            <a:srgbClr val="1D1F20">
              <a:alpha val="8000"/>
            </a:srgbClr>
          </a:solidFill>
          <a:ln/>
        </p:spPr>
      </p:sp>
      <p:sp>
        <p:nvSpPr>
          <p:cNvPr id="22" name="Text 20"/>
          <p:cNvSpPr/>
          <p:nvPr/>
        </p:nvSpPr>
        <p:spPr>
          <a:xfrm>
            <a:off x="1066800" y="6547346"/>
            <a:ext cx="5448300" cy="3556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BC03 — Modèles supervisés &amp; SHAP</a:t>
            </a:r>
            <a:endParaRPr lang="en-US" sz="2100" dirty="0"/>
          </a:p>
        </p:txBody>
      </p:sp>
      <p:sp>
        <p:nvSpPr>
          <p:cNvPr id="23" name="Shape 21"/>
          <p:cNvSpPr/>
          <p:nvPr/>
        </p:nvSpPr>
        <p:spPr>
          <a:xfrm>
            <a:off x="8991600" y="6563221"/>
            <a:ext cx="5486400" cy="285750"/>
          </a:xfrm>
          <a:prstGeom prst="rect">
            <a:avLst/>
          </a:prstGeom>
          <a:solidFill>
            <a:srgbClr val="5980A6"/>
          </a:solidFill>
          <a:ln/>
        </p:spPr>
      </p:sp>
      <p:sp>
        <p:nvSpPr>
          <p:cNvPr id="24" name="Shape 22"/>
          <p:cNvSpPr/>
          <p:nvPr/>
        </p:nvSpPr>
        <p:spPr>
          <a:xfrm>
            <a:off x="1066800" y="7588746"/>
            <a:ext cx="16154400" cy="9525"/>
          </a:xfrm>
          <a:prstGeom prst="rect">
            <a:avLst/>
          </a:prstGeom>
          <a:solidFill>
            <a:srgbClr val="1D1F20">
              <a:alpha val="8000"/>
            </a:srgbClr>
          </a:solidFill>
          <a:ln/>
        </p:spPr>
      </p:sp>
      <p:sp>
        <p:nvSpPr>
          <p:cNvPr id="25" name="Text 23"/>
          <p:cNvSpPr/>
          <p:nvPr/>
        </p:nvSpPr>
        <p:spPr>
          <a:xfrm>
            <a:off x="1066800" y="7137896"/>
            <a:ext cx="5448300" cy="3556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BC04 — Deep learning</a:t>
            </a:r>
            <a:endParaRPr lang="en-US" sz="2100" dirty="0"/>
          </a:p>
        </p:txBody>
      </p:sp>
      <p:sp>
        <p:nvSpPr>
          <p:cNvPr id="26" name="Shape 24"/>
          <p:cNvSpPr/>
          <p:nvPr/>
        </p:nvSpPr>
        <p:spPr>
          <a:xfrm>
            <a:off x="11734800" y="7153771"/>
            <a:ext cx="2743200" cy="285750"/>
          </a:xfrm>
          <a:prstGeom prst="rect">
            <a:avLst/>
          </a:prstGeom>
          <a:solidFill>
            <a:srgbClr val="5980A6"/>
          </a:solidFill>
          <a:ln/>
        </p:spPr>
      </p:sp>
      <p:sp>
        <p:nvSpPr>
          <p:cNvPr id="27" name="Shape 25"/>
          <p:cNvSpPr/>
          <p:nvPr/>
        </p:nvSpPr>
        <p:spPr>
          <a:xfrm>
            <a:off x="1066800" y="8179296"/>
            <a:ext cx="16154400" cy="9525"/>
          </a:xfrm>
          <a:prstGeom prst="rect">
            <a:avLst/>
          </a:prstGeom>
          <a:solidFill>
            <a:srgbClr val="1D1F20">
              <a:alpha val="8000"/>
            </a:srgbClr>
          </a:solidFill>
          <a:ln/>
        </p:spPr>
      </p:sp>
      <p:sp>
        <p:nvSpPr>
          <p:cNvPr id="28" name="Text 26"/>
          <p:cNvSpPr/>
          <p:nvPr/>
        </p:nvSpPr>
        <p:spPr>
          <a:xfrm>
            <a:off x="1066800" y="7728446"/>
            <a:ext cx="5448300" cy="3556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BC05 — API, Docker, CI/CD, monitoring</a:t>
            </a:r>
            <a:endParaRPr lang="en-US" sz="2100" dirty="0"/>
          </a:p>
        </p:txBody>
      </p:sp>
      <p:sp>
        <p:nvSpPr>
          <p:cNvPr id="29" name="Shape 27"/>
          <p:cNvSpPr/>
          <p:nvPr/>
        </p:nvSpPr>
        <p:spPr>
          <a:xfrm>
            <a:off x="11734800" y="7744321"/>
            <a:ext cx="5486400" cy="285750"/>
          </a:xfrm>
          <a:prstGeom prst="rect">
            <a:avLst/>
          </a:prstGeom>
          <a:solidFill>
            <a:srgbClr val="5980A6"/>
          </a:solidFill>
          <a:ln/>
        </p:spPr>
      </p:sp>
      <p:sp>
        <p:nvSpPr>
          <p:cNvPr id="30" name="Text 28"/>
          <p:cNvSpPr/>
          <p:nvPr/>
        </p:nvSpPr>
        <p:spPr>
          <a:xfrm>
            <a:off x="1066800" y="8318996"/>
            <a:ext cx="5448300" cy="3556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BC06 — RGPD, KPIs, rapports &amp; soutenance</a:t>
            </a:r>
            <a:endParaRPr lang="en-US" sz="2100" dirty="0"/>
          </a:p>
        </p:txBody>
      </p:sp>
      <p:sp>
        <p:nvSpPr>
          <p:cNvPr id="31" name="Shape 29"/>
          <p:cNvSpPr/>
          <p:nvPr/>
        </p:nvSpPr>
        <p:spPr>
          <a:xfrm>
            <a:off x="14478000" y="8334871"/>
            <a:ext cx="2743200" cy="285750"/>
          </a:xfrm>
          <a:prstGeom prst="rect">
            <a:avLst/>
          </a:prstGeom>
          <a:solidFill>
            <a:srgbClr val="94BCE3"/>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1029990"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CADRAGE</a:t>
            </a:r>
            <a:endParaRPr lang="en-US" sz="1800" dirty="0"/>
          </a:p>
        </p:txBody>
      </p:sp>
      <p:sp>
        <p:nvSpPr>
          <p:cNvPr id="3" name="Text 1"/>
          <p:cNvSpPr/>
          <p:nvPr/>
        </p:nvSpPr>
        <p:spPr>
          <a:xfrm>
            <a:off x="16405722" y="685800"/>
            <a:ext cx="891679"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04 / 06</a:t>
            </a:r>
            <a:endParaRPr lang="en-US" sz="1800" dirty="0"/>
          </a:p>
        </p:txBody>
      </p:sp>
      <p:sp>
        <p:nvSpPr>
          <p:cNvPr id="4" name="Text 2"/>
          <p:cNvSpPr/>
          <p:nvPr/>
        </p:nvSpPr>
        <p:spPr>
          <a:xfrm>
            <a:off x="1066800" y="1339850"/>
            <a:ext cx="17769840" cy="873621"/>
          </a:xfrm>
          <a:prstGeom prst="rect">
            <a:avLst/>
          </a:prstGeom>
          <a:noFill/>
          <a:ln/>
        </p:spPr>
        <p:txBody>
          <a:bodyPr wrap="square" lIns="25400" tIns="25400" rIns="25400" bIns="25400" rtlCol="0" anchor="t">
            <a:normAutofit/>
          </a:bodyPr>
          <a:lstStyle/>
          <a:p>
            <a:pPr algn="l" indent="0" marL="0">
              <a:lnSpc>
                <a:spcPct val="88905"/>
              </a:lnSpc>
              <a:buNone/>
            </a:pPr>
            <a:r>
              <a:rPr lang="en-US" sz="6450" b="1" spc="-97" kern="0" dirty="0">
                <a:solidFill>
                  <a:srgbClr val="1D1F20"/>
                </a:solidFill>
                <a:latin typeface="Arial" pitchFamily="34" charset="0"/>
                <a:ea typeface="Arial" pitchFamily="34" charset="-122"/>
                <a:cs typeface="Arial" pitchFamily="34" charset="-120"/>
              </a:rPr>
              <a:t>La chaîne complète, en un coup d'œil</a:t>
            </a:r>
            <a:endParaRPr lang="en-US" sz="6450" dirty="0"/>
          </a:p>
        </p:txBody>
      </p:sp>
      <p:sp>
        <p:nvSpPr>
          <p:cNvPr id="5" name="Shape 3"/>
          <p:cNvSpPr/>
          <p:nvPr/>
        </p:nvSpPr>
        <p:spPr>
          <a:xfrm>
            <a:off x="1066800" y="2556371"/>
            <a:ext cx="2533650" cy="25400"/>
          </a:xfrm>
          <a:prstGeom prst="rect">
            <a:avLst/>
          </a:prstGeom>
          <a:solidFill>
            <a:srgbClr val="5980A6"/>
          </a:solidFill>
          <a:ln/>
        </p:spPr>
      </p:sp>
      <p:sp>
        <p:nvSpPr>
          <p:cNvPr id="6" name="Text 4"/>
          <p:cNvSpPr/>
          <p:nvPr/>
        </p:nvSpPr>
        <p:spPr>
          <a:xfrm>
            <a:off x="1066800" y="2791321"/>
            <a:ext cx="2787015" cy="647700"/>
          </a:xfrm>
          <a:prstGeom prst="rect">
            <a:avLst/>
          </a:prstGeom>
          <a:noFill/>
          <a:ln/>
        </p:spPr>
        <p:txBody>
          <a:bodyPr wrap="square" lIns="25400" tIns="25400" rIns="25400" bIns="25400" rtlCol="0" anchor="t">
            <a:normAutofit/>
          </a:bodyPr>
          <a:lstStyle/>
          <a:p>
            <a:pPr algn="l" indent="0" marL="0">
              <a:lnSpc>
                <a:spcPct val="87273"/>
              </a:lnSpc>
              <a:buNone/>
            </a:pPr>
            <a:r>
              <a:rPr lang="en-US" sz="4800" dirty="0">
                <a:solidFill>
                  <a:srgbClr val="416180"/>
                </a:solidFill>
                <a:latin typeface="Arial" pitchFamily="34" charset="0"/>
                <a:ea typeface="Arial" pitchFamily="34" charset="-122"/>
                <a:cs typeface="Arial" pitchFamily="34" charset="-120"/>
              </a:rPr>
              <a:t>BC01</a:t>
            </a:r>
            <a:endParaRPr lang="en-US" sz="4800" dirty="0"/>
          </a:p>
        </p:txBody>
      </p:sp>
      <p:sp>
        <p:nvSpPr>
          <p:cNvPr id="7" name="Text 5"/>
          <p:cNvSpPr/>
          <p:nvPr/>
        </p:nvSpPr>
        <p:spPr>
          <a:xfrm>
            <a:off x="1066800" y="3572371"/>
            <a:ext cx="2787015" cy="415230"/>
          </a:xfrm>
          <a:prstGeom prst="rect">
            <a:avLst/>
          </a:prstGeom>
          <a:noFill/>
          <a:ln/>
        </p:spPr>
        <p:txBody>
          <a:bodyPr wrap="square" lIns="25400" tIns="25400" rIns="25400" bIns="25400" rtlCol="0" anchor="t">
            <a:normAutofit/>
          </a:bodyPr>
          <a:lstStyle/>
          <a:p>
            <a:pPr algn="l" indent="0" marL="0">
              <a:lnSpc>
                <a:spcPct val="95806"/>
              </a:lnSpc>
              <a:buNone/>
            </a:pPr>
            <a:r>
              <a:rPr lang="en-US" sz="2700" dirty="0">
                <a:solidFill>
                  <a:srgbClr val="1D1F20"/>
                </a:solidFill>
                <a:latin typeface="Arial" pitchFamily="34" charset="0"/>
                <a:ea typeface="Arial" pitchFamily="34" charset="-122"/>
                <a:cs typeface="Arial" pitchFamily="34" charset="-120"/>
              </a:rPr>
              <a:t>Socle de données</a:t>
            </a:r>
            <a:endParaRPr lang="en-US" sz="2700" dirty="0"/>
          </a:p>
        </p:txBody>
      </p:sp>
      <p:sp>
        <p:nvSpPr>
          <p:cNvPr id="8" name="Text 6"/>
          <p:cNvSpPr/>
          <p:nvPr/>
        </p:nvSpPr>
        <p:spPr>
          <a:xfrm>
            <a:off x="1066800" y="4120952"/>
            <a:ext cx="2609850" cy="1419225"/>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5D5D60"/>
                </a:solidFill>
                <a:latin typeface="Arial" pitchFamily="34" charset="0"/>
                <a:ea typeface="Arial" pitchFamily="34" charset="-122"/>
                <a:cs typeface="Arial" pitchFamily="34" charset="-120"/>
              </a:rPr>
              <a:t>PostgreSQL en étoile, Kafka, Redis, Docker. 400 000 transactions, 10/10 contrôles qualité.</a:t>
            </a:r>
            <a:endParaRPr lang="en-US" sz="1875" dirty="0"/>
          </a:p>
        </p:txBody>
      </p:sp>
      <p:sp>
        <p:nvSpPr>
          <p:cNvPr id="9" name="Text 7"/>
          <p:cNvSpPr/>
          <p:nvPr/>
        </p:nvSpPr>
        <p:spPr>
          <a:xfrm>
            <a:off x="1066800" y="8997950"/>
            <a:ext cx="2609850" cy="641350"/>
          </a:xfrm>
          <a:prstGeom prst="rect">
            <a:avLst/>
          </a:prstGeom>
          <a:noFill/>
          <a:ln/>
        </p:spPr>
        <p:txBody>
          <a:bodyPr wrap="square" lIns="25400" tIns="25400" rIns="25400" bIns="25400" rtlCol="0" anchor="t">
            <a:normAutofit/>
          </a:bodyPr>
          <a:lstStyle/>
          <a:p>
            <a:pPr algn="l" indent="0" marL="0">
              <a:buNone/>
            </a:pPr>
            <a:r>
              <a:rPr lang="en-US" sz="1875" dirty="0">
                <a:solidFill>
                  <a:srgbClr val="416180"/>
                </a:solidFill>
                <a:latin typeface="Arial" pitchFamily="34" charset="0"/>
                <a:ea typeface="Arial" pitchFamily="34" charset="-122"/>
                <a:cs typeface="Arial" pitchFamily="34" charset="-120"/>
              </a:rPr>
              <a:t>→ produit les tables mart</a:t>
            </a:r>
            <a:endParaRPr lang="en-US" sz="1875" dirty="0"/>
          </a:p>
        </p:txBody>
      </p:sp>
      <p:sp>
        <p:nvSpPr>
          <p:cNvPr id="10" name="Shape 8"/>
          <p:cNvSpPr/>
          <p:nvPr/>
        </p:nvSpPr>
        <p:spPr>
          <a:xfrm>
            <a:off x="3790950" y="2556371"/>
            <a:ext cx="2533650" cy="25400"/>
          </a:xfrm>
          <a:prstGeom prst="rect">
            <a:avLst/>
          </a:prstGeom>
          <a:solidFill>
            <a:srgbClr val="5980A6"/>
          </a:solidFill>
          <a:ln/>
        </p:spPr>
      </p:sp>
      <p:sp>
        <p:nvSpPr>
          <p:cNvPr id="11" name="Text 9"/>
          <p:cNvSpPr/>
          <p:nvPr/>
        </p:nvSpPr>
        <p:spPr>
          <a:xfrm>
            <a:off x="3790950" y="2791321"/>
            <a:ext cx="2787015" cy="647700"/>
          </a:xfrm>
          <a:prstGeom prst="rect">
            <a:avLst/>
          </a:prstGeom>
          <a:noFill/>
          <a:ln/>
        </p:spPr>
        <p:txBody>
          <a:bodyPr wrap="square" lIns="25400" tIns="25400" rIns="25400" bIns="25400" rtlCol="0" anchor="t">
            <a:normAutofit/>
          </a:bodyPr>
          <a:lstStyle/>
          <a:p>
            <a:pPr algn="l" indent="0" marL="0">
              <a:lnSpc>
                <a:spcPct val="87273"/>
              </a:lnSpc>
              <a:buNone/>
            </a:pPr>
            <a:r>
              <a:rPr lang="en-US" sz="4800" dirty="0">
                <a:solidFill>
                  <a:srgbClr val="416180"/>
                </a:solidFill>
                <a:latin typeface="Arial" pitchFamily="34" charset="0"/>
                <a:ea typeface="Arial" pitchFamily="34" charset="-122"/>
                <a:cs typeface="Arial" pitchFamily="34" charset="-120"/>
              </a:rPr>
              <a:t>BC02</a:t>
            </a:r>
            <a:endParaRPr lang="en-US" sz="4800" dirty="0"/>
          </a:p>
        </p:txBody>
      </p:sp>
      <p:sp>
        <p:nvSpPr>
          <p:cNvPr id="12" name="Text 10"/>
          <p:cNvSpPr/>
          <p:nvPr/>
        </p:nvSpPr>
        <p:spPr>
          <a:xfrm>
            <a:off x="3790950" y="3572371"/>
            <a:ext cx="2787015" cy="415230"/>
          </a:xfrm>
          <a:prstGeom prst="rect">
            <a:avLst/>
          </a:prstGeom>
          <a:noFill/>
          <a:ln/>
        </p:spPr>
        <p:txBody>
          <a:bodyPr wrap="square" lIns="25400" tIns="25400" rIns="25400" bIns="25400" rtlCol="0" anchor="t">
            <a:normAutofit/>
          </a:bodyPr>
          <a:lstStyle/>
          <a:p>
            <a:pPr algn="l" indent="0" marL="0">
              <a:lnSpc>
                <a:spcPct val="95806"/>
              </a:lnSpc>
              <a:buNone/>
            </a:pPr>
            <a:r>
              <a:rPr lang="en-US" sz="2700" dirty="0">
                <a:solidFill>
                  <a:srgbClr val="1D1F20"/>
                </a:solidFill>
                <a:latin typeface="Arial" pitchFamily="34" charset="0"/>
                <a:ea typeface="Arial" pitchFamily="34" charset="-122"/>
                <a:cs typeface="Arial" pitchFamily="34" charset="-120"/>
              </a:rPr>
              <a:t>Analyse exploratoire</a:t>
            </a:r>
            <a:endParaRPr lang="en-US" sz="2700" dirty="0"/>
          </a:p>
        </p:txBody>
      </p:sp>
      <p:sp>
        <p:nvSpPr>
          <p:cNvPr id="13" name="Text 11"/>
          <p:cNvSpPr/>
          <p:nvPr/>
        </p:nvSpPr>
        <p:spPr>
          <a:xfrm>
            <a:off x="3790950" y="4120952"/>
            <a:ext cx="2609850" cy="1419225"/>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5D5D60"/>
                </a:solidFill>
                <a:latin typeface="Arial" pitchFamily="34" charset="0"/>
                <a:ea typeface="Arial" pitchFamily="34" charset="-122"/>
                <a:cs typeface="Arial" pitchFamily="34" charset="-120"/>
              </a:rPr>
              <a:t>Déséquilibre 1/66, profil des fraudeurs, limites des méthodes statistiques simples.</a:t>
            </a:r>
            <a:endParaRPr lang="en-US" sz="1875" dirty="0"/>
          </a:p>
        </p:txBody>
      </p:sp>
      <p:sp>
        <p:nvSpPr>
          <p:cNvPr id="14" name="Text 12"/>
          <p:cNvSpPr/>
          <p:nvPr/>
        </p:nvSpPr>
        <p:spPr>
          <a:xfrm>
            <a:off x="3790950" y="9290050"/>
            <a:ext cx="2787015" cy="349250"/>
          </a:xfrm>
          <a:prstGeom prst="rect">
            <a:avLst/>
          </a:prstGeom>
          <a:noFill/>
          <a:ln/>
        </p:spPr>
        <p:txBody>
          <a:bodyPr wrap="square" lIns="25400" tIns="25400" rIns="25400" bIns="25400" rtlCol="0" anchor="t">
            <a:normAutofit/>
          </a:bodyPr>
          <a:lstStyle/>
          <a:p>
            <a:pPr algn="l" indent="0" marL="0">
              <a:buNone/>
            </a:pPr>
            <a:r>
              <a:rPr lang="en-US" sz="1875" dirty="0">
                <a:solidFill>
                  <a:srgbClr val="416180"/>
                </a:solidFill>
                <a:latin typeface="Arial" pitchFamily="34" charset="0"/>
                <a:ea typeface="Arial" pitchFamily="34" charset="-122"/>
                <a:cs typeface="Arial" pitchFamily="34" charset="-120"/>
              </a:rPr>
              <a:t>→ oriente les variables</a:t>
            </a:r>
            <a:endParaRPr lang="en-US" sz="1875" dirty="0"/>
          </a:p>
        </p:txBody>
      </p:sp>
      <p:sp>
        <p:nvSpPr>
          <p:cNvPr id="15" name="Shape 13"/>
          <p:cNvSpPr/>
          <p:nvPr/>
        </p:nvSpPr>
        <p:spPr>
          <a:xfrm>
            <a:off x="6515100" y="2556371"/>
            <a:ext cx="2533650" cy="25400"/>
          </a:xfrm>
          <a:prstGeom prst="rect">
            <a:avLst/>
          </a:prstGeom>
          <a:solidFill>
            <a:srgbClr val="5980A6"/>
          </a:solidFill>
          <a:ln/>
        </p:spPr>
      </p:sp>
      <p:sp>
        <p:nvSpPr>
          <p:cNvPr id="16" name="Text 14"/>
          <p:cNvSpPr/>
          <p:nvPr/>
        </p:nvSpPr>
        <p:spPr>
          <a:xfrm>
            <a:off x="6515100" y="2791321"/>
            <a:ext cx="2787015" cy="647700"/>
          </a:xfrm>
          <a:prstGeom prst="rect">
            <a:avLst/>
          </a:prstGeom>
          <a:noFill/>
          <a:ln/>
        </p:spPr>
        <p:txBody>
          <a:bodyPr wrap="square" lIns="25400" tIns="25400" rIns="25400" bIns="25400" rtlCol="0" anchor="t">
            <a:normAutofit/>
          </a:bodyPr>
          <a:lstStyle/>
          <a:p>
            <a:pPr algn="l" indent="0" marL="0">
              <a:lnSpc>
                <a:spcPct val="87273"/>
              </a:lnSpc>
              <a:buNone/>
            </a:pPr>
            <a:r>
              <a:rPr lang="en-US" sz="4800" dirty="0">
                <a:solidFill>
                  <a:srgbClr val="416180"/>
                </a:solidFill>
                <a:latin typeface="Arial" pitchFamily="34" charset="0"/>
                <a:ea typeface="Arial" pitchFamily="34" charset="-122"/>
                <a:cs typeface="Arial" pitchFamily="34" charset="-120"/>
              </a:rPr>
              <a:t>BC03</a:t>
            </a:r>
            <a:endParaRPr lang="en-US" sz="4800" dirty="0"/>
          </a:p>
        </p:txBody>
      </p:sp>
      <p:sp>
        <p:nvSpPr>
          <p:cNvPr id="17" name="Text 15"/>
          <p:cNvSpPr/>
          <p:nvPr/>
        </p:nvSpPr>
        <p:spPr>
          <a:xfrm>
            <a:off x="6515100" y="3572371"/>
            <a:ext cx="2787015" cy="415230"/>
          </a:xfrm>
          <a:prstGeom prst="rect">
            <a:avLst/>
          </a:prstGeom>
          <a:noFill/>
          <a:ln/>
        </p:spPr>
        <p:txBody>
          <a:bodyPr wrap="square" lIns="25400" tIns="25400" rIns="25400" bIns="25400" rtlCol="0" anchor="t">
            <a:normAutofit/>
          </a:bodyPr>
          <a:lstStyle/>
          <a:p>
            <a:pPr algn="l" indent="0" marL="0">
              <a:lnSpc>
                <a:spcPct val="95806"/>
              </a:lnSpc>
              <a:buNone/>
            </a:pPr>
            <a:r>
              <a:rPr lang="en-US" sz="2700" dirty="0">
                <a:solidFill>
                  <a:srgbClr val="1D1F20"/>
                </a:solidFill>
                <a:latin typeface="Arial" pitchFamily="34" charset="0"/>
                <a:ea typeface="Arial" pitchFamily="34" charset="-122"/>
                <a:cs typeface="Arial" pitchFamily="34" charset="-120"/>
              </a:rPr>
              <a:t>Modèles supervisés</a:t>
            </a:r>
            <a:endParaRPr lang="en-US" sz="2700" dirty="0"/>
          </a:p>
        </p:txBody>
      </p:sp>
      <p:sp>
        <p:nvSpPr>
          <p:cNvPr id="18" name="Text 16"/>
          <p:cNvSpPr/>
          <p:nvPr/>
        </p:nvSpPr>
        <p:spPr>
          <a:xfrm>
            <a:off x="6515100" y="4120952"/>
            <a:ext cx="2609850" cy="1419225"/>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5D5D60"/>
                </a:solidFill>
                <a:latin typeface="Arial" pitchFamily="34" charset="0"/>
                <a:ea typeface="Arial" pitchFamily="34" charset="-122"/>
                <a:cs typeface="Arial" pitchFamily="34" charset="-120"/>
              </a:rPr>
              <a:t>LightGBM retenu : AUC 0,998, rappel 96,6 %. Explicabilité SHAP, seuil arbitré.</a:t>
            </a:r>
            <a:endParaRPr lang="en-US" sz="1875" dirty="0"/>
          </a:p>
        </p:txBody>
      </p:sp>
      <p:sp>
        <p:nvSpPr>
          <p:cNvPr id="19" name="Text 17"/>
          <p:cNvSpPr/>
          <p:nvPr/>
        </p:nvSpPr>
        <p:spPr>
          <a:xfrm>
            <a:off x="6515100" y="8997950"/>
            <a:ext cx="2609850" cy="641350"/>
          </a:xfrm>
          <a:prstGeom prst="rect">
            <a:avLst/>
          </a:prstGeom>
          <a:noFill/>
          <a:ln/>
        </p:spPr>
        <p:txBody>
          <a:bodyPr wrap="square" lIns="25400" tIns="25400" rIns="25400" bIns="25400" rtlCol="0" anchor="t">
            <a:normAutofit/>
          </a:bodyPr>
          <a:lstStyle/>
          <a:p>
            <a:pPr algn="l" indent="0" marL="0">
              <a:buNone/>
            </a:pPr>
            <a:r>
              <a:rPr lang="en-US" sz="1875" dirty="0">
                <a:solidFill>
                  <a:srgbClr val="416180"/>
                </a:solidFill>
                <a:latin typeface="Arial" pitchFamily="34" charset="0"/>
                <a:ea typeface="Arial" pitchFamily="34" charset="-122"/>
                <a:cs typeface="Arial" pitchFamily="34" charset="-120"/>
              </a:rPr>
              <a:t>→ produit le modèle servi</a:t>
            </a:r>
            <a:endParaRPr lang="en-US" sz="1875" dirty="0"/>
          </a:p>
        </p:txBody>
      </p:sp>
      <p:sp>
        <p:nvSpPr>
          <p:cNvPr id="20" name="Shape 18"/>
          <p:cNvSpPr/>
          <p:nvPr/>
        </p:nvSpPr>
        <p:spPr>
          <a:xfrm>
            <a:off x="9239250" y="2556371"/>
            <a:ext cx="2533650" cy="25400"/>
          </a:xfrm>
          <a:prstGeom prst="rect">
            <a:avLst/>
          </a:prstGeom>
          <a:solidFill>
            <a:srgbClr val="5980A6"/>
          </a:solidFill>
          <a:ln/>
        </p:spPr>
      </p:sp>
      <p:sp>
        <p:nvSpPr>
          <p:cNvPr id="21" name="Text 19"/>
          <p:cNvSpPr/>
          <p:nvPr/>
        </p:nvSpPr>
        <p:spPr>
          <a:xfrm>
            <a:off x="9239250" y="2791321"/>
            <a:ext cx="2787015" cy="647700"/>
          </a:xfrm>
          <a:prstGeom prst="rect">
            <a:avLst/>
          </a:prstGeom>
          <a:noFill/>
          <a:ln/>
        </p:spPr>
        <p:txBody>
          <a:bodyPr wrap="square" lIns="25400" tIns="25400" rIns="25400" bIns="25400" rtlCol="0" anchor="t">
            <a:normAutofit/>
          </a:bodyPr>
          <a:lstStyle/>
          <a:p>
            <a:pPr algn="l" indent="0" marL="0">
              <a:lnSpc>
                <a:spcPct val="87273"/>
              </a:lnSpc>
              <a:buNone/>
            </a:pPr>
            <a:r>
              <a:rPr lang="en-US" sz="4800" dirty="0">
                <a:solidFill>
                  <a:srgbClr val="416180"/>
                </a:solidFill>
                <a:latin typeface="Arial" pitchFamily="34" charset="0"/>
                <a:ea typeface="Arial" pitchFamily="34" charset="-122"/>
                <a:cs typeface="Arial" pitchFamily="34" charset="-120"/>
              </a:rPr>
              <a:t>BC04</a:t>
            </a:r>
            <a:endParaRPr lang="en-US" sz="4800" dirty="0"/>
          </a:p>
        </p:txBody>
      </p:sp>
      <p:sp>
        <p:nvSpPr>
          <p:cNvPr id="22" name="Text 20"/>
          <p:cNvSpPr/>
          <p:nvPr/>
        </p:nvSpPr>
        <p:spPr>
          <a:xfrm>
            <a:off x="9239250" y="3572371"/>
            <a:ext cx="2787015" cy="415230"/>
          </a:xfrm>
          <a:prstGeom prst="rect">
            <a:avLst/>
          </a:prstGeom>
          <a:noFill/>
          <a:ln/>
        </p:spPr>
        <p:txBody>
          <a:bodyPr wrap="square" lIns="25400" tIns="25400" rIns="25400" bIns="25400" rtlCol="0" anchor="t">
            <a:normAutofit/>
          </a:bodyPr>
          <a:lstStyle/>
          <a:p>
            <a:pPr algn="l" indent="0" marL="0">
              <a:lnSpc>
                <a:spcPct val="95806"/>
              </a:lnSpc>
              <a:buNone/>
            </a:pPr>
            <a:r>
              <a:rPr lang="en-US" sz="2700" dirty="0">
                <a:solidFill>
                  <a:srgbClr val="1D1F20"/>
                </a:solidFill>
                <a:latin typeface="Arial" pitchFamily="34" charset="0"/>
                <a:ea typeface="Arial" pitchFamily="34" charset="-122"/>
                <a:cs typeface="Arial" pitchFamily="34" charset="-120"/>
              </a:rPr>
              <a:t>Deep learning</a:t>
            </a:r>
            <a:endParaRPr lang="en-US" sz="2700" dirty="0"/>
          </a:p>
        </p:txBody>
      </p:sp>
      <p:sp>
        <p:nvSpPr>
          <p:cNvPr id="23" name="Text 21"/>
          <p:cNvSpPr/>
          <p:nvPr/>
        </p:nvSpPr>
        <p:spPr>
          <a:xfrm>
            <a:off x="9239250" y="4120952"/>
            <a:ext cx="2609850" cy="1419225"/>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5D5D60"/>
                </a:solidFill>
                <a:latin typeface="Arial" pitchFamily="34" charset="0"/>
                <a:ea typeface="Arial" pitchFamily="34" charset="-122"/>
                <a:cs typeface="Arial" pitchFamily="34" charset="-120"/>
              </a:rPr>
              <a:t>Autoencodeur sans étiquettes et LSTM de séquences, comparés au modèle de référence.</a:t>
            </a:r>
            <a:endParaRPr lang="en-US" sz="1875" dirty="0"/>
          </a:p>
        </p:txBody>
      </p:sp>
      <p:sp>
        <p:nvSpPr>
          <p:cNvPr id="24" name="Text 22"/>
          <p:cNvSpPr/>
          <p:nvPr/>
        </p:nvSpPr>
        <p:spPr>
          <a:xfrm>
            <a:off x="9239250" y="8997950"/>
            <a:ext cx="2609850" cy="641350"/>
          </a:xfrm>
          <a:prstGeom prst="rect">
            <a:avLst/>
          </a:prstGeom>
          <a:noFill/>
          <a:ln/>
        </p:spPr>
        <p:txBody>
          <a:bodyPr wrap="square" lIns="25400" tIns="25400" rIns="25400" bIns="25400" rtlCol="0" anchor="t">
            <a:normAutofit/>
          </a:bodyPr>
          <a:lstStyle/>
          <a:p>
            <a:pPr algn="l" indent="0" marL="0">
              <a:buNone/>
            </a:pPr>
            <a:r>
              <a:rPr lang="en-US" sz="1875" dirty="0">
                <a:solidFill>
                  <a:srgbClr val="416180"/>
                </a:solidFill>
                <a:latin typeface="Arial" pitchFamily="34" charset="0"/>
                <a:ea typeface="Arial" pitchFamily="34" charset="-122"/>
                <a:cs typeface="Arial" pitchFamily="34" charset="-120"/>
              </a:rPr>
              <a:t>→ complément, pas remplaçant</a:t>
            </a:r>
            <a:endParaRPr lang="en-US" sz="1875" dirty="0"/>
          </a:p>
        </p:txBody>
      </p:sp>
      <p:sp>
        <p:nvSpPr>
          <p:cNvPr id="25" name="Shape 23"/>
          <p:cNvSpPr/>
          <p:nvPr/>
        </p:nvSpPr>
        <p:spPr>
          <a:xfrm>
            <a:off x="11963400" y="2556371"/>
            <a:ext cx="2533650" cy="25400"/>
          </a:xfrm>
          <a:prstGeom prst="rect">
            <a:avLst/>
          </a:prstGeom>
          <a:solidFill>
            <a:srgbClr val="5980A6"/>
          </a:solidFill>
          <a:ln/>
        </p:spPr>
      </p:sp>
      <p:sp>
        <p:nvSpPr>
          <p:cNvPr id="26" name="Text 24"/>
          <p:cNvSpPr/>
          <p:nvPr/>
        </p:nvSpPr>
        <p:spPr>
          <a:xfrm>
            <a:off x="11963400" y="2791321"/>
            <a:ext cx="2787015" cy="647700"/>
          </a:xfrm>
          <a:prstGeom prst="rect">
            <a:avLst/>
          </a:prstGeom>
          <a:noFill/>
          <a:ln/>
        </p:spPr>
        <p:txBody>
          <a:bodyPr wrap="square" lIns="25400" tIns="25400" rIns="25400" bIns="25400" rtlCol="0" anchor="t">
            <a:normAutofit/>
          </a:bodyPr>
          <a:lstStyle/>
          <a:p>
            <a:pPr algn="l" indent="0" marL="0">
              <a:lnSpc>
                <a:spcPct val="87273"/>
              </a:lnSpc>
              <a:buNone/>
            </a:pPr>
            <a:r>
              <a:rPr lang="en-US" sz="4800" dirty="0">
                <a:solidFill>
                  <a:srgbClr val="416180"/>
                </a:solidFill>
                <a:latin typeface="Arial" pitchFamily="34" charset="0"/>
                <a:ea typeface="Arial" pitchFamily="34" charset="-122"/>
                <a:cs typeface="Arial" pitchFamily="34" charset="-120"/>
              </a:rPr>
              <a:t>BC05</a:t>
            </a:r>
            <a:endParaRPr lang="en-US" sz="4800" dirty="0"/>
          </a:p>
        </p:txBody>
      </p:sp>
      <p:sp>
        <p:nvSpPr>
          <p:cNvPr id="27" name="Text 25"/>
          <p:cNvSpPr/>
          <p:nvPr/>
        </p:nvSpPr>
        <p:spPr>
          <a:xfrm>
            <a:off x="11963400" y="3572371"/>
            <a:ext cx="2787015" cy="415230"/>
          </a:xfrm>
          <a:prstGeom prst="rect">
            <a:avLst/>
          </a:prstGeom>
          <a:noFill/>
          <a:ln/>
        </p:spPr>
        <p:txBody>
          <a:bodyPr wrap="square" lIns="25400" tIns="25400" rIns="25400" bIns="25400" rtlCol="0" anchor="t">
            <a:normAutofit/>
          </a:bodyPr>
          <a:lstStyle/>
          <a:p>
            <a:pPr algn="l" indent="0" marL="0">
              <a:lnSpc>
                <a:spcPct val="95806"/>
              </a:lnSpc>
              <a:buNone/>
            </a:pPr>
            <a:r>
              <a:rPr lang="en-US" sz="2700" dirty="0">
                <a:solidFill>
                  <a:srgbClr val="1D1F20"/>
                </a:solidFill>
                <a:latin typeface="Arial" pitchFamily="34" charset="0"/>
                <a:ea typeface="Arial" pitchFamily="34" charset="-122"/>
                <a:cs typeface="Arial" pitchFamily="34" charset="-120"/>
              </a:rPr>
              <a:t>API &amp; monitoring</a:t>
            </a:r>
            <a:endParaRPr lang="en-US" sz="2700" dirty="0"/>
          </a:p>
        </p:txBody>
      </p:sp>
      <p:sp>
        <p:nvSpPr>
          <p:cNvPr id="28" name="Text 26"/>
          <p:cNvSpPr/>
          <p:nvPr/>
        </p:nvSpPr>
        <p:spPr>
          <a:xfrm>
            <a:off x="11963400" y="4120952"/>
            <a:ext cx="2609850" cy="1419225"/>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5D5D60"/>
                </a:solidFill>
                <a:latin typeface="Arial" pitchFamily="34" charset="0"/>
                <a:ea typeface="Arial" pitchFamily="34" charset="-122"/>
                <a:cs typeface="Arial" pitchFamily="34" charset="-120"/>
              </a:rPr>
              <a:t>FastAPI conteneurisée, 24–60 ms, SHAP à la volée, dérive Evidently, CI/CD vert.</a:t>
            </a:r>
            <a:endParaRPr lang="en-US" sz="1875" dirty="0"/>
          </a:p>
        </p:txBody>
      </p:sp>
      <p:sp>
        <p:nvSpPr>
          <p:cNvPr id="29" name="Text 27"/>
          <p:cNvSpPr/>
          <p:nvPr/>
        </p:nvSpPr>
        <p:spPr>
          <a:xfrm>
            <a:off x="11963400" y="8997950"/>
            <a:ext cx="2609850" cy="641350"/>
          </a:xfrm>
          <a:prstGeom prst="rect">
            <a:avLst/>
          </a:prstGeom>
          <a:noFill/>
          <a:ln/>
        </p:spPr>
        <p:txBody>
          <a:bodyPr wrap="square" lIns="25400" tIns="25400" rIns="25400" bIns="25400" rtlCol="0" anchor="t">
            <a:normAutofit/>
          </a:bodyPr>
          <a:lstStyle/>
          <a:p>
            <a:pPr algn="l" indent="0" marL="0">
              <a:buNone/>
            </a:pPr>
            <a:r>
              <a:rPr lang="en-US" sz="1875" dirty="0">
                <a:solidFill>
                  <a:srgbClr val="416180"/>
                </a:solidFill>
                <a:latin typeface="Arial" pitchFamily="34" charset="0"/>
                <a:ea typeface="Arial" pitchFamily="34" charset="-122"/>
                <a:cs typeface="Arial" pitchFamily="34" charset="-120"/>
              </a:rPr>
              <a:t>→ met le modèle en service</a:t>
            </a:r>
            <a:endParaRPr lang="en-US" sz="1875" dirty="0"/>
          </a:p>
        </p:txBody>
      </p:sp>
      <p:sp>
        <p:nvSpPr>
          <p:cNvPr id="30" name="Shape 28"/>
          <p:cNvSpPr/>
          <p:nvPr/>
        </p:nvSpPr>
        <p:spPr>
          <a:xfrm>
            <a:off x="14687550" y="2556371"/>
            <a:ext cx="2533650" cy="25400"/>
          </a:xfrm>
          <a:prstGeom prst="rect">
            <a:avLst/>
          </a:prstGeom>
          <a:solidFill>
            <a:srgbClr val="5980A6"/>
          </a:solidFill>
          <a:ln/>
        </p:spPr>
      </p:sp>
      <p:sp>
        <p:nvSpPr>
          <p:cNvPr id="31" name="Text 29"/>
          <p:cNvSpPr/>
          <p:nvPr/>
        </p:nvSpPr>
        <p:spPr>
          <a:xfrm>
            <a:off x="14687550" y="2791321"/>
            <a:ext cx="2787015" cy="647700"/>
          </a:xfrm>
          <a:prstGeom prst="rect">
            <a:avLst/>
          </a:prstGeom>
          <a:noFill/>
          <a:ln/>
        </p:spPr>
        <p:txBody>
          <a:bodyPr wrap="square" lIns="25400" tIns="25400" rIns="25400" bIns="25400" rtlCol="0" anchor="t">
            <a:normAutofit/>
          </a:bodyPr>
          <a:lstStyle/>
          <a:p>
            <a:pPr algn="l" indent="0" marL="0">
              <a:lnSpc>
                <a:spcPct val="87273"/>
              </a:lnSpc>
              <a:buNone/>
            </a:pPr>
            <a:r>
              <a:rPr lang="en-US" sz="4800" dirty="0">
                <a:solidFill>
                  <a:srgbClr val="416180"/>
                </a:solidFill>
                <a:latin typeface="Arial" pitchFamily="34" charset="0"/>
                <a:ea typeface="Arial" pitchFamily="34" charset="-122"/>
                <a:cs typeface="Arial" pitchFamily="34" charset="-120"/>
              </a:rPr>
              <a:t>BC06</a:t>
            </a:r>
            <a:endParaRPr lang="en-US" sz="4800" dirty="0"/>
          </a:p>
        </p:txBody>
      </p:sp>
      <p:sp>
        <p:nvSpPr>
          <p:cNvPr id="32" name="Text 30"/>
          <p:cNvSpPr/>
          <p:nvPr/>
        </p:nvSpPr>
        <p:spPr>
          <a:xfrm>
            <a:off x="14687550" y="3572371"/>
            <a:ext cx="2609850" cy="792361"/>
          </a:xfrm>
          <a:prstGeom prst="rect">
            <a:avLst/>
          </a:prstGeom>
          <a:noFill/>
          <a:ln/>
        </p:spPr>
        <p:txBody>
          <a:bodyPr wrap="square" lIns="25400" tIns="25400" rIns="25400" bIns="25400" rtlCol="0" anchor="t">
            <a:normAutofit/>
          </a:bodyPr>
          <a:lstStyle/>
          <a:p>
            <a:pPr algn="l" indent="0" marL="0">
              <a:lnSpc>
                <a:spcPct val="95806"/>
              </a:lnSpc>
              <a:buNone/>
            </a:pPr>
            <a:r>
              <a:rPr lang="en-US" sz="2700" dirty="0">
                <a:solidFill>
                  <a:srgbClr val="1D1F20"/>
                </a:solidFill>
                <a:latin typeface="Arial" pitchFamily="34" charset="0"/>
                <a:ea typeface="Arial" pitchFamily="34" charset="-122"/>
                <a:cs typeface="Arial" pitchFamily="34" charset="-120"/>
              </a:rPr>
              <a:t>Pilotage &amp; conformité</a:t>
            </a:r>
            <a:endParaRPr lang="en-US" sz="2700" dirty="0"/>
          </a:p>
        </p:txBody>
      </p:sp>
      <p:sp>
        <p:nvSpPr>
          <p:cNvPr id="33" name="Text 31"/>
          <p:cNvSpPr/>
          <p:nvPr/>
        </p:nvSpPr>
        <p:spPr>
          <a:xfrm>
            <a:off x="14687550" y="4498082"/>
            <a:ext cx="2609850" cy="1419225"/>
          </a:xfrm>
          <a:prstGeom prst="rect">
            <a:avLst/>
          </a:prstGeom>
          <a:noFill/>
          <a:ln/>
        </p:spPr>
        <p:txBody>
          <a:bodyPr wrap="square" lIns="25400" tIns="25400" rIns="25400" bIns="25400" rtlCol="0" anchor="t">
            <a:normAutofit/>
          </a:bodyPr>
          <a:lstStyle/>
          <a:p>
            <a:pPr algn="l" indent="0" marL="0">
              <a:lnSpc>
                <a:spcPct val="126453"/>
              </a:lnSpc>
              <a:buNone/>
            </a:pPr>
            <a:r>
              <a:rPr lang="en-US" sz="1875" dirty="0">
                <a:solidFill>
                  <a:srgbClr val="5D5D60"/>
                </a:solidFill>
                <a:latin typeface="Arial" pitchFamily="34" charset="0"/>
                <a:ea typeface="Arial" pitchFamily="34" charset="-122"/>
                <a:cs typeface="Arial" pitchFamily="34" charset="-120"/>
              </a:rPr>
              <a:t>Audit RGPD 6/8 exécutable, impact financier des seuils, bilan et 11 incidents.</a:t>
            </a:r>
            <a:endParaRPr lang="en-US" sz="1875" dirty="0"/>
          </a:p>
        </p:txBody>
      </p:sp>
      <p:sp>
        <p:nvSpPr>
          <p:cNvPr id="34" name="Text 32"/>
          <p:cNvSpPr/>
          <p:nvPr/>
        </p:nvSpPr>
        <p:spPr>
          <a:xfrm>
            <a:off x="14687550" y="8997950"/>
            <a:ext cx="2609850" cy="641350"/>
          </a:xfrm>
          <a:prstGeom prst="rect">
            <a:avLst/>
          </a:prstGeom>
          <a:noFill/>
          <a:ln/>
        </p:spPr>
        <p:txBody>
          <a:bodyPr wrap="square" lIns="25400" tIns="25400" rIns="25400" bIns="25400" rtlCol="0" anchor="t">
            <a:normAutofit/>
          </a:bodyPr>
          <a:lstStyle/>
          <a:p>
            <a:pPr algn="l" indent="0" marL="0">
              <a:buNone/>
            </a:pPr>
            <a:r>
              <a:rPr lang="en-US" sz="1875" dirty="0">
                <a:solidFill>
                  <a:srgbClr val="416180"/>
                </a:solidFill>
                <a:latin typeface="Arial" pitchFamily="34" charset="0"/>
                <a:ea typeface="Arial" pitchFamily="34" charset="-122"/>
                <a:cs typeface="Arial" pitchFamily="34" charset="-120"/>
              </a:rPr>
              <a:t>→ arbitre la décision finale</a:t>
            </a:r>
            <a:endParaRPr lang="en-US" sz="18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D2D3D"/>
        </a:solidFill>
      </p:bgPr>
    </p:bg>
    <p:spTree>
      <p:nvGrpSpPr>
        <p:cNvPr id="1" name=""/>
        <p:cNvGrpSpPr/>
        <p:nvPr/>
      </p:nvGrpSpPr>
      <p:grpSpPr>
        <a:xfrm>
          <a:off x="0" y="0"/>
          <a:ext cx="0" cy="0"/>
          <a:chOff x="0" y="0"/>
          <a:chExt cx="0" cy="0"/>
        </a:xfrm>
      </p:grpSpPr>
      <p:sp>
        <p:nvSpPr>
          <p:cNvPr id="2" name="Text 0"/>
          <p:cNvSpPr/>
          <p:nvPr/>
        </p:nvSpPr>
        <p:spPr>
          <a:xfrm>
            <a:off x="1066800" y="3175992"/>
            <a:ext cx="17769840" cy="336550"/>
          </a:xfrm>
          <a:prstGeom prst="rect">
            <a:avLst/>
          </a:prstGeom>
          <a:noFill/>
          <a:ln/>
        </p:spPr>
        <p:txBody>
          <a:bodyPr wrap="square" lIns="25400" tIns="25400" rIns="25400" bIns="25400" rtlCol="0" anchor="t">
            <a:normAutofit/>
          </a:bodyPr>
          <a:lstStyle/>
          <a:p>
            <a:pPr algn="l" indent="0" marL="0">
              <a:buNone/>
            </a:pPr>
            <a:r>
              <a:rPr lang="en-US" sz="1950" spc="390" kern="0" dirty="0">
                <a:solidFill>
                  <a:srgbClr val="94BCE3"/>
                </a:solidFill>
                <a:latin typeface="Arial" pitchFamily="34" charset="0"/>
                <a:ea typeface="Arial" pitchFamily="34" charset="-122"/>
                <a:cs typeface="Arial" pitchFamily="34" charset="-120"/>
              </a:rPr>
              <a:t>BLOC DE COMPÉTENCES 01</a:t>
            </a:r>
            <a:endParaRPr lang="en-US" sz="1950" dirty="0"/>
          </a:p>
        </p:txBody>
      </p:sp>
      <p:sp>
        <p:nvSpPr>
          <p:cNvPr id="3" name="Text 1"/>
          <p:cNvSpPr/>
          <p:nvPr/>
        </p:nvSpPr>
        <p:spPr>
          <a:xfrm>
            <a:off x="1066800" y="3855442"/>
            <a:ext cx="14668500" cy="1527770"/>
          </a:xfrm>
          <a:prstGeom prst="rect">
            <a:avLst/>
          </a:prstGeom>
          <a:noFill/>
          <a:ln/>
        </p:spPr>
        <p:txBody>
          <a:bodyPr wrap="square" lIns="25400" tIns="25400" rIns="25400" bIns="25400" rtlCol="0" anchor="t">
            <a:normAutofit/>
          </a:bodyPr>
          <a:lstStyle/>
          <a:p>
            <a:pPr algn="l" indent="0" marL="0">
              <a:lnSpc>
                <a:spcPct val="80068"/>
              </a:lnSpc>
              <a:buNone/>
            </a:pPr>
            <a:r>
              <a:rPr lang="en-US" sz="12750" b="1" spc="-255" kern="0" dirty="0">
                <a:solidFill>
                  <a:srgbClr val="F2F2F3"/>
                </a:solidFill>
                <a:latin typeface="Arial" pitchFamily="34" charset="0"/>
                <a:ea typeface="Arial" pitchFamily="34" charset="-122"/>
                <a:cs typeface="Arial" pitchFamily="34" charset="-120"/>
              </a:rPr>
              <a:t>Socle de données</a:t>
            </a:r>
            <a:endParaRPr lang="en-US" sz="12750" dirty="0"/>
          </a:p>
        </p:txBody>
      </p:sp>
      <p:sp>
        <p:nvSpPr>
          <p:cNvPr id="4" name="Shape 2"/>
          <p:cNvSpPr/>
          <p:nvPr/>
        </p:nvSpPr>
        <p:spPr>
          <a:xfrm>
            <a:off x="1066800" y="5726113"/>
            <a:ext cx="1524000" cy="9525"/>
          </a:xfrm>
          <a:prstGeom prst="rect">
            <a:avLst/>
          </a:prstGeom>
          <a:solidFill>
            <a:srgbClr val="597EA3"/>
          </a:solidFill>
          <a:ln/>
        </p:spPr>
      </p:sp>
      <p:sp>
        <p:nvSpPr>
          <p:cNvPr id="5" name="Text 3"/>
          <p:cNvSpPr/>
          <p:nvPr/>
        </p:nvSpPr>
        <p:spPr>
          <a:xfrm>
            <a:off x="1066800" y="6116638"/>
            <a:ext cx="12263438" cy="1032470"/>
          </a:xfrm>
          <a:prstGeom prst="rect">
            <a:avLst/>
          </a:prstGeom>
          <a:noFill/>
          <a:ln/>
        </p:spPr>
        <p:txBody>
          <a:bodyPr wrap="square" lIns="25400" tIns="25400" rIns="25400" bIns="25400" rtlCol="0" anchor="t">
            <a:normAutofit/>
          </a:bodyPr>
          <a:lstStyle/>
          <a:p>
            <a:pPr algn="l" indent="0" marL="0">
              <a:lnSpc>
                <a:spcPct val="126290"/>
              </a:lnSpc>
              <a:buNone/>
            </a:pPr>
            <a:r>
              <a:rPr lang="en-US" sz="2700" dirty="0">
                <a:solidFill>
                  <a:srgbClr val="D6EBFF"/>
                </a:solidFill>
                <a:latin typeface="Arial" pitchFamily="34" charset="0"/>
                <a:ea typeface="Arial" pitchFamily="34" charset="-122"/>
                <a:cs typeface="Arial" pitchFamily="34" charset="-120"/>
              </a:rPr>
              <a:t>Construire l'entrepôt, l'alimenter en batch et en flux continu, et prouver que ce qu'il contient est juste.</a:t>
            </a:r>
            <a:endParaRPr lang="en-US" sz="2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3138775"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BC01 · SOCLE DE DONNÉES</a:t>
            </a:r>
            <a:endParaRPr lang="en-US" sz="1800" dirty="0"/>
          </a:p>
        </p:txBody>
      </p:sp>
      <p:sp>
        <p:nvSpPr>
          <p:cNvPr id="3" name="Text 1"/>
          <p:cNvSpPr/>
          <p:nvPr/>
        </p:nvSpPr>
        <p:spPr>
          <a:xfrm>
            <a:off x="15626655" y="685800"/>
            <a:ext cx="1753999"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ARCHITECTURE</a:t>
            </a:r>
            <a:endParaRPr lang="en-US" sz="1800" dirty="0"/>
          </a:p>
        </p:txBody>
      </p:sp>
      <p:sp>
        <p:nvSpPr>
          <p:cNvPr id="4" name="Text 2"/>
          <p:cNvSpPr/>
          <p:nvPr/>
        </p:nvSpPr>
        <p:spPr>
          <a:xfrm>
            <a:off x="1066800" y="130175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Quatre couches, une seule porte d'entrée</a:t>
            </a:r>
            <a:endParaRPr lang="en-US" sz="5850" dirty="0"/>
          </a:p>
        </p:txBody>
      </p:sp>
      <p:sp>
        <p:nvSpPr>
          <p:cNvPr id="5" name="Shape 3"/>
          <p:cNvSpPr/>
          <p:nvPr/>
        </p:nvSpPr>
        <p:spPr>
          <a:xfrm>
            <a:off x="1066800" y="3343374"/>
            <a:ext cx="7810500" cy="9525"/>
          </a:xfrm>
          <a:prstGeom prst="rect">
            <a:avLst/>
          </a:prstGeom>
          <a:solidFill>
            <a:srgbClr val="1D1F20">
              <a:alpha val="12000"/>
            </a:srgbClr>
          </a:solidFill>
          <a:ln/>
        </p:spPr>
      </p:sp>
      <p:sp>
        <p:nvSpPr>
          <p:cNvPr id="6" name="Text 4"/>
          <p:cNvSpPr/>
          <p:nvPr/>
        </p:nvSpPr>
        <p:spPr>
          <a:xfrm>
            <a:off x="1066800" y="2402384"/>
            <a:ext cx="1885950" cy="469900"/>
          </a:xfrm>
          <a:prstGeom prst="rect">
            <a:avLst/>
          </a:prstGeom>
          <a:noFill/>
          <a:ln/>
        </p:spPr>
        <p:txBody>
          <a:bodyPr wrap="square" lIns="25400" tIns="25400" rIns="25400" bIns="25400" rtlCol="0" anchor="t">
            <a:normAutofit/>
          </a:bodyPr>
          <a:lstStyle/>
          <a:p>
            <a:pPr algn="l" indent="0" marL="0">
              <a:buNone/>
            </a:pPr>
            <a:r>
              <a:rPr lang="en-US" sz="2850" dirty="0">
                <a:solidFill>
                  <a:srgbClr val="416180"/>
                </a:solidFill>
                <a:latin typeface="Arial" pitchFamily="34" charset="0"/>
                <a:ea typeface="Arial" pitchFamily="34" charset="-122"/>
                <a:cs typeface="Arial" pitchFamily="34" charset="-120"/>
              </a:rPr>
              <a:t>staging</a:t>
            </a:r>
            <a:endParaRPr lang="en-US" sz="2850" dirty="0"/>
          </a:p>
        </p:txBody>
      </p:sp>
      <p:sp>
        <p:nvSpPr>
          <p:cNvPr id="7" name="Text 5"/>
          <p:cNvSpPr/>
          <p:nvPr/>
        </p:nvSpPr>
        <p:spPr>
          <a:xfrm>
            <a:off x="2971800" y="2497634"/>
            <a:ext cx="6082665" cy="73144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Copie brute des transactions reçues, batch ou flux. Aucune règle métier appliquée.</a:t>
            </a:r>
            <a:endParaRPr lang="en-US" sz="1950" dirty="0"/>
          </a:p>
        </p:txBody>
      </p:sp>
      <p:sp>
        <p:nvSpPr>
          <p:cNvPr id="8" name="Shape 6"/>
          <p:cNvSpPr/>
          <p:nvPr/>
        </p:nvSpPr>
        <p:spPr>
          <a:xfrm>
            <a:off x="1066800" y="4474865"/>
            <a:ext cx="7810500" cy="9525"/>
          </a:xfrm>
          <a:prstGeom prst="rect">
            <a:avLst/>
          </a:prstGeom>
          <a:solidFill>
            <a:srgbClr val="1D1F20">
              <a:alpha val="12000"/>
            </a:srgbClr>
          </a:solidFill>
          <a:ln/>
        </p:spPr>
      </p:sp>
      <p:sp>
        <p:nvSpPr>
          <p:cNvPr id="9" name="Text 7"/>
          <p:cNvSpPr/>
          <p:nvPr/>
        </p:nvSpPr>
        <p:spPr>
          <a:xfrm>
            <a:off x="1066800" y="3521174"/>
            <a:ext cx="1885950" cy="469900"/>
          </a:xfrm>
          <a:prstGeom prst="rect">
            <a:avLst/>
          </a:prstGeom>
          <a:noFill/>
          <a:ln/>
        </p:spPr>
        <p:txBody>
          <a:bodyPr wrap="square" lIns="25400" tIns="25400" rIns="25400" bIns="25400" rtlCol="0" anchor="t">
            <a:normAutofit/>
          </a:bodyPr>
          <a:lstStyle/>
          <a:p>
            <a:pPr algn="l" indent="0" marL="0">
              <a:buNone/>
            </a:pPr>
            <a:r>
              <a:rPr lang="en-US" sz="2850" dirty="0">
                <a:solidFill>
                  <a:srgbClr val="416180"/>
                </a:solidFill>
                <a:latin typeface="Arial" pitchFamily="34" charset="0"/>
                <a:ea typeface="Arial" pitchFamily="34" charset="-122"/>
                <a:cs typeface="Arial" pitchFamily="34" charset="-120"/>
              </a:rPr>
              <a:t>dwh</a:t>
            </a:r>
            <a:endParaRPr lang="en-US" sz="2850" dirty="0"/>
          </a:p>
        </p:txBody>
      </p:sp>
      <p:sp>
        <p:nvSpPr>
          <p:cNvPr id="10" name="Text 8"/>
          <p:cNvSpPr/>
          <p:nvPr/>
        </p:nvSpPr>
        <p:spPr>
          <a:xfrm>
            <a:off x="2971800" y="3616424"/>
            <a:ext cx="6082665" cy="74414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Schéma en étoile : la table de faits </a:t>
            </a:r>
            <a:pPr algn="l" indent="0" marL="0">
              <a:lnSpc>
                <a:spcPct val="124091"/>
              </a:lnSpc>
              <a:buNone/>
            </a:pPr>
            <a:r>
              <a:rPr lang="en-US" sz="1950" i="1" dirty="0">
                <a:solidFill>
                  <a:srgbClr val="1D1F20"/>
                </a:solidFill>
                <a:latin typeface="Arial" pitchFamily="34" charset="0"/>
                <a:ea typeface="Arial" pitchFamily="34" charset="-122"/>
                <a:cs typeface="Arial" pitchFamily="34" charset="-120"/>
              </a:rPr>
              <a:t>fact_transactions </a:t>
            </a:r>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entourée des dimensions client, temps, canal, agence.</a:t>
            </a:r>
            <a:endParaRPr lang="en-US" sz="1950" dirty="0"/>
          </a:p>
        </p:txBody>
      </p:sp>
      <p:sp>
        <p:nvSpPr>
          <p:cNvPr id="11" name="Shape 9"/>
          <p:cNvSpPr/>
          <p:nvPr/>
        </p:nvSpPr>
        <p:spPr>
          <a:xfrm>
            <a:off x="1066800" y="5593655"/>
            <a:ext cx="7810500" cy="9525"/>
          </a:xfrm>
          <a:prstGeom prst="rect">
            <a:avLst/>
          </a:prstGeom>
          <a:solidFill>
            <a:srgbClr val="1D1F20">
              <a:alpha val="12000"/>
            </a:srgbClr>
          </a:solidFill>
          <a:ln/>
        </p:spPr>
      </p:sp>
      <p:sp>
        <p:nvSpPr>
          <p:cNvPr id="12" name="Text 10"/>
          <p:cNvSpPr/>
          <p:nvPr/>
        </p:nvSpPr>
        <p:spPr>
          <a:xfrm>
            <a:off x="1066800" y="4652665"/>
            <a:ext cx="1885950" cy="469900"/>
          </a:xfrm>
          <a:prstGeom prst="rect">
            <a:avLst/>
          </a:prstGeom>
          <a:noFill/>
          <a:ln/>
        </p:spPr>
        <p:txBody>
          <a:bodyPr wrap="square" lIns="25400" tIns="25400" rIns="25400" bIns="25400" rtlCol="0" anchor="t">
            <a:normAutofit/>
          </a:bodyPr>
          <a:lstStyle/>
          <a:p>
            <a:pPr algn="l" indent="0" marL="0">
              <a:buNone/>
            </a:pPr>
            <a:r>
              <a:rPr lang="en-US" sz="2850" dirty="0">
                <a:solidFill>
                  <a:srgbClr val="416180"/>
                </a:solidFill>
                <a:latin typeface="Arial" pitchFamily="34" charset="0"/>
                <a:ea typeface="Arial" pitchFamily="34" charset="-122"/>
                <a:cs typeface="Arial" pitchFamily="34" charset="-120"/>
              </a:rPr>
              <a:t>mart</a:t>
            </a:r>
            <a:endParaRPr lang="en-US" sz="2850" dirty="0"/>
          </a:p>
        </p:txBody>
      </p:sp>
      <p:sp>
        <p:nvSpPr>
          <p:cNvPr id="13" name="Text 11"/>
          <p:cNvSpPr/>
          <p:nvPr/>
        </p:nvSpPr>
        <p:spPr>
          <a:xfrm>
            <a:off x="2971800" y="4747915"/>
            <a:ext cx="6082665" cy="73144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Vues de restitution — le contrat d'interface stable que consomment les blocs BC02 à BC06.</a:t>
            </a:r>
            <a:endParaRPr lang="en-US" sz="1950" dirty="0"/>
          </a:p>
        </p:txBody>
      </p:sp>
      <p:sp>
        <p:nvSpPr>
          <p:cNvPr id="14" name="Text 12"/>
          <p:cNvSpPr/>
          <p:nvPr/>
        </p:nvSpPr>
        <p:spPr>
          <a:xfrm>
            <a:off x="1066800" y="5771456"/>
            <a:ext cx="1885950" cy="469900"/>
          </a:xfrm>
          <a:prstGeom prst="rect">
            <a:avLst/>
          </a:prstGeom>
          <a:noFill/>
          <a:ln/>
        </p:spPr>
        <p:txBody>
          <a:bodyPr wrap="square" lIns="25400" tIns="25400" rIns="25400" bIns="25400" rtlCol="0" anchor="t">
            <a:normAutofit/>
          </a:bodyPr>
          <a:lstStyle/>
          <a:p>
            <a:pPr algn="l" indent="0" marL="0">
              <a:buNone/>
            </a:pPr>
            <a:r>
              <a:rPr lang="en-US" sz="2850" dirty="0">
                <a:solidFill>
                  <a:srgbClr val="416180"/>
                </a:solidFill>
                <a:latin typeface="Arial" pitchFamily="34" charset="0"/>
                <a:ea typeface="Arial" pitchFamily="34" charset="-122"/>
                <a:cs typeface="Arial" pitchFamily="34" charset="-120"/>
              </a:rPr>
              <a:t>ops</a:t>
            </a:r>
            <a:endParaRPr lang="en-US" sz="2850" dirty="0"/>
          </a:p>
        </p:txBody>
      </p:sp>
      <p:sp>
        <p:nvSpPr>
          <p:cNvPr id="15" name="Text 13"/>
          <p:cNvSpPr/>
          <p:nvPr/>
        </p:nvSpPr>
        <p:spPr>
          <a:xfrm>
            <a:off x="2971800" y="5866706"/>
            <a:ext cx="6082665" cy="73144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Journal des chargements et des contrôles qualité. Transversal, jamais sur le chemin critique.</a:t>
            </a:r>
            <a:endParaRPr lang="en-US" sz="1950" dirty="0"/>
          </a:p>
        </p:txBody>
      </p:sp>
      <p:sp>
        <p:nvSpPr>
          <p:cNvPr id="16" name="Text 14"/>
          <p:cNvSpPr/>
          <p:nvPr/>
        </p:nvSpPr>
        <p:spPr>
          <a:xfrm>
            <a:off x="1066800" y="6883896"/>
            <a:ext cx="8044815" cy="1169392"/>
          </a:xfrm>
          <a:prstGeom prst="rect">
            <a:avLst/>
          </a:prstGeom>
          <a:noFill/>
          <a:ln/>
        </p:spPr>
        <p:txBody>
          <a:bodyPr wrap="square" lIns="25400" tIns="25400" rIns="25400" bIns="25400" rtlCol="0" anchor="t">
            <a:normAutofit/>
          </a:bodyPr>
          <a:lstStyle/>
          <a:p>
            <a:pPr algn="l" indent="0" marL="0">
              <a:lnSpc>
                <a:spcPct val="124947"/>
              </a:lnSpc>
              <a:buNone/>
            </a:pPr>
            <a:r>
              <a:rPr lang="en-US" sz="2025" dirty="0">
                <a:solidFill>
                  <a:srgbClr val="5D5D60"/>
                </a:solidFill>
                <a:latin typeface="Arial" pitchFamily="34" charset="0"/>
                <a:ea typeface="Arial" pitchFamily="34" charset="-122"/>
                <a:cs typeface="Arial" pitchFamily="34" charset="-120"/>
              </a:rPr>
              <a:t>Données entièrement synthétiques, générées par </a:t>
            </a:r>
            <a:pPr algn="l" indent="0" marL="0">
              <a:lnSpc>
                <a:spcPct val="124947"/>
              </a:lnSpc>
              <a:buNone/>
            </a:pPr>
            <a:r>
              <a:rPr lang="en-US" sz="2025" i="1" dirty="0">
                <a:solidFill>
                  <a:srgbClr val="5D5D60"/>
                </a:solidFill>
                <a:latin typeface="Arial" pitchFamily="34" charset="0"/>
                <a:ea typeface="Arial" pitchFamily="34" charset="-122"/>
                <a:cs typeface="Arial" pitchFamily="34" charset="-120"/>
              </a:rPr>
              <a:t>seed.py </a:t>
            </a:r>
            <a:pPr algn="l" indent="0" marL="0">
              <a:lnSpc>
                <a:spcPct val="124947"/>
              </a:lnSpc>
              <a:buNone/>
            </a:pPr>
            <a:r>
              <a:rPr lang="en-US" sz="2025" dirty="0">
                <a:solidFill>
                  <a:srgbClr val="5D5D60"/>
                </a:solidFill>
                <a:latin typeface="Arial" pitchFamily="34" charset="0"/>
                <a:ea typeface="Arial" pitchFamily="34" charset="-122"/>
                <a:cs typeface="Arial" pitchFamily="34" charset="-120"/>
              </a:rPr>
              <a:t>: les jeux publics usuels réduisent les variables à des composantes PCA anonymes, incompatibles avec un schéma porteur de sens métier.</a:t>
            </a:r>
            <a:endParaRPr lang="en-US" sz="2025" dirty="0"/>
          </a:p>
        </p:txBody>
      </p:sp>
      <p:sp>
        <p:nvSpPr>
          <p:cNvPr id="17" name="Shape 15"/>
          <p:cNvSpPr/>
          <p:nvPr/>
        </p:nvSpPr>
        <p:spPr>
          <a:xfrm>
            <a:off x="9410700" y="2402384"/>
            <a:ext cx="7810500" cy="7198816"/>
          </a:xfrm>
          <a:prstGeom prst="rect">
            <a:avLst/>
          </a:prstGeom>
          <a:ln w="6350">
            <a:solidFill>
              <a:srgbClr val="1D1F20">
                <a:alpha val="16000"/>
              </a:srgbClr>
            </a:solidFill>
            <a:prstDash val="solid"/>
          </a:ln>
        </p:spPr>
      </p:sp>
      <p:sp>
        <p:nvSpPr>
          <p:cNvPr id="18" name="Shape 16"/>
          <p:cNvSpPr/>
          <p:nvPr/>
        </p:nvSpPr>
        <p:spPr>
          <a:xfrm>
            <a:off x="9359900" y="23515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9" name="Shape 17"/>
          <p:cNvSpPr/>
          <p:nvPr/>
        </p:nvSpPr>
        <p:spPr>
          <a:xfrm>
            <a:off x="17167225" y="23515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0" name="Shape 18"/>
          <p:cNvSpPr/>
          <p:nvPr/>
        </p:nvSpPr>
        <p:spPr>
          <a:xfrm>
            <a:off x="9359900" y="9547225"/>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1" name="Shape 19"/>
          <p:cNvSpPr/>
          <p:nvPr/>
        </p:nvSpPr>
        <p:spPr>
          <a:xfrm>
            <a:off x="17167225" y="9547225"/>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2" name="Text 20"/>
          <p:cNvSpPr/>
          <p:nvPr/>
        </p:nvSpPr>
        <p:spPr>
          <a:xfrm>
            <a:off x="9779001" y="3023592"/>
            <a:ext cx="7781290"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LE FLUX</a:t>
            </a:r>
            <a:endParaRPr lang="en-US" sz="1800" dirty="0"/>
          </a:p>
        </p:txBody>
      </p:sp>
      <p:sp>
        <p:nvSpPr>
          <p:cNvPr id="23" name="Shape 21"/>
          <p:cNvSpPr/>
          <p:nvPr/>
        </p:nvSpPr>
        <p:spPr>
          <a:xfrm>
            <a:off x="9779001" y="3487142"/>
            <a:ext cx="3460750" cy="577850"/>
          </a:xfrm>
          <a:prstGeom prst="rect">
            <a:avLst/>
          </a:prstGeom>
          <a:ln w="6350">
            <a:solidFill>
              <a:srgbClr val="1D1F20">
                <a:alpha val="16000"/>
              </a:srgbClr>
            </a:solidFill>
            <a:prstDash val="solid"/>
          </a:ln>
        </p:spPr>
      </p:sp>
      <p:sp>
        <p:nvSpPr>
          <p:cNvPr id="24" name="Text 22"/>
          <p:cNvSpPr/>
          <p:nvPr/>
        </p:nvSpPr>
        <p:spPr>
          <a:xfrm>
            <a:off x="9866790" y="3626842"/>
            <a:ext cx="3285173" cy="336550"/>
          </a:xfrm>
          <a:prstGeom prst="rect">
            <a:avLst/>
          </a:prstGeom>
          <a:noFill/>
          <a:ln/>
        </p:spPr>
        <p:txBody>
          <a:bodyPr wrap="square" lIns="25400" tIns="25400" rIns="25400" bIns="25400" rtlCol="0" anchor="t">
            <a:normAutofit/>
          </a:bodyPr>
          <a:lstStyle/>
          <a:p>
            <a:pPr algn="ctr" indent="0" marL="0">
              <a:buNone/>
            </a:pPr>
            <a:r>
              <a:rPr lang="en-US" sz="1950" dirty="0">
                <a:solidFill>
                  <a:srgbClr val="1D1F20"/>
                </a:solidFill>
                <a:latin typeface="Arial" pitchFamily="34" charset="0"/>
                <a:ea typeface="Arial" pitchFamily="34" charset="-122"/>
                <a:cs typeface="Arial" pitchFamily="34" charset="-120"/>
              </a:rPr>
              <a:t>seed.py — batch</a:t>
            </a:r>
            <a:endParaRPr lang="en-US" sz="1950" dirty="0"/>
          </a:p>
        </p:txBody>
      </p:sp>
      <p:sp>
        <p:nvSpPr>
          <p:cNvPr id="25" name="Shape 23"/>
          <p:cNvSpPr/>
          <p:nvPr/>
        </p:nvSpPr>
        <p:spPr>
          <a:xfrm>
            <a:off x="13392150" y="3487142"/>
            <a:ext cx="3460750" cy="577850"/>
          </a:xfrm>
          <a:prstGeom prst="rect">
            <a:avLst/>
          </a:prstGeom>
          <a:ln w="6350">
            <a:solidFill>
              <a:srgbClr val="1D1F20">
                <a:alpha val="16000"/>
              </a:srgbClr>
            </a:solidFill>
            <a:prstDash val="solid"/>
          </a:ln>
        </p:spPr>
      </p:sp>
      <p:sp>
        <p:nvSpPr>
          <p:cNvPr id="26" name="Text 24"/>
          <p:cNvSpPr/>
          <p:nvPr/>
        </p:nvSpPr>
        <p:spPr>
          <a:xfrm>
            <a:off x="13479939" y="3626842"/>
            <a:ext cx="3285173" cy="336550"/>
          </a:xfrm>
          <a:prstGeom prst="rect">
            <a:avLst/>
          </a:prstGeom>
          <a:noFill/>
          <a:ln/>
        </p:spPr>
        <p:txBody>
          <a:bodyPr wrap="square" lIns="25400" tIns="25400" rIns="25400" bIns="25400" rtlCol="0" anchor="t">
            <a:normAutofit/>
          </a:bodyPr>
          <a:lstStyle/>
          <a:p>
            <a:pPr algn="ctr" indent="0" marL="0">
              <a:buNone/>
            </a:pPr>
            <a:r>
              <a:rPr lang="en-US" sz="1950" dirty="0">
                <a:solidFill>
                  <a:srgbClr val="1D1F20"/>
                </a:solidFill>
                <a:latin typeface="Arial" pitchFamily="34" charset="0"/>
                <a:ea typeface="Arial" pitchFamily="34" charset="-122"/>
                <a:cs typeface="Arial" pitchFamily="34" charset="-120"/>
              </a:rPr>
              <a:t>producer / consumer Kafka</a:t>
            </a:r>
            <a:endParaRPr lang="en-US" sz="1950" dirty="0"/>
          </a:p>
        </p:txBody>
      </p:sp>
      <p:sp>
        <p:nvSpPr>
          <p:cNvPr id="27" name="Text 25"/>
          <p:cNvSpPr/>
          <p:nvPr/>
        </p:nvSpPr>
        <p:spPr>
          <a:xfrm>
            <a:off x="9425306" y="4255492"/>
            <a:ext cx="7781290" cy="419100"/>
          </a:xfrm>
          <a:prstGeom prst="rect">
            <a:avLst/>
          </a:prstGeom>
          <a:noFill/>
          <a:ln/>
        </p:spPr>
        <p:txBody>
          <a:bodyPr wrap="square" lIns="25400" tIns="25400" rIns="25400" bIns="25400" rtlCol="0" anchor="t">
            <a:normAutofit/>
          </a:bodyPr>
          <a:lstStyle/>
          <a:p>
            <a:pPr algn="ctr" indent="0" marL="0">
              <a:buNone/>
            </a:pPr>
            <a:r>
              <a:rPr lang="en-US" sz="2250" dirty="0">
                <a:solidFill>
                  <a:srgbClr val="416180"/>
                </a:solidFill>
                <a:latin typeface="Arial" pitchFamily="34" charset="0"/>
                <a:ea typeface="Arial" pitchFamily="34" charset="-122"/>
                <a:cs typeface="Arial" pitchFamily="34" charset="-120"/>
              </a:rPr>
              <a:t>↓</a:t>
            </a:r>
            <a:endParaRPr lang="en-US" sz="2250" dirty="0"/>
          </a:p>
        </p:txBody>
      </p:sp>
      <p:sp>
        <p:nvSpPr>
          <p:cNvPr id="28" name="Shape 26"/>
          <p:cNvSpPr/>
          <p:nvPr/>
        </p:nvSpPr>
        <p:spPr>
          <a:xfrm>
            <a:off x="9779001" y="4826992"/>
            <a:ext cx="7073900" cy="577850"/>
          </a:xfrm>
          <a:prstGeom prst="rect">
            <a:avLst/>
          </a:prstGeom>
          <a:ln w="6350">
            <a:solidFill>
              <a:srgbClr val="1D1F20">
                <a:alpha val="16000"/>
              </a:srgbClr>
            </a:solidFill>
            <a:prstDash val="solid"/>
          </a:ln>
        </p:spPr>
      </p:sp>
      <p:sp>
        <p:nvSpPr>
          <p:cNvPr id="29" name="Text 27"/>
          <p:cNvSpPr/>
          <p:nvPr/>
        </p:nvSpPr>
        <p:spPr>
          <a:xfrm>
            <a:off x="9812592" y="4966692"/>
            <a:ext cx="7006717" cy="336550"/>
          </a:xfrm>
          <a:prstGeom prst="rect">
            <a:avLst/>
          </a:prstGeom>
          <a:noFill/>
          <a:ln/>
        </p:spPr>
        <p:txBody>
          <a:bodyPr wrap="square" lIns="25400" tIns="25400" rIns="25400" bIns="25400" rtlCol="0" anchor="t">
            <a:normAutofit/>
          </a:bodyPr>
          <a:lstStyle/>
          <a:p>
            <a:pPr algn="ctr" indent="0" marL="0">
              <a:buNone/>
            </a:pPr>
            <a:r>
              <a:rPr lang="en-US" sz="1950" dirty="0">
                <a:solidFill>
                  <a:srgbClr val="1D1F20"/>
                </a:solidFill>
                <a:latin typeface="Arial" pitchFamily="34" charset="0"/>
                <a:ea typeface="Arial" pitchFamily="34" charset="-122"/>
                <a:cs typeface="Arial" pitchFamily="34" charset="-120"/>
              </a:rPr>
              <a:t>staging.raw_transactions</a:t>
            </a:r>
            <a:endParaRPr lang="en-US" sz="1950" dirty="0"/>
          </a:p>
        </p:txBody>
      </p:sp>
      <p:sp>
        <p:nvSpPr>
          <p:cNvPr id="30" name="Text 28"/>
          <p:cNvSpPr/>
          <p:nvPr/>
        </p:nvSpPr>
        <p:spPr>
          <a:xfrm>
            <a:off x="9425306" y="5595342"/>
            <a:ext cx="7781290" cy="419100"/>
          </a:xfrm>
          <a:prstGeom prst="rect">
            <a:avLst/>
          </a:prstGeom>
          <a:noFill/>
          <a:ln/>
        </p:spPr>
        <p:txBody>
          <a:bodyPr wrap="square" lIns="25400" tIns="25400" rIns="25400" bIns="25400" rtlCol="0" anchor="t">
            <a:normAutofit/>
          </a:bodyPr>
          <a:lstStyle/>
          <a:p>
            <a:pPr algn="ctr" indent="0" marL="0">
              <a:buNone/>
            </a:pPr>
            <a:r>
              <a:rPr lang="en-US" sz="2250" dirty="0">
                <a:solidFill>
                  <a:srgbClr val="416180"/>
                </a:solidFill>
                <a:latin typeface="Arial" pitchFamily="34" charset="0"/>
                <a:ea typeface="Arial" pitchFamily="34" charset="-122"/>
                <a:cs typeface="Arial" pitchFamily="34" charset="-120"/>
              </a:rPr>
              <a:t>↓</a:t>
            </a:r>
            <a:endParaRPr lang="en-US" sz="2250" dirty="0"/>
          </a:p>
        </p:txBody>
      </p:sp>
      <p:sp>
        <p:nvSpPr>
          <p:cNvPr id="31" name="Shape 29"/>
          <p:cNvSpPr/>
          <p:nvPr/>
        </p:nvSpPr>
        <p:spPr>
          <a:xfrm>
            <a:off x="9779001" y="6166842"/>
            <a:ext cx="7073900" cy="977900"/>
          </a:xfrm>
          <a:prstGeom prst="rect">
            <a:avLst/>
          </a:prstGeom>
          <a:solidFill>
            <a:srgbClr val="1D2D3D"/>
          </a:solidFill>
          <a:ln/>
        </p:spPr>
      </p:sp>
      <p:sp>
        <p:nvSpPr>
          <p:cNvPr id="32" name="Text 30"/>
          <p:cNvSpPr/>
          <p:nvPr/>
        </p:nvSpPr>
        <p:spPr>
          <a:xfrm>
            <a:off x="9844342" y="6338292"/>
            <a:ext cx="6943217" cy="673100"/>
          </a:xfrm>
          <a:prstGeom prst="rect">
            <a:avLst/>
          </a:prstGeom>
          <a:noFill/>
          <a:ln/>
        </p:spPr>
        <p:txBody>
          <a:bodyPr wrap="square" lIns="25400" tIns="25400" rIns="25400" bIns="25400" rtlCol="0" anchor="t">
            <a:normAutofit/>
          </a:bodyPr>
          <a:lstStyle/>
          <a:p>
            <a:pPr algn="ctr" indent="0" marL="0">
              <a:buNone/>
            </a:pPr>
            <a:r>
              <a:rPr lang="en-US" sz="2100" spc="42" kern="0" dirty="0">
                <a:solidFill>
                  <a:srgbClr val="F2F2F3"/>
                </a:solidFill>
                <a:highlight>
                  <a:srgbClr val="1D2D3D"/>
                </a:highlight>
                <a:latin typeface="Arial" pitchFamily="34" charset="0"/>
                <a:ea typeface="Arial" pitchFamily="34" charset="-122"/>
                <a:cs typeface="Arial" pitchFamily="34" charset="-120"/>
              </a:rPr>
              <a:t>dwh.charger_faits_transactions() </a:t>
            </a:r>
            <a:pPr algn="ctr" indent="0" marL="0">
              <a:buNone/>
            </a:pPr>
            <a:r>
              <a:rPr lang="en-US" sz="1800" spc="42" kern="0" dirty="0">
                <a:solidFill>
                  <a:srgbClr val="94BCE3"/>
                </a:solidFill>
                <a:latin typeface="Arial" pitchFamily="34" charset="0"/>
                <a:ea typeface="Arial" pitchFamily="34" charset="-122"/>
                <a:cs typeface="Arial" pitchFamily="34" charset="-120"/>
              </a:rPr>
              <a:t>fonction SQL unique — batch et flux passent par elle</a:t>
            </a:r>
            <a:endParaRPr lang="en-US" sz="2100" dirty="0"/>
          </a:p>
        </p:txBody>
      </p:sp>
      <p:sp>
        <p:nvSpPr>
          <p:cNvPr id="33" name="Text 31"/>
          <p:cNvSpPr/>
          <p:nvPr/>
        </p:nvSpPr>
        <p:spPr>
          <a:xfrm>
            <a:off x="9425306" y="7335242"/>
            <a:ext cx="7781290" cy="419100"/>
          </a:xfrm>
          <a:prstGeom prst="rect">
            <a:avLst/>
          </a:prstGeom>
          <a:noFill/>
          <a:ln/>
        </p:spPr>
        <p:txBody>
          <a:bodyPr wrap="square" lIns="25400" tIns="25400" rIns="25400" bIns="25400" rtlCol="0" anchor="t">
            <a:normAutofit/>
          </a:bodyPr>
          <a:lstStyle/>
          <a:p>
            <a:pPr algn="ctr" indent="0" marL="0">
              <a:buNone/>
            </a:pPr>
            <a:r>
              <a:rPr lang="en-US" sz="2250" dirty="0">
                <a:solidFill>
                  <a:srgbClr val="416180"/>
                </a:solidFill>
                <a:latin typeface="Arial" pitchFamily="34" charset="0"/>
                <a:ea typeface="Arial" pitchFamily="34" charset="-122"/>
                <a:cs typeface="Arial" pitchFamily="34" charset="-120"/>
              </a:rPr>
              <a:t>↓</a:t>
            </a:r>
            <a:endParaRPr lang="en-US" sz="2250" dirty="0"/>
          </a:p>
        </p:txBody>
      </p:sp>
      <p:sp>
        <p:nvSpPr>
          <p:cNvPr id="34" name="Shape 32"/>
          <p:cNvSpPr/>
          <p:nvPr/>
        </p:nvSpPr>
        <p:spPr>
          <a:xfrm>
            <a:off x="9779001" y="7906742"/>
            <a:ext cx="7073900" cy="609600"/>
          </a:xfrm>
          <a:prstGeom prst="rect">
            <a:avLst/>
          </a:prstGeom>
          <a:ln w="6350">
            <a:solidFill>
              <a:srgbClr val="1D1F20">
                <a:alpha val="16000"/>
              </a:srgbClr>
            </a:solidFill>
            <a:prstDash val="solid"/>
          </a:ln>
        </p:spPr>
      </p:sp>
      <p:sp>
        <p:nvSpPr>
          <p:cNvPr id="35" name="Text 33"/>
          <p:cNvSpPr/>
          <p:nvPr/>
        </p:nvSpPr>
        <p:spPr>
          <a:xfrm>
            <a:off x="9812592" y="8046442"/>
            <a:ext cx="7006717" cy="368300"/>
          </a:xfrm>
          <a:prstGeom prst="rect">
            <a:avLst/>
          </a:prstGeom>
          <a:noFill/>
          <a:ln/>
        </p:spPr>
        <p:txBody>
          <a:bodyPr wrap="square" lIns="25400" tIns="25400" rIns="25400" bIns="25400" rtlCol="0" anchor="t">
            <a:normAutofit/>
          </a:bodyPr>
          <a:lstStyle/>
          <a:p>
            <a:pPr algn="ctr" indent="0" marL="0">
              <a:buNone/>
            </a:pPr>
            <a:r>
              <a:rPr lang="en-US" sz="1950" dirty="0">
                <a:solidFill>
                  <a:srgbClr val="1D1F20"/>
                </a:solidFill>
                <a:latin typeface="Arial" pitchFamily="34" charset="0"/>
                <a:ea typeface="Arial" pitchFamily="34" charset="-122"/>
                <a:cs typeface="Arial" pitchFamily="34" charset="-120"/>
              </a:rPr>
              <a:t>dwh.fact_transactions → mart.v_*</a:t>
            </a:r>
            <a:endParaRPr lang="en-US" sz="1950" dirty="0"/>
          </a:p>
        </p:txBody>
      </p:sp>
      <p:sp>
        <p:nvSpPr>
          <p:cNvPr id="36" name="Text 34"/>
          <p:cNvSpPr/>
          <p:nvPr/>
        </p:nvSpPr>
        <p:spPr>
          <a:xfrm>
            <a:off x="9425306" y="8706842"/>
            <a:ext cx="7781290" cy="311150"/>
          </a:xfrm>
          <a:prstGeom prst="rect">
            <a:avLst/>
          </a:prstGeom>
          <a:noFill/>
          <a:ln/>
        </p:spPr>
        <p:txBody>
          <a:bodyPr wrap="square" lIns="25400" tIns="25400" rIns="25400" bIns="25400" rtlCol="0" anchor="t">
            <a:normAutofit/>
          </a:bodyPr>
          <a:lstStyle/>
          <a:p>
            <a:pPr algn="ctr" indent="0" marL="0">
              <a:buNone/>
            </a:pPr>
            <a:r>
              <a:rPr lang="en-US" sz="1800" dirty="0">
                <a:solidFill>
                  <a:srgbClr val="5D5D60"/>
                </a:solidFill>
                <a:latin typeface="Arial" pitchFamily="34" charset="0"/>
                <a:ea typeface="Arial" pitchFamily="34" charset="-122"/>
                <a:cs typeface="Arial" pitchFamily="34" charset="-120"/>
              </a:rPr>
              <a:t>ops.* observe l'ensemble du flux</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3138775"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BC01 · SOCLE DE DONNÉES</a:t>
            </a:r>
            <a:endParaRPr lang="en-US" sz="1800" dirty="0"/>
          </a:p>
        </p:txBody>
      </p:sp>
      <p:sp>
        <p:nvSpPr>
          <p:cNvPr id="3" name="Text 1"/>
          <p:cNvSpPr/>
          <p:nvPr/>
        </p:nvSpPr>
        <p:spPr>
          <a:xfrm>
            <a:off x="16170473" y="685800"/>
            <a:ext cx="1126927"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FIABILITÉ</a:t>
            </a:r>
            <a:endParaRPr lang="en-US" sz="1800" dirty="0"/>
          </a:p>
        </p:txBody>
      </p:sp>
      <p:sp>
        <p:nvSpPr>
          <p:cNvPr id="4" name="Text 2"/>
          <p:cNvSpPr/>
          <p:nvPr/>
        </p:nvSpPr>
        <p:spPr>
          <a:xfrm>
            <a:off x="1066800" y="130175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Ce qui garantit qu'aucune donnée n'est perdue ni dupliquée</a:t>
            </a:r>
            <a:endParaRPr lang="en-US" sz="5850" dirty="0"/>
          </a:p>
        </p:txBody>
      </p:sp>
      <p:sp>
        <p:nvSpPr>
          <p:cNvPr id="5" name="Shape 3"/>
          <p:cNvSpPr/>
          <p:nvPr/>
        </p:nvSpPr>
        <p:spPr>
          <a:xfrm>
            <a:off x="1066800" y="3605709"/>
            <a:ext cx="8829179" cy="9525"/>
          </a:xfrm>
          <a:prstGeom prst="rect">
            <a:avLst/>
          </a:prstGeom>
          <a:solidFill>
            <a:srgbClr val="1D1F20">
              <a:alpha val="12000"/>
            </a:srgbClr>
          </a:solidFill>
          <a:ln/>
        </p:spPr>
      </p:sp>
      <p:sp>
        <p:nvSpPr>
          <p:cNvPr id="6" name="Text 4"/>
          <p:cNvSpPr/>
          <p:nvPr/>
        </p:nvSpPr>
        <p:spPr>
          <a:xfrm>
            <a:off x="1066800" y="2402384"/>
            <a:ext cx="3981450" cy="406400"/>
          </a:xfrm>
          <a:prstGeom prst="rect">
            <a:avLst/>
          </a:prstGeom>
          <a:noFill/>
          <a:ln/>
        </p:spPr>
        <p:txBody>
          <a:bodyPr wrap="square" lIns="25400" tIns="25400" rIns="25400" bIns="25400" rtlCol="0" anchor="t">
            <a:normAutofit/>
          </a:bodyPr>
          <a:lstStyle/>
          <a:p>
            <a:pPr algn="l" indent="0" marL="0">
              <a:buNone/>
            </a:pPr>
            <a:r>
              <a:rPr lang="en-US" sz="2400" dirty="0">
                <a:solidFill>
                  <a:srgbClr val="1D1F20"/>
                </a:solidFill>
                <a:latin typeface="Arial" pitchFamily="34" charset="0"/>
                <a:ea typeface="Arial" pitchFamily="34" charset="-122"/>
                <a:cs typeface="Arial" pitchFamily="34" charset="-120"/>
              </a:rPr>
              <a:t>Rejouer sans dupliquer</a:t>
            </a:r>
            <a:endParaRPr lang="en-US" sz="2400" dirty="0"/>
          </a:p>
        </p:txBody>
      </p:sp>
      <p:sp>
        <p:nvSpPr>
          <p:cNvPr id="7" name="Text 5"/>
          <p:cNvSpPr/>
          <p:nvPr/>
        </p:nvSpPr>
        <p:spPr>
          <a:xfrm>
            <a:off x="4914900" y="2446834"/>
            <a:ext cx="5130511" cy="106362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5D5D60"/>
                </a:solidFill>
                <a:latin typeface="Arial" pitchFamily="34" charset="0"/>
                <a:ea typeface="Arial" pitchFamily="34" charset="-122"/>
                <a:cs typeface="Arial" pitchFamily="34" charset="-120"/>
              </a:rPr>
              <a:t>Clé métier déterministe + </a:t>
            </a:r>
            <a:pPr algn="l" indent="0" marL="0">
              <a:lnSpc>
                <a:spcPct val="122093"/>
              </a:lnSpc>
              <a:buNone/>
            </a:pPr>
            <a:r>
              <a:rPr lang="en-US" sz="1875" i="1" dirty="0">
                <a:solidFill>
                  <a:srgbClr val="5D5D60"/>
                </a:solidFill>
                <a:latin typeface="Arial" pitchFamily="34" charset="0"/>
                <a:ea typeface="Arial" pitchFamily="34" charset="-122"/>
                <a:cs typeface="Arial" pitchFamily="34" charset="-120"/>
              </a:rPr>
              <a:t>ON CONFLICT DO NOTHING </a:t>
            </a:r>
            <a:pPr algn="l" indent="0" marL="0">
              <a:lnSpc>
                <a:spcPct val="122093"/>
              </a:lnSpc>
              <a:buNone/>
            </a:pPr>
            <a:r>
              <a:rPr lang="en-US" sz="1875" dirty="0">
                <a:solidFill>
                  <a:srgbClr val="5D5D60"/>
                </a:solidFill>
                <a:latin typeface="Arial" pitchFamily="34" charset="0"/>
                <a:ea typeface="Arial" pitchFamily="34" charset="-122"/>
                <a:cs typeface="Arial" pitchFamily="34" charset="-120"/>
              </a:rPr>
              <a:t>: relancer un chargement n'insère rien deux fois.</a:t>
            </a:r>
            <a:endParaRPr lang="en-US" sz="1875" dirty="0"/>
          </a:p>
        </p:txBody>
      </p:sp>
      <p:sp>
        <p:nvSpPr>
          <p:cNvPr id="8" name="Shape 6"/>
          <p:cNvSpPr/>
          <p:nvPr/>
        </p:nvSpPr>
        <p:spPr>
          <a:xfrm>
            <a:off x="1066800" y="4621709"/>
            <a:ext cx="8829179" cy="9525"/>
          </a:xfrm>
          <a:prstGeom prst="rect">
            <a:avLst/>
          </a:prstGeom>
          <a:solidFill>
            <a:srgbClr val="1D1F20">
              <a:alpha val="12000"/>
            </a:srgbClr>
          </a:solidFill>
          <a:ln/>
        </p:spPr>
      </p:sp>
      <p:sp>
        <p:nvSpPr>
          <p:cNvPr id="9" name="Text 7"/>
          <p:cNvSpPr/>
          <p:nvPr/>
        </p:nvSpPr>
        <p:spPr>
          <a:xfrm>
            <a:off x="1066800" y="3764459"/>
            <a:ext cx="3981450" cy="406400"/>
          </a:xfrm>
          <a:prstGeom prst="rect">
            <a:avLst/>
          </a:prstGeom>
          <a:noFill/>
          <a:ln/>
        </p:spPr>
        <p:txBody>
          <a:bodyPr wrap="square" lIns="25400" tIns="25400" rIns="25400" bIns="25400" rtlCol="0" anchor="t">
            <a:normAutofit/>
          </a:bodyPr>
          <a:lstStyle/>
          <a:p>
            <a:pPr algn="l" indent="0" marL="0">
              <a:buNone/>
            </a:pPr>
            <a:r>
              <a:rPr lang="en-US" sz="2400" dirty="0">
                <a:solidFill>
                  <a:srgbClr val="1D1F20"/>
                </a:solidFill>
                <a:latin typeface="Arial" pitchFamily="34" charset="0"/>
                <a:ea typeface="Arial" pitchFamily="34" charset="-122"/>
                <a:cs typeface="Arial" pitchFamily="34" charset="-120"/>
              </a:rPr>
              <a:t>Aucun message perdu</a:t>
            </a:r>
            <a:endParaRPr lang="en-US" sz="2400" dirty="0"/>
          </a:p>
        </p:txBody>
      </p:sp>
      <p:sp>
        <p:nvSpPr>
          <p:cNvPr id="10" name="Text 8"/>
          <p:cNvSpPr/>
          <p:nvPr/>
        </p:nvSpPr>
        <p:spPr>
          <a:xfrm>
            <a:off x="4914900" y="3808909"/>
            <a:ext cx="5130511" cy="717550"/>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5D5D60"/>
                </a:solidFill>
                <a:latin typeface="Arial" pitchFamily="34" charset="0"/>
                <a:ea typeface="Arial" pitchFamily="34" charset="-122"/>
                <a:cs typeface="Arial" pitchFamily="34" charset="-120"/>
              </a:rPr>
              <a:t>L'offset Kafka n'est validé qu'</a:t>
            </a:r>
            <a:pPr algn="l" indent="0" marL="0">
              <a:lnSpc>
                <a:spcPct val="122093"/>
              </a:lnSpc>
              <a:buNone/>
            </a:pPr>
            <a:r>
              <a:rPr lang="en-US" sz="1875" b="1" dirty="0">
                <a:solidFill>
                  <a:srgbClr val="5D5D60"/>
                </a:solidFill>
                <a:latin typeface="Arial" pitchFamily="34" charset="0"/>
                <a:ea typeface="Arial" pitchFamily="34" charset="-122"/>
                <a:cs typeface="Arial" pitchFamily="34" charset="-120"/>
              </a:rPr>
              <a:t>après </a:t>
            </a:r>
            <a:pPr algn="l" indent="0" marL="0">
              <a:lnSpc>
                <a:spcPct val="122093"/>
              </a:lnSpc>
              <a:buNone/>
            </a:pPr>
            <a:r>
              <a:rPr lang="en-US" sz="1875" dirty="0">
                <a:solidFill>
                  <a:srgbClr val="5D5D60"/>
                </a:solidFill>
                <a:latin typeface="Arial" pitchFamily="34" charset="0"/>
                <a:ea typeface="Arial" pitchFamily="34" charset="-122"/>
                <a:cs typeface="Arial" pitchFamily="34" charset="-120"/>
              </a:rPr>
              <a:t>écriture réussie en base — jamais avant.</a:t>
            </a:r>
            <a:endParaRPr lang="en-US" sz="1875" dirty="0"/>
          </a:p>
        </p:txBody>
      </p:sp>
      <p:sp>
        <p:nvSpPr>
          <p:cNvPr id="11" name="Shape 9"/>
          <p:cNvSpPr/>
          <p:nvPr/>
        </p:nvSpPr>
        <p:spPr>
          <a:xfrm>
            <a:off x="1066800" y="5637709"/>
            <a:ext cx="8829179" cy="9525"/>
          </a:xfrm>
          <a:prstGeom prst="rect">
            <a:avLst/>
          </a:prstGeom>
          <a:solidFill>
            <a:srgbClr val="1D1F20">
              <a:alpha val="12000"/>
            </a:srgbClr>
          </a:solidFill>
          <a:ln/>
        </p:spPr>
      </p:sp>
      <p:sp>
        <p:nvSpPr>
          <p:cNvPr id="12" name="Text 10"/>
          <p:cNvSpPr/>
          <p:nvPr/>
        </p:nvSpPr>
        <p:spPr>
          <a:xfrm>
            <a:off x="1066800" y="4780459"/>
            <a:ext cx="3981450" cy="406400"/>
          </a:xfrm>
          <a:prstGeom prst="rect">
            <a:avLst/>
          </a:prstGeom>
          <a:noFill/>
          <a:ln/>
        </p:spPr>
        <p:txBody>
          <a:bodyPr wrap="square" lIns="25400" tIns="25400" rIns="25400" bIns="25400" rtlCol="0" anchor="t">
            <a:normAutofit/>
          </a:bodyPr>
          <a:lstStyle/>
          <a:p>
            <a:pPr algn="l" indent="0" marL="0">
              <a:buNone/>
            </a:pPr>
            <a:r>
              <a:rPr lang="en-US" sz="2400" dirty="0">
                <a:solidFill>
                  <a:srgbClr val="1D1F20"/>
                </a:solidFill>
                <a:latin typeface="Arial" pitchFamily="34" charset="0"/>
                <a:ea typeface="Arial" pitchFamily="34" charset="-122"/>
                <a:cs typeface="Arial" pitchFamily="34" charset="-120"/>
              </a:rPr>
              <a:t>Doublons du flux</a:t>
            </a:r>
            <a:endParaRPr lang="en-US" sz="2400" dirty="0"/>
          </a:p>
        </p:txBody>
      </p:sp>
      <p:sp>
        <p:nvSpPr>
          <p:cNvPr id="13" name="Text 11"/>
          <p:cNvSpPr/>
          <p:nvPr/>
        </p:nvSpPr>
        <p:spPr>
          <a:xfrm>
            <a:off x="4914900" y="4824909"/>
            <a:ext cx="5130511" cy="717550"/>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5D5D60"/>
                </a:solidFill>
                <a:latin typeface="Arial" pitchFamily="34" charset="0"/>
                <a:ea typeface="Arial" pitchFamily="34" charset="-122"/>
                <a:cs typeface="Arial" pitchFamily="34" charset="-120"/>
              </a:rPr>
              <a:t>Jeu de déduplication Redis (TTL 24 h) + producteur idempotent, </a:t>
            </a:r>
            <a:pPr algn="l" indent="0" marL="0">
              <a:lnSpc>
                <a:spcPct val="122093"/>
              </a:lnSpc>
              <a:buNone/>
            </a:pPr>
            <a:r>
              <a:rPr lang="en-US" sz="1875" i="1" dirty="0">
                <a:solidFill>
                  <a:srgbClr val="5D5D60"/>
                </a:solidFill>
                <a:latin typeface="Arial" pitchFamily="34" charset="0"/>
                <a:ea typeface="Arial" pitchFamily="34" charset="-122"/>
                <a:cs typeface="Arial" pitchFamily="34" charset="-120"/>
              </a:rPr>
              <a:t>acks = all</a:t>
            </a:r>
            <a:pPr algn="l" indent="0" marL="0">
              <a:lnSpc>
                <a:spcPct val="122093"/>
              </a:lnSpc>
              <a:buNone/>
            </a:pPr>
            <a:r>
              <a:rPr lang="en-US" sz="1875" dirty="0">
                <a:solidFill>
                  <a:srgbClr val="5D5D60"/>
                </a:solidFill>
                <a:latin typeface="Arial" pitchFamily="34" charset="0"/>
                <a:ea typeface="Arial" pitchFamily="34" charset="-122"/>
                <a:cs typeface="Arial" pitchFamily="34" charset="-120"/>
              </a:rPr>
              <a:t>.</a:t>
            </a:r>
            <a:endParaRPr lang="en-US" sz="1875" dirty="0"/>
          </a:p>
        </p:txBody>
      </p:sp>
      <p:sp>
        <p:nvSpPr>
          <p:cNvPr id="14" name="Shape 12"/>
          <p:cNvSpPr/>
          <p:nvPr/>
        </p:nvSpPr>
        <p:spPr>
          <a:xfrm>
            <a:off x="1066800" y="6974384"/>
            <a:ext cx="8829179" cy="9525"/>
          </a:xfrm>
          <a:prstGeom prst="rect">
            <a:avLst/>
          </a:prstGeom>
          <a:solidFill>
            <a:srgbClr val="1D1F20">
              <a:alpha val="12000"/>
            </a:srgbClr>
          </a:solidFill>
          <a:ln/>
        </p:spPr>
      </p:sp>
      <p:sp>
        <p:nvSpPr>
          <p:cNvPr id="15" name="Text 13"/>
          <p:cNvSpPr/>
          <p:nvPr/>
        </p:nvSpPr>
        <p:spPr>
          <a:xfrm>
            <a:off x="1066800" y="5796459"/>
            <a:ext cx="3981450" cy="406400"/>
          </a:xfrm>
          <a:prstGeom prst="rect">
            <a:avLst/>
          </a:prstGeom>
          <a:noFill/>
          <a:ln/>
        </p:spPr>
        <p:txBody>
          <a:bodyPr wrap="square" lIns="25400" tIns="25400" rIns="25400" bIns="25400" rtlCol="0" anchor="t">
            <a:normAutofit/>
          </a:bodyPr>
          <a:lstStyle/>
          <a:p>
            <a:pPr algn="l" indent="0" marL="0">
              <a:buNone/>
            </a:pPr>
            <a:r>
              <a:rPr lang="en-US" sz="2400" dirty="0">
                <a:solidFill>
                  <a:srgbClr val="1D1F20"/>
                </a:solidFill>
                <a:latin typeface="Arial" pitchFamily="34" charset="0"/>
                <a:ea typeface="Arial" pitchFamily="34" charset="-122"/>
                <a:cs typeface="Arial" pitchFamily="34" charset="-120"/>
              </a:rPr>
              <a:t>Messages malformés</a:t>
            </a:r>
            <a:endParaRPr lang="en-US" sz="2400" dirty="0"/>
          </a:p>
        </p:txBody>
      </p:sp>
      <p:sp>
        <p:nvSpPr>
          <p:cNvPr id="16" name="Text 14"/>
          <p:cNvSpPr/>
          <p:nvPr/>
        </p:nvSpPr>
        <p:spPr>
          <a:xfrm>
            <a:off x="4914900" y="5840909"/>
            <a:ext cx="5130511" cy="103822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5D5D60"/>
                </a:solidFill>
                <a:latin typeface="Arial" pitchFamily="34" charset="0"/>
                <a:ea typeface="Arial" pitchFamily="34" charset="-122"/>
                <a:cs typeface="Arial" pitchFamily="34" charset="-120"/>
              </a:rPr>
              <a:t>Validation du schéma JSON avant insertion, rejet vers une file dédiée — le flux ne bloque jamais.</a:t>
            </a:r>
            <a:endParaRPr lang="en-US" sz="1875" dirty="0"/>
          </a:p>
        </p:txBody>
      </p:sp>
      <p:sp>
        <p:nvSpPr>
          <p:cNvPr id="17" name="Text 15"/>
          <p:cNvSpPr/>
          <p:nvPr/>
        </p:nvSpPr>
        <p:spPr>
          <a:xfrm>
            <a:off x="1066800" y="7133134"/>
            <a:ext cx="3981450" cy="406400"/>
          </a:xfrm>
          <a:prstGeom prst="rect">
            <a:avLst/>
          </a:prstGeom>
          <a:noFill/>
          <a:ln/>
        </p:spPr>
        <p:txBody>
          <a:bodyPr wrap="square" lIns="25400" tIns="25400" rIns="25400" bIns="25400" rtlCol="0" anchor="t">
            <a:normAutofit/>
          </a:bodyPr>
          <a:lstStyle/>
          <a:p>
            <a:pPr algn="l" indent="0" marL="0">
              <a:buNone/>
            </a:pPr>
            <a:r>
              <a:rPr lang="en-US" sz="2400" dirty="0">
                <a:solidFill>
                  <a:srgbClr val="1D1F20"/>
                </a:solidFill>
                <a:latin typeface="Arial" pitchFamily="34" charset="0"/>
                <a:ea typeface="Arial" pitchFamily="34" charset="-122"/>
                <a:cs typeface="Arial" pitchFamily="34" charset="-120"/>
              </a:rPr>
              <a:t>Dimension introuvable</a:t>
            </a:r>
            <a:endParaRPr lang="en-US" sz="2400" dirty="0"/>
          </a:p>
        </p:txBody>
      </p:sp>
      <p:sp>
        <p:nvSpPr>
          <p:cNvPr id="18" name="Text 16"/>
          <p:cNvSpPr/>
          <p:nvPr/>
        </p:nvSpPr>
        <p:spPr>
          <a:xfrm>
            <a:off x="4914900" y="7177584"/>
            <a:ext cx="5130511" cy="170497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5D5D60"/>
                </a:solidFill>
                <a:latin typeface="Arial" pitchFamily="34" charset="0"/>
                <a:ea typeface="Arial" pitchFamily="34" charset="-122"/>
                <a:cs typeface="Arial" pitchFamily="34" charset="-120"/>
              </a:rPr>
              <a:t>Repli sur un membre « Inconnu » (clé 0) pour le temps et le canal : la transaction est écrite, la dégradation reste visible et traçable. Le client, lui, reste en jointure stricte — un client inconnu est une vraie anomalie.</a:t>
            </a:r>
            <a:endParaRPr lang="en-US" sz="1875" dirty="0"/>
          </a:p>
        </p:txBody>
      </p:sp>
      <p:sp>
        <p:nvSpPr>
          <p:cNvPr id="19" name="Shape 17"/>
          <p:cNvSpPr/>
          <p:nvPr/>
        </p:nvSpPr>
        <p:spPr>
          <a:xfrm>
            <a:off x="10429380" y="2402384"/>
            <a:ext cx="6791722" cy="3224213"/>
          </a:xfrm>
          <a:prstGeom prst="rect">
            <a:avLst/>
          </a:prstGeom>
          <a:ln w="6350">
            <a:solidFill>
              <a:srgbClr val="1D1F20">
                <a:alpha val="16000"/>
              </a:srgbClr>
            </a:solidFill>
            <a:prstDash val="solid"/>
          </a:ln>
        </p:spPr>
      </p:sp>
      <p:sp>
        <p:nvSpPr>
          <p:cNvPr id="20" name="Shape 18"/>
          <p:cNvSpPr/>
          <p:nvPr/>
        </p:nvSpPr>
        <p:spPr>
          <a:xfrm>
            <a:off x="10378579" y="23515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1" name="Shape 19"/>
          <p:cNvSpPr/>
          <p:nvPr/>
        </p:nvSpPr>
        <p:spPr>
          <a:xfrm>
            <a:off x="17167127" y="5572621"/>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2" name="Text 20"/>
          <p:cNvSpPr/>
          <p:nvPr/>
        </p:nvSpPr>
        <p:spPr>
          <a:xfrm>
            <a:off x="10759579" y="2732584"/>
            <a:ext cx="6744454" cy="1085850"/>
          </a:xfrm>
          <a:prstGeom prst="rect">
            <a:avLst/>
          </a:prstGeom>
          <a:noFill/>
          <a:ln/>
        </p:spPr>
        <p:txBody>
          <a:bodyPr wrap="square" lIns="25400" tIns="25400" rIns="25400" bIns="25400" rtlCol="0" anchor="t">
            <a:normAutofit/>
          </a:bodyPr>
          <a:lstStyle/>
          <a:p>
            <a:pPr algn="l" indent="0" marL="0">
              <a:lnSpc>
                <a:spcPct val="87302"/>
              </a:lnSpc>
              <a:buNone/>
            </a:pPr>
            <a:r>
              <a:rPr lang="en-US" sz="8250" dirty="0">
                <a:solidFill>
                  <a:srgbClr val="416180"/>
                </a:solidFill>
                <a:latin typeface="Arial" pitchFamily="34" charset="0"/>
                <a:ea typeface="Arial" pitchFamily="34" charset="-122"/>
                <a:cs typeface="Arial" pitchFamily="34" charset="-120"/>
              </a:rPr>
              <a:t>10 / 10</a:t>
            </a:r>
            <a:endParaRPr lang="en-US" sz="8250" dirty="0"/>
          </a:p>
        </p:txBody>
      </p:sp>
      <p:sp>
        <p:nvSpPr>
          <p:cNvPr id="23" name="Text 21"/>
          <p:cNvSpPr/>
          <p:nvPr/>
        </p:nvSpPr>
        <p:spPr>
          <a:xfrm>
            <a:off x="10759579" y="3856534"/>
            <a:ext cx="6315262" cy="1477963"/>
          </a:xfrm>
          <a:prstGeom prst="rect">
            <a:avLst/>
          </a:prstGeom>
          <a:noFill/>
          <a:ln/>
        </p:spPr>
        <p:txBody>
          <a:bodyPr wrap="square" lIns="25400" tIns="25400" rIns="25400" bIns="25400" rtlCol="0" anchor="t">
            <a:normAutofit/>
          </a:bodyPr>
          <a:lstStyle/>
          <a:p>
            <a:pPr algn="l" indent="0" marL="0">
              <a:lnSpc>
                <a:spcPct val="120638"/>
              </a:lnSpc>
              <a:buNone/>
            </a:pPr>
            <a:r>
              <a:rPr lang="en-US" sz="2025" dirty="0">
                <a:solidFill>
                  <a:srgbClr val="1D1F20"/>
                </a:solidFill>
                <a:latin typeface="Arial" pitchFamily="34" charset="0"/>
                <a:ea typeface="Arial" pitchFamily="34" charset="-122"/>
                <a:cs typeface="Arial" pitchFamily="34" charset="-120"/>
              </a:rPr>
              <a:t>contrôles qualité au vert après chaque chargement : complétude des clés, intégrité client, unicité, cohérence montant / distance / label, plausibilité du taux de fraude, fraîcheur du staging.</a:t>
            </a:r>
            <a:endParaRPr lang="en-US" sz="2025" dirty="0"/>
          </a:p>
        </p:txBody>
      </p:sp>
      <p:sp>
        <p:nvSpPr>
          <p:cNvPr id="24" name="Shape 22"/>
          <p:cNvSpPr/>
          <p:nvPr/>
        </p:nvSpPr>
        <p:spPr>
          <a:xfrm>
            <a:off x="10429380" y="5893296"/>
            <a:ext cx="6791722" cy="2864247"/>
          </a:xfrm>
          <a:prstGeom prst="rect">
            <a:avLst/>
          </a:prstGeom>
          <a:ln w="6350">
            <a:solidFill>
              <a:srgbClr val="1D1F20">
                <a:alpha val="16000"/>
              </a:srgbClr>
            </a:solidFill>
            <a:prstDash val="solid"/>
          </a:ln>
        </p:spPr>
      </p:sp>
      <p:sp>
        <p:nvSpPr>
          <p:cNvPr id="25" name="Shape 23"/>
          <p:cNvSpPr/>
          <p:nvPr/>
        </p:nvSpPr>
        <p:spPr>
          <a:xfrm>
            <a:off x="10378579" y="5842496"/>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6" name="Shape 24"/>
          <p:cNvSpPr/>
          <p:nvPr/>
        </p:nvSpPr>
        <p:spPr>
          <a:xfrm>
            <a:off x="17167127" y="8703568"/>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7" name="Text 25"/>
          <p:cNvSpPr/>
          <p:nvPr/>
        </p:nvSpPr>
        <p:spPr>
          <a:xfrm>
            <a:off x="10759579" y="6223496"/>
            <a:ext cx="6744454" cy="1085850"/>
          </a:xfrm>
          <a:prstGeom prst="rect">
            <a:avLst/>
          </a:prstGeom>
          <a:noFill/>
          <a:ln/>
        </p:spPr>
        <p:txBody>
          <a:bodyPr wrap="square" lIns="25400" tIns="25400" rIns="25400" bIns="25400" rtlCol="0" anchor="t">
            <a:normAutofit/>
          </a:bodyPr>
          <a:lstStyle/>
          <a:p>
            <a:pPr algn="l" indent="0" marL="0">
              <a:lnSpc>
                <a:spcPct val="87302"/>
              </a:lnSpc>
              <a:buNone/>
            </a:pPr>
            <a:r>
              <a:rPr lang="en-US" sz="8250" dirty="0">
                <a:solidFill>
                  <a:srgbClr val="416180"/>
                </a:solidFill>
                <a:latin typeface="Arial" pitchFamily="34" charset="0"/>
                <a:ea typeface="Arial" pitchFamily="34" charset="-122"/>
                <a:cs typeface="Arial" pitchFamily="34" charset="-120"/>
              </a:rPr>
              <a:t>400 000</a:t>
            </a:r>
            <a:endParaRPr lang="en-US" sz="8250" dirty="0"/>
          </a:p>
        </p:txBody>
      </p:sp>
      <p:sp>
        <p:nvSpPr>
          <p:cNvPr id="28" name="Text 26"/>
          <p:cNvSpPr/>
          <p:nvPr/>
        </p:nvSpPr>
        <p:spPr>
          <a:xfrm>
            <a:off x="10759579" y="7347446"/>
            <a:ext cx="6315262" cy="1117997"/>
          </a:xfrm>
          <a:prstGeom prst="rect">
            <a:avLst/>
          </a:prstGeom>
          <a:noFill/>
          <a:ln/>
        </p:spPr>
        <p:txBody>
          <a:bodyPr wrap="square" lIns="25400" tIns="25400" rIns="25400" bIns="25400" rtlCol="0" anchor="t">
            <a:normAutofit/>
          </a:bodyPr>
          <a:lstStyle/>
          <a:p>
            <a:pPr algn="l" indent="0" marL="0">
              <a:lnSpc>
                <a:spcPct val="120638"/>
              </a:lnSpc>
              <a:buNone/>
            </a:pPr>
            <a:r>
              <a:rPr lang="en-US" sz="2025" dirty="0">
                <a:solidFill>
                  <a:srgbClr val="1D1F20"/>
                </a:solidFill>
                <a:latin typeface="Arial" pitchFamily="34" charset="0"/>
                <a:ea typeface="Arial" pitchFamily="34" charset="-122"/>
                <a:cs typeface="Arial" pitchFamily="34" charset="-120"/>
              </a:rPr>
              <a:t>transactions et 5 000 clients générés, l'ensemble démarrant en une commande Docker (Postgres, Redis, Kafka, API).</a:t>
            </a:r>
            <a:endParaRPr lang="en-US" sz="20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D2D3D"/>
        </a:solidFill>
      </p:bgPr>
    </p:bg>
    <p:spTree>
      <p:nvGrpSpPr>
        <p:cNvPr id="1" name=""/>
        <p:cNvGrpSpPr/>
        <p:nvPr/>
      </p:nvGrpSpPr>
      <p:grpSpPr>
        <a:xfrm>
          <a:off x="0" y="0"/>
          <a:ext cx="0" cy="0"/>
          <a:chOff x="0" y="0"/>
          <a:chExt cx="0" cy="0"/>
        </a:xfrm>
      </p:grpSpPr>
      <p:sp>
        <p:nvSpPr>
          <p:cNvPr id="2" name="Text 0"/>
          <p:cNvSpPr/>
          <p:nvPr/>
        </p:nvSpPr>
        <p:spPr>
          <a:xfrm>
            <a:off x="1066800" y="3175992"/>
            <a:ext cx="17769840" cy="336550"/>
          </a:xfrm>
          <a:prstGeom prst="rect">
            <a:avLst/>
          </a:prstGeom>
          <a:noFill/>
          <a:ln/>
        </p:spPr>
        <p:txBody>
          <a:bodyPr wrap="square" lIns="25400" tIns="25400" rIns="25400" bIns="25400" rtlCol="0" anchor="t">
            <a:normAutofit/>
          </a:bodyPr>
          <a:lstStyle/>
          <a:p>
            <a:pPr algn="l" indent="0" marL="0">
              <a:buNone/>
            </a:pPr>
            <a:r>
              <a:rPr lang="en-US" sz="1950" spc="390" kern="0" dirty="0">
                <a:solidFill>
                  <a:srgbClr val="94BCE3"/>
                </a:solidFill>
                <a:latin typeface="Arial" pitchFamily="34" charset="0"/>
                <a:ea typeface="Arial" pitchFamily="34" charset="-122"/>
                <a:cs typeface="Arial" pitchFamily="34" charset="-120"/>
              </a:rPr>
              <a:t>BLOC DE COMPÉTENCES 02</a:t>
            </a:r>
            <a:endParaRPr lang="en-US" sz="1950" dirty="0"/>
          </a:p>
        </p:txBody>
      </p:sp>
      <p:sp>
        <p:nvSpPr>
          <p:cNvPr id="3" name="Text 1"/>
          <p:cNvSpPr/>
          <p:nvPr/>
        </p:nvSpPr>
        <p:spPr>
          <a:xfrm>
            <a:off x="1066800" y="3855442"/>
            <a:ext cx="14668500" cy="1527770"/>
          </a:xfrm>
          <a:prstGeom prst="rect">
            <a:avLst/>
          </a:prstGeom>
          <a:noFill/>
          <a:ln/>
        </p:spPr>
        <p:txBody>
          <a:bodyPr wrap="square" lIns="25400" tIns="25400" rIns="25400" bIns="25400" rtlCol="0" anchor="t">
            <a:normAutofit/>
          </a:bodyPr>
          <a:lstStyle/>
          <a:p>
            <a:pPr algn="l" indent="0" marL="0">
              <a:lnSpc>
                <a:spcPct val="80068"/>
              </a:lnSpc>
              <a:buNone/>
            </a:pPr>
            <a:r>
              <a:rPr lang="en-US" sz="12750" b="1" spc="-255" kern="0" dirty="0">
                <a:solidFill>
                  <a:srgbClr val="F2F2F3"/>
                </a:solidFill>
                <a:latin typeface="Arial" pitchFamily="34" charset="0"/>
                <a:ea typeface="Arial" pitchFamily="34" charset="-122"/>
                <a:cs typeface="Arial" pitchFamily="34" charset="-120"/>
              </a:rPr>
              <a:t>Analyse exploratoire</a:t>
            </a:r>
            <a:endParaRPr lang="en-US" sz="12750" dirty="0"/>
          </a:p>
        </p:txBody>
      </p:sp>
      <p:sp>
        <p:nvSpPr>
          <p:cNvPr id="4" name="Shape 2"/>
          <p:cNvSpPr/>
          <p:nvPr/>
        </p:nvSpPr>
        <p:spPr>
          <a:xfrm>
            <a:off x="1066800" y="5726113"/>
            <a:ext cx="1524000" cy="9525"/>
          </a:xfrm>
          <a:prstGeom prst="rect">
            <a:avLst/>
          </a:prstGeom>
          <a:solidFill>
            <a:srgbClr val="597EA3"/>
          </a:solidFill>
          <a:ln/>
        </p:spPr>
      </p:sp>
      <p:sp>
        <p:nvSpPr>
          <p:cNvPr id="5" name="Text 3"/>
          <p:cNvSpPr/>
          <p:nvPr/>
        </p:nvSpPr>
        <p:spPr>
          <a:xfrm>
            <a:off x="1066800" y="6116638"/>
            <a:ext cx="12263438" cy="1032470"/>
          </a:xfrm>
          <a:prstGeom prst="rect">
            <a:avLst/>
          </a:prstGeom>
          <a:noFill/>
          <a:ln/>
        </p:spPr>
        <p:txBody>
          <a:bodyPr wrap="square" lIns="25400" tIns="25400" rIns="25400" bIns="25400" rtlCol="0" anchor="t">
            <a:normAutofit/>
          </a:bodyPr>
          <a:lstStyle/>
          <a:p>
            <a:pPr algn="l" indent="0" marL="0">
              <a:lnSpc>
                <a:spcPct val="126290"/>
              </a:lnSpc>
              <a:buNone/>
            </a:pPr>
            <a:r>
              <a:rPr lang="en-US" sz="2700" dirty="0">
                <a:solidFill>
                  <a:srgbClr val="D6EBFF"/>
                </a:solidFill>
                <a:latin typeface="Arial" pitchFamily="34" charset="0"/>
                <a:ea typeface="Arial" pitchFamily="34" charset="-122"/>
                <a:cs typeface="Arial" pitchFamily="34" charset="-120"/>
              </a:rPr>
              <a:t>Mesurer le déséquilibre, dresser le portrait-robot de la fraude, et démontrer pourquoi les méthodes statistiques simples ne suffisent pas.</a:t>
            </a:r>
            <a:endParaRPr lang="en-US" sz="2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3693537"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BC02 · ANALYSE EXPLORATOIRE</a:t>
            </a:r>
            <a:endParaRPr lang="en-US" sz="1800" dirty="0"/>
          </a:p>
        </p:txBody>
      </p:sp>
      <p:sp>
        <p:nvSpPr>
          <p:cNvPr id="3" name="Text 1"/>
          <p:cNvSpPr/>
          <p:nvPr/>
        </p:nvSpPr>
        <p:spPr>
          <a:xfrm>
            <a:off x="14185603" y="685800"/>
            <a:ext cx="3339158"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DÉSÉQUILIBRE DES CLASSES</a:t>
            </a:r>
            <a:endParaRPr lang="en-US" sz="1800" dirty="0"/>
          </a:p>
        </p:txBody>
      </p:sp>
      <p:sp>
        <p:nvSpPr>
          <p:cNvPr id="4" name="Text 2"/>
          <p:cNvSpPr/>
          <p:nvPr/>
        </p:nvSpPr>
        <p:spPr>
          <a:xfrm>
            <a:off x="1066800" y="126365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Une fraude pour 66 transactions</a:t>
            </a:r>
            <a:endParaRPr lang="en-US" sz="5850" dirty="0"/>
          </a:p>
        </p:txBody>
      </p:sp>
      <p:sp>
        <p:nvSpPr>
          <p:cNvPr id="5" name="Shape 3"/>
          <p:cNvSpPr/>
          <p:nvPr/>
        </p:nvSpPr>
        <p:spPr>
          <a:xfrm>
            <a:off x="1447800" y="2478584"/>
            <a:ext cx="8610600" cy="6970216"/>
          </a:xfrm>
          <a:prstGeom prst="rect">
            <a:avLst/>
          </a:prstGeom>
          <a:solidFill>
            <a:srgbClr val="F5F5F8"/>
          </a:solidFill>
          <a:ln w="6350">
            <a:solidFill>
              <a:srgbClr val="1D1F20">
                <a:alpha val="16000"/>
              </a:srgbClr>
            </a:solidFill>
            <a:prstDash val="solid"/>
          </a:ln>
        </p:spPr>
      </p:sp>
      <p:sp>
        <p:nvSpPr>
          <p:cNvPr id="6" name="Shape 4"/>
          <p:cNvSpPr/>
          <p:nvPr/>
        </p:nvSpPr>
        <p:spPr>
          <a:xfrm>
            <a:off x="1397000" y="24277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7" name="Shape 5"/>
          <p:cNvSpPr/>
          <p:nvPr/>
        </p:nvSpPr>
        <p:spPr>
          <a:xfrm>
            <a:off x="10004425" y="24277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8" name="Shape 6"/>
          <p:cNvSpPr/>
          <p:nvPr/>
        </p:nvSpPr>
        <p:spPr>
          <a:xfrm>
            <a:off x="1397000"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9" name="Shape 7"/>
          <p:cNvSpPr/>
          <p:nvPr/>
        </p:nvSpPr>
        <p:spPr>
          <a:xfrm>
            <a:off x="10004425"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10" name="Image 0" descr="preencoded.png">    </p:cNvPr>
          <p:cNvPicPr>
            <a:picLocks noChangeAspect="1"/>
          </p:cNvPicPr>
          <p:nvPr/>
        </p:nvPicPr>
        <p:blipFill>
          <a:blip r:embed="rId1"/>
          <a:srcRect l="0" r="0" t="-13558" b="-13558"/>
          <a:stretch/>
        </p:blipFill>
        <p:spPr>
          <a:xfrm>
            <a:off x="1682750" y="2713534"/>
            <a:ext cx="8140700" cy="5820867"/>
          </a:xfrm>
          <a:prstGeom prst="rect">
            <a:avLst/>
          </a:prstGeom>
        </p:spPr>
      </p:pic>
      <p:sp>
        <p:nvSpPr>
          <p:cNvPr id="11" name="Text 8"/>
          <p:cNvSpPr/>
          <p:nvPr/>
        </p:nvSpPr>
        <p:spPr>
          <a:xfrm>
            <a:off x="1682750" y="8667750"/>
            <a:ext cx="8384921" cy="58420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6 000 fraudes contre 394 000 transactions légitimes sur l'ensemble du jeu de données.</a:t>
            </a:r>
            <a:endParaRPr lang="en-US" sz="1800" dirty="0"/>
          </a:p>
        </p:txBody>
      </p:sp>
      <p:sp>
        <p:nvSpPr>
          <p:cNvPr id="12" name="Text 9"/>
          <p:cNvSpPr/>
          <p:nvPr/>
        </p:nvSpPr>
        <p:spPr>
          <a:xfrm>
            <a:off x="10972800" y="3501231"/>
            <a:ext cx="6873240"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CE QUE ÇA CHANGE</a:t>
            </a:r>
            <a:endParaRPr lang="en-US" sz="1800" dirty="0"/>
          </a:p>
        </p:txBody>
      </p:sp>
      <p:sp>
        <p:nvSpPr>
          <p:cNvPr id="13" name="Text 10"/>
          <p:cNvSpPr/>
          <p:nvPr/>
        </p:nvSpPr>
        <p:spPr>
          <a:xfrm>
            <a:off x="10972800" y="4021931"/>
            <a:ext cx="6435852" cy="1281113"/>
          </a:xfrm>
          <a:prstGeom prst="rect">
            <a:avLst/>
          </a:prstGeom>
          <a:noFill/>
          <a:ln/>
        </p:spPr>
        <p:txBody>
          <a:bodyPr wrap="square" lIns="25400" tIns="25400" rIns="25400" bIns="25400" rtlCol="0" anchor="t">
            <a:normAutofit/>
          </a:bodyPr>
          <a:lstStyle/>
          <a:p>
            <a:pPr algn="l" indent="0" marL="0">
              <a:lnSpc>
                <a:spcPct val="125481"/>
              </a:lnSpc>
              <a:buNone/>
            </a:pPr>
            <a:r>
              <a:rPr lang="en-US" sz="2250" dirty="0">
                <a:solidFill>
                  <a:srgbClr val="1D1F20"/>
                </a:solidFill>
                <a:latin typeface="Arial" pitchFamily="34" charset="0"/>
                <a:ea typeface="Arial" pitchFamily="34" charset="-122"/>
                <a:cs typeface="Arial" pitchFamily="34" charset="-120"/>
              </a:rPr>
              <a:t>La classe à détecter est rarissime. Trois conséquences directes, appliquées dans tout le reste du projet :</a:t>
            </a:r>
            <a:endParaRPr lang="en-US" sz="2250" dirty="0"/>
          </a:p>
        </p:txBody>
      </p:sp>
      <p:sp>
        <p:nvSpPr>
          <p:cNvPr id="14" name="Shape 11"/>
          <p:cNvSpPr/>
          <p:nvPr/>
        </p:nvSpPr>
        <p:spPr>
          <a:xfrm>
            <a:off x="10972800" y="5512594"/>
            <a:ext cx="9525" cy="1092597"/>
          </a:xfrm>
          <a:prstGeom prst="rect">
            <a:avLst/>
          </a:prstGeom>
          <a:solidFill>
            <a:srgbClr val="1D1F20">
              <a:alpha val="16000"/>
            </a:srgbClr>
          </a:solidFill>
          <a:ln/>
        </p:spPr>
      </p:sp>
      <p:sp>
        <p:nvSpPr>
          <p:cNvPr id="15" name="Text 12"/>
          <p:cNvSpPr/>
          <p:nvPr/>
        </p:nvSpPr>
        <p:spPr>
          <a:xfrm>
            <a:off x="11207750" y="5512594"/>
            <a:ext cx="6200902" cy="1130697"/>
          </a:xfrm>
          <a:prstGeom prst="rect">
            <a:avLst/>
          </a:prstGeom>
          <a:noFill/>
          <a:ln/>
        </p:spPr>
        <p:txBody>
          <a:bodyPr wrap="square" lIns="25400" tIns="25400" rIns="25400" bIns="25400" rtlCol="0" anchor="t">
            <a:normAutofit/>
          </a:bodyPr>
          <a:lstStyle/>
          <a:p>
            <a:pPr algn="l" indent="0" marL="0">
              <a:lnSpc>
                <a:spcPct val="120638"/>
              </a:lnSpc>
              <a:buNone/>
            </a:pPr>
            <a:r>
              <a:rPr lang="en-US" sz="2025" dirty="0">
                <a:solidFill>
                  <a:srgbClr val="1D1F20"/>
                </a:solidFill>
                <a:latin typeface="Arial" pitchFamily="34" charset="0"/>
                <a:ea typeface="Arial" pitchFamily="34" charset="-122"/>
                <a:cs typeface="Arial" pitchFamily="34" charset="-120"/>
              </a:rPr>
              <a:t>La justesse globale est abandonnée au profit du </a:t>
            </a:r>
            <a:pPr algn="l" indent="0" marL="0">
              <a:lnSpc>
                <a:spcPct val="120638"/>
              </a:lnSpc>
              <a:buNone/>
            </a:pPr>
            <a:r>
              <a:rPr lang="en-US" sz="2025" b="1" dirty="0">
                <a:solidFill>
                  <a:srgbClr val="1D1F20"/>
                </a:solidFill>
                <a:latin typeface="Arial" pitchFamily="34" charset="0"/>
                <a:ea typeface="Arial" pitchFamily="34" charset="-122"/>
                <a:cs typeface="Arial" pitchFamily="34" charset="-120"/>
              </a:rPr>
              <a:t>rappel </a:t>
            </a:r>
            <a:pPr algn="l" indent="0" marL="0">
              <a:lnSpc>
                <a:spcPct val="120638"/>
              </a:lnSpc>
              <a:buNone/>
            </a:pPr>
            <a:r>
              <a:rPr lang="en-US" sz="2025" dirty="0">
                <a:solidFill>
                  <a:srgbClr val="1D1F20"/>
                </a:solidFill>
                <a:latin typeface="Arial" pitchFamily="34" charset="0"/>
                <a:ea typeface="Arial" pitchFamily="34" charset="-122"/>
                <a:cs typeface="Arial" pitchFamily="34" charset="-120"/>
              </a:rPr>
              <a:t>(fraudes retrouvées) et de la </a:t>
            </a:r>
            <a:pPr algn="l" indent="0" marL="0">
              <a:lnSpc>
                <a:spcPct val="120638"/>
              </a:lnSpc>
              <a:buNone/>
            </a:pPr>
            <a:r>
              <a:rPr lang="en-US" sz="2025" b="1" dirty="0">
                <a:solidFill>
                  <a:srgbClr val="1D1F20"/>
                </a:solidFill>
                <a:latin typeface="Arial" pitchFamily="34" charset="0"/>
                <a:ea typeface="Arial" pitchFamily="34" charset="-122"/>
                <a:cs typeface="Arial" pitchFamily="34" charset="-120"/>
              </a:rPr>
              <a:t>précision </a:t>
            </a:r>
            <a:pPr algn="l" indent="0" marL="0">
              <a:lnSpc>
                <a:spcPct val="120638"/>
              </a:lnSpc>
              <a:buNone/>
            </a:pPr>
            <a:r>
              <a:rPr lang="en-US" sz="2025" dirty="0">
                <a:solidFill>
                  <a:srgbClr val="1D1F20"/>
                </a:solidFill>
                <a:latin typeface="Arial" pitchFamily="34" charset="0"/>
                <a:ea typeface="Arial" pitchFamily="34" charset="-122"/>
                <a:cs typeface="Arial" pitchFamily="34" charset="-120"/>
              </a:rPr>
              <a:t>(alertes justes).</a:t>
            </a:r>
            <a:endParaRPr lang="en-US" sz="2025" dirty="0"/>
          </a:p>
        </p:txBody>
      </p:sp>
      <p:sp>
        <p:nvSpPr>
          <p:cNvPr id="16" name="Shape 13"/>
          <p:cNvSpPr/>
          <p:nvPr/>
        </p:nvSpPr>
        <p:spPr>
          <a:xfrm>
            <a:off x="10972800" y="6776641"/>
            <a:ext cx="9525" cy="745331"/>
          </a:xfrm>
          <a:prstGeom prst="rect">
            <a:avLst/>
          </a:prstGeom>
          <a:solidFill>
            <a:srgbClr val="1D1F20">
              <a:alpha val="16000"/>
            </a:srgbClr>
          </a:solidFill>
          <a:ln/>
        </p:spPr>
      </p:sp>
      <p:sp>
        <p:nvSpPr>
          <p:cNvPr id="17" name="Text 14"/>
          <p:cNvSpPr/>
          <p:nvPr/>
        </p:nvSpPr>
        <p:spPr>
          <a:xfrm>
            <a:off x="11207750" y="6776641"/>
            <a:ext cx="6200902" cy="783431"/>
          </a:xfrm>
          <a:prstGeom prst="rect">
            <a:avLst/>
          </a:prstGeom>
          <a:noFill/>
          <a:ln/>
        </p:spPr>
        <p:txBody>
          <a:bodyPr wrap="square" lIns="25400" tIns="25400" rIns="25400" bIns="25400" rtlCol="0" anchor="t">
            <a:normAutofit/>
          </a:bodyPr>
          <a:lstStyle/>
          <a:p>
            <a:pPr algn="l" indent="0" marL="0">
              <a:lnSpc>
                <a:spcPct val="120638"/>
              </a:lnSpc>
              <a:buNone/>
            </a:pPr>
            <a:r>
              <a:rPr lang="en-US" sz="2025" dirty="0">
                <a:solidFill>
                  <a:srgbClr val="1D1F20"/>
                </a:solidFill>
                <a:latin typeface="Arial" pitchFamily="34" charset="0"/>
                <a:ea typeface="Arial" pitchFamily="34" charset="-122"/>
                <a:cs typeface="Arial" pitchFamily="34" charset="-120"/>
              </a:rPr>
              <a:t>Les modèles sont entraînés avec une </a:t>
            </a:r>
            <a:pPr algn="l" indent="0" marL="0">
              <a:lnSpc>
                <a:spcPct val="120638"/>
              </a:lnSpc>
              <a:buNone/>
            </a:pPr>
            <a:r>
              <a:rPr lang="en-US" sz="2025" b="1" dirty="0">
                <a:solidFill>
                  <a:srgbClr val="1D1F20"/>
                </a:solidFill>
                <a:latin typeface="Arial" pitchFamily="34" charset="0"/>
                <a:ea typeface="Arial" pitchFamily="34" charset="-122"/>
                <a:cs typeface="Arial" pitchFamily="34" charset="-120"/>
              </a:rPr>
              <a:t>pondération de la classe rare </a:t>
            </a:r>
            <a:pPr algn="l" indent="0" marL="0">
              <a:lnSpc>
                <a:spcPct val="120638"/>
              </a:lnSpc>
              <a:buNone/>
            </a:pPr>
            <a:r>
              <a:rPr lang="en-US" sz="2025" dirty="0">
                <a:solidFill>
                  <a:srgbClr val="1D1F20"/>
                </a:solidFill>
                <a:latin typeface="Arial" pitchFamily="34" charset="0"/>
                <a:ea typeface="Arial" pitchFamily="34" charset="-122"/>
                <a:cs typeface="Arial" pitchFamily="34" charset="-120"/>
              </a:rPr>
              <a:t>(facteur 66).</a:t>
            </a:r>
            <a:endParaRPr lang="en-US" sz="2025" dirty="0"/>
          </a:p>
        </p:txBody>
      </p:sp>
      <p:sp>
        <p:nvSpPr>
          <p:cNvPr id="18" name="Shape 15"/>
          <p:cNvSpPr/>
          <p:nvPr/>
        </p:nvSpPr>
        <p:spPr>
          <a:xfrm>
            <a:off x="10972800" y="7693422"/>
            <a:ext cx="9525" cy="732631"/>
          </a:xfrm>
          <a:prstGeom prst="rect">
            <a:avLst/>
          </a:prstGeom>
          <a:solidFill>
            <a:srgbClr val="1D1F20">
              <a:alpha val="16000"/>
            </a:srgbClr>
          </a:solidFill>
          <a:ln/>
        </p:spPr>
      </p:sp>
      <p:sp>
        <p:nvSpPr>
          <p:cNvPr id="19" name="Text 16"/>
          <p:cNvSpPr/>
          <p:nvPr/>
        </p:nvSpPr>
        <p:spPr>
          <a:xfrm>
            <a:off x="11207750" y="7693422"/>
            <a:ext cx="6200902" cy="770731"/>
          </a:xfrm>
          <a:prstGeom prst="rect">
            <a:avLst/>
          </a:prstGeom>
          <a:noFill/>
          <a:ln/>
        </p:spPr>
        <p:txBody>
          <a:bodyPr wrap="square" lIns="25400" tIns="25400" rIns="25400" bIns="25400" rtlCol="0" anchor="t">
            <a:normAutofit/>
          </a:bodyPr>
          <a:lstStyle/>
          <a:p>
            <a:pPr algn="l" indent="0" marL="0">
              <a:lnSpc>
                <a:spcPct val="120638"/>
              </a:lnSpc>
              <a:buNone/>
            </a:pPr>
            <a:r>
              <a:rPr lang="en-US" sz="2025" dirty="0">
                <a:solidFill>
                  <a:srgbClr val="1D1F20"/>
                </a:solidFill>
                <a:latin typeface="Arial" pitchFamily="34" charset="0"/>
                <a:ea typeface="Arial" pitchFamily="34" charset="-122"/>
                <a:cs typeface="Arial" pitchFamily="34" charset="-120"/>
              </a:rPr>
              <a:t>Le </a:t>
            </a:r>
            <a:pPr algn="l" indent="0" marL="0">
              <a:lnSpc>
                <a:spcPct val="120638"/>
              </a:lnSpc>
              <a:buNone/>
            </a:pPr>
            <a:r>
              <a:rPr lang="en-US" sz="2025" b="1" dirty="0">
                <a:solidFill>
                  <a:srgbClr val="1D1F20"/>
                </a:solidFill>
                <a:latin typeface="Arial" pitchFamily="34" charset="0"/>
                <a:ea typeface="Arial" pitchFamily="34" charset="-122"/>
                <a:cs typeface="Arial" pitchFamily="34" charset="-120"/>
              </a:rPr>
              <a:t>seuil de décision </a:t>
            </a:r>
            <a:pPr algn="l" indent="0" marL="0">
              <a:lnSpc>
                <a:spcPct val="120638"/>
              </a:lnSpc>
              <a:buNone/>
            </a:pPr>
            <a:r>
              <a:rPr lang="en-US" sz="2025" dirty="0">
                <a:solidFill>
                  <a:srgbClr val="1D1F20"/>
                </a:solidFill>
                <a:latin typeface="Arial" pitchFamily="34" charset="0"/>
                <a:ea typeface="Arial" pitchFamily="34" charset="-122"/>
                <a:cs typeface="Arial" pitchFamily="34" charset="-120"/>
              </a:rPr>
              <a:t>devient un choix à part entière, pas une valeur par défaut à 0,5.</a:t>
            </a:r>
            <a:endParaRPr lang="en-US" sz="20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3693537"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BC02 · ANALYSE EXPLORATOIRE</a:t>
            </a:r>
            <a:endParaRPr lang="en-US" sz="1800" dirty="0"/>
          </a:p>
        </p:txBody>
      </p:sp>
      <p:sp>
        <p:nvSpPr>
          <p:cNvPr id="3" name="Text 1"/>
          <p:cNvSpPr/>
          <p:nvPr/>
        </p:nvSpPr>
        <p:spPr>
          <a:xfrm>
            <a:off x="14656296" y="685800"/>
            <a:ext cx="2821394"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PROFIL DES FRAUDEURS</a:t>
            </a:r>
            <a:endParaRPr lang="en-US" sz="1800" dirty="0"/>
          </a:p>
        </p:txBody>
      </p:sp>
      <p:sp>
        <p:nvSpPr>
          <p:cNvPr id="4" name="Text 2"/>
          <p:cNvSpPr/>
          <p:nvPr/>
        </p:nvSpPr>
        <p:spPr>
          <a:xfrm>
            <a:off x="1066800" y="126365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Le portrait-robot de la fraude</a:t>
            </a:r>
            <a:endParaRPr lang="en-US" sz="5850" dirty="0"/>
          </a:p>
        </p:txBody>
      </p:sp>
      <p:sp>
        <p:nvSpPr>
          <p:cNvPr id="5" name="Shape 3"/>
          <p:cNvSpPr/>
          <p:nvPr/>
        </p:nvSpPr>
        <p:spPr>
          <a:xfrm>
            <a:off x="1447800" y="2478584"/>
            <a:ext cx="8610600" cy="6970216"/>
          </a:xfrm>
          <a:prstGeom prst="rect">
            <a:avLst/>
          </a:prstGeom>
          <a:solidFill>
            <a:srgbClr val="F5F5F8"/>
          </a:solidFill>
          <a:ln w="6350">
            <a:solidFill>
              <a:srgbClr val="1D1F20">
                <a:alpha val="16000"/>
              </a:srgbClr>
            </a:solidFill>
            <a:prstDash val="solid"/>
          </a:ln>
        </p:spPr>
      </p:sp>
      <p:sp>
        <p:nvSpPr>
          <p:cNvPr id="6" name="Shape 4"/>
          <p:cNvSpPr/>
          <p:nvPr/>
        </p:nvSpPr>
        <p:spPr>
          <a:xfrm>
            <a:off x="1397000" y="24277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7" name="Shape 5"/>
          <p:cNvSpPr/>
          <p:nvPr/>
        </p:nvSpPr>
        <p:spPr>
          <a:xfrm>
            <a:off x="10004425" y="24277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8" name="Shape 6"/>
          <p:cNvSpPr/>
          <p:nvPr/>
        </p:nvSpPr>
        <p:spPr>
          <a:xfrm>
            <a:off x="1397000"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9" name="Shape 7"/>
          <p:cNvSpPr/>
          <p:nvPr/>
        </p:nvSpPr>
        <p:spPr>
          <a:xfrm>
            <a:off x="10004425"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10" name="Image 0" descr="preencoded.png">    </p:cNvPr>
          <p:cNvPicPr>
            <a:picLocks noChangeAspect="1"/>
          </p:cNvPicPr>
          <p:nvPr/>
        </p:nvPicPr>
        <p:blipFill>
          <a:blip r:embed="rId1"/>
          <a:srcRect l="0" r="0" t="-1285" b="-1285"/>
          <a:stretch/>
        </p:blipFill>
        <p:spPr>
          <a:xfrm>
            <a:off x="1682750" y="2713534"/>
            <a:ext cx="8140700" cy="5820867"/>
          </a:xfrm>
          <a:prstGeom prst="rect">
            <a:avLst/>
          </a:prstGeom>
        </p:spPr>
      </p:pic>
      <p:sp>
        <p:nvSpPr>
          <p:cNvPr id="11" name="Text 8"/>
          <p:cNvSpPr/>
          <p:nvPr/>
        </p:nvSpPr>
        <p:spPr>
          <a:xfrm>
            <a:off x="1682750" y="8667750"/>
            <a:ext cx="8384921" cy="58420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Taux de fraude par canal, mode d'authentification, segment client et heure de la journée.</a:t>
            </a:r>
            <a:endParaRPr lang="en-US" sz="1800" dirty="0"/>
          </a:p>
        </p:txBody>
      </p:sp>
      <p:sp>
        <p:nvSpPr>
          <p:cNvPr id="12" name="Text 9"/>
          <p:cNvSpPr/>
          <p:nvPr/>
        </p:nvSpPr>
        <p:spPr>
          <a:xfrm>
            <a:off x="10972800" y="2570460"/>
            <a:ext cx="6873240"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CE QUE ÇA MONTRE</a:t>
            </a:r>
            <a:endParaRPr lang="en-US" sz="1800" dirty="0"/>
          </a:p>
        </p:txBody>
      </p:sp>
      <p:sp>
        <p:nvSpPr>
          <p:cNvPr id="13" name="Text 10"/>
          <p:cNvSpPr/>
          <p:nvPr/>
        </p:nvSpPr>
        <p:spPr>
          <a:xfrm>
            <a:off x="10972800" y="3053060"/>
            <a:ext cx="1055489" cy="635000"/>
          </a:xfrm>
          <a:prstGeom prst="rect">
            <a:avLst/>
          </a:prstGeom>
          <a:noFill/>
          <a:ln/>
        </p:spPr>
        <p:txBody>
          <a:bodyPr wrap="square" lIns="25400" tIns="25400" rIns="25400" bIns="25400" rtlCol="0" anchor="t">
            <a:normAutofit/>
          </a:bodyPr>
          <a:lstStyle/>
          <a:p>
            <a:pPr algn="l" indent="0" marL="0">
              <a:buNone/>
            </a:pPr>
            <a:r>
              <a:rPr lang="en-US" sz="3900" dirty="0">
                <a:solidFill>
                  <a:srgbClr val="416180"/>
                </a:solidFill>
                <a:latin typeface="Arial" pitchFamily="34" charset="0"/>
                <a:ea typeface="Arial" pitchFamily="34" charset="-122"/>
                <a:cs typeface="Arial" pitchFamily="34" charset="-120"/>
              </a:rPr>
              <a:t>2,4 %</a:t>
            </a:r>
            <a:endParaRPr lang="en-US" sz="3900" dirty="0"/>
          </a:p>
        </p:txBody>
      </p:sp>
      <p:sp>
        <p:nvSpPr>
          <p:cNvPr id="14" name="Text 11"/>
          <p:cNvSpPr/>
          <p:nvPr/>
        </p:nvSpPr>
        <p:spPr>
          <a:xfrm>
            <a:off x="12180689" y="3288010"/>
            <a:ext cx="5191726" cy="706636"/>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en ligne, contre 0,2 % au distributeur — le canal sans carte physique concentre le risque</a:t>
            </a:r>
            <a:endParaRPr lang="en-US" sz="1950" dirty="0"/>
          </a:p>
        </p:txBody>
      </p:sp>
      <p:sp>
        <p:nvSpPr>
          <p:cNvPr id="15" name="Text 12"/>
          <p:cNvSpPr/>
          <p:nvPr/>
        </p:nvSpPr>
        <p:spPr>
          <a:xfrm>
            <a:off x="10972800" y="4089896"/>
            <a:ext cx="1055489" cy="635000"/>
          </a:xfrm>
          <a:prstGeom prst="rect">
            <a:avLst/>
          </a:prstGeom>
          <a:noFill/>
          <a:ln/>
        </p:spPr>
        <p:txBody>
          <a:bodyPr wrap="square" lIns="25400" tIns="25400" rIns="25400" bIns="25400" rtlCol="0" anchor="t">
            <a:normAutofit/>
          </a:bodyPr>
          <a:lstStyle/>
          <a:p>
            <a:pPr algn="l" indent="0" marL="0">
              <a:buNone/>
            </a:pPr>
            <a:r>
              <a:rPr lang="en-US" sz="3900" dirty="0">
                <a:solidFill>
                  <a:srgbClr val="416180"/>
                </a:solidFill>
                <a:latin typeface="Arial" pitchFamily="34" charset="0"/>
                <a:ea typeface="Arial" pitchFamily="34" charset="-122"/>
                <a:cs typeface="Arial" pitchFamily="34" charset="-120"/>
              </a:rPr>
              <a:t>5,6 %</a:t>
            </a:r>
            <a:endParaRPr lang="en-US" sz="3900" dirty="0"/>
          </a:p>
        </p:txBody>
      </p:sp>
      <p:sp>
        <p:nvSpPr>
          <p:cNvPr id="16" name="Text 13"/>
          <p:cNvSpPr/>
          <p:nvPr/>
        </p:nvSpPr>
        <p:spPr>
          <a:xfrm>
            <a:off x="12180689" y="4324846"/>
            <a:ext cx="5191726" cy="706636"/>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sans authentification, contre 0,8 % avec puce et code — l'authentification forte protège</a:t>
            </a:r>
            <a:endParaRPr lang="en-US" sz="1950" dirty="0"/>
          </a:p>
        </p:txBody>
      </p:sp>
      <p:sp>
        <p:nvSpPr>
          <p:cNvPr id="17" name="Text 14"/>
          <p:cNvSpPr/>
          <p:nvPr/>
        </p:nvSpPr>
        <p:spPr>
          <a:xfrm>
            <a:off x="10972800" y="5126732"/>
            <a:ext cx="1055489" cy="635000"/>
          </a:xfrm>
          <a:prstGeom prst="rect">
            <a:avLst/>
          </a:prstGeom>
          <a:noFill/>
          <a:ln/>
        </p:spPr>
        <p:txBody>
          <a:bodyPr wrap="square" lIns="25400" tIns="25400" rIns="25400" bIns="25400" rtlCol="0" anchor="t">
            <a:normAutofit/>
          </a:bodyPr>
          <a:lstStyle/>
          <a:p>
            <a:pPr algn="l" indent="0" marL="0">
              <a:buNone/>
            </a:pPr>
            <a:r>
              <a:rPr lang="en-US" sz="3900" dirty="0">
                <a:solidFill>
                  <a:srgbClr val="416180"/>
                </a:solidFill>
                <a:latin typeface="Arial" pitchFamily="34" charset="0"/>
                <a:ea typeface="Arial" pitchFamily="34" charset="-122"/>
                <a:cs typeface="Arial" pitchFamily="34" charset="-120"/>
              </a:rPr>
              <a:t>33 %</a:t>
            </a:r>
            <a:endParaRPr lang="en-US" sz="3900" dirty="0"/>
          </a:p>
        </p:txBody>
      </p:sp>
      <p:sp>
        <p:nvSpPr>
          <p:cNvPr id="18" name="Text 15"/>
          <p:cNvSpPr/>
          <p:nvPr/>
        </p:nvSpPr>
        <p:spPr>
          <a:xfrm>
            <a:off x="12180689" y="5361682"/>
            <a:ext cx="5191726" cy="706636"/>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à 4 h du matin — la nuit, la fraude devient un tiers du volume</a:t>
            </a:r>
            <a:endParaRPr lang="en-US" sz="1950" dirty="0"/>
          </a:p>
        </p:txBody>
      </p:sp>
      <p:sp>
        <p:nvSpPr>
          <p:cNvPr id="19" name="Text 16"/>
          <p:cNvSpPr/>
          <p:nvPr/>
        </p:nvSpPr>
        <p:spPr>
          <a:xfrm>
            <a:off x="10972800" y="6163568"/>
            <a:ext cx="1055489" cy="635000"/>
          </a:xfrm>
          <a:prstGeom prst="rect">
            <a:avLst/>
          </a:prstGeom>
          <a:noFill/>
          <a:ln/>
        </p:spPr>
        <p:txBody>
          <a:bodyPr wrap="square" lIns="25400" tIns="25400" rIns="25400" bIns="25400" rtlCol="0" anchor="t">
            <a:normAutofit/>
          </a:bodyPr>
          <a:lstStyle/>
          <a:p>
            <a:pPr algn="l" indent="0" marL="0">
              <a:buNone/>
            </a:pPr>
            <a:r>
              <a:rPr lang="en-US" sz="3900" dirty="0">
                <a:solidFill>
                  <a:srgbClr val="416180"/>
                </a:solidFill>
                <a:latin typeface="Arial" pitchFamily="34" charset="0"/>
                <a:ea typeface="Arial" pitchFamily="34" charset="-122"/>
                <a:cs typeface="Arial" pitchFamily="34" charset="-120"/>
              </a:rPr>
              <a:t>1,5 %</a:t>
            </a:r>
            <a:endParaRPr lang="en-US" sz="3900" dirty="0"/>
          </a:p>
        </p:txBody>
      </p:sp>
      <p:sp>
        <p:nvSpPr>
          <p:cNvPr id="20" name="Text 17"/>
          <p:cNvSpPr/>
          <p:nvPr/>
        </p:nvSpPr>
        <p:spPr>
          <a:xfrm>
            <a:off x="12180689" y="6398518"/>
            <a:ext cx="5191726" cy="1040904"/>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quel que soit le segment client — premium, particulier ou professionnel : aucun profil n'est épargné</a:t>
            </a:r>
            <a:endParaRPr lang="en-US" sz="1950" dirty="0"/>
          </a:p>
        </p:txBody>
      </p:sp>
      <p:sp>
        <p:nvSpPr>
          <p:cNvPr id="21" name="Text 18"/>
          <p:cNvSpPr/>
          <p:nvPr/>
        </p:nvSpPr>
        <p:spPr>
          <a:xfrm>
            <a:off x="10972800" y="7610872"/>
            <a:ext cx="6435852" cy="1784152"/>
          </a:xfrm>
          <a:prstGeom prst="rect">
            <a:avLst/>
          </a:prstGeom>
          <a:noFill/>
          <a:ln/>
        </p:spPr>
        <p:txBody>
          <a:bodyPr wrap="square" lIns="25400" tIns="25400" rIns="25400" bIns="25400" rtlCol="0" anchor="t">
            <a:normAutofit/>
          </a:bodyPr>
          <a:lstStyle/>
          <a:p>
            <a:pPr algn="l" indent="0" marL="0">
              <a:lnSpc>
                <a:spcPct val="124091"/>
              </a:lnSpc>
              <a:buNone/>
            </a:pPr>
            <a:r>
              <a:rPr lang="en-US" sz="1950" b="1" dirty="0">
                <a:solidFill>
                  <a:srgbClr val="5D5D60"/>
                </a:solidFill>
                <a:latin typeface="Arial" pitchFamily="34" charset="0"/>
                <a:ea typeface="Arial" pitchFamily="34" charset="-122"/>
                <a:cs typeface="Arial" pitchFamily="34" charset="-120"/>
              </a:rPr>
              <a:t>Limite assumée : </a:t>
            </a:r>
            <a:pPr algn="l" indent="0" marL="0">
              <a:lnSpc>
                <a:spcPct val="124091"/>
              </a:lnSpc>
              <a:buNone/>
            </a:pPr>
            <a:r>
              <a:rPr lang="en-US" sz="1950" dirty="0">
                <a:solidFill>
                  <a:srgbClr val="5D5D60"/>
                </a:solidFill>
                <a:latin typeface="Arial" pitchFamily="34" charset="0"/>
                <a:ea typeface="Arial" pitchFamily="34" charset="-122"/>
                <a:cs typeface="Arial" pitchFamily="34" charset="-120"/>
              </a:rPr>
              <a:t>le pays inhabituel signale 100 % de fraude dans ces données simulées. Une règle aussi parfaite n'existe pas en production — c'est un artefact du générateur, signalé dans le rapport plutôt que présenté comme un résultat.</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3693537"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BC02 · ANALYSE EXPLORATOIRE</a:t>
            </a:r>
            <a:endParaRPr lang="en-US" sz="1800" dirty="0"/>
          </a:p>
        </p:txBody>
      </p:sp>
      <p:sp>
        <p:nvSpPr>
          <p:cNvPr id="3" name="Text 1"/>
          <p:cNvSpPr/>
          <p:nvPr/>
        </p:nvSpPr>
        <p:spPr>
          <a:xfrm>
            <a:off x="13445332" y="685800"/>
            <a:ext cx="4153456"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STATISTIQUES &amp; MÉTHODES NAÏVES</a:t>
            </a:r>
            <a:endParaRPr lang="en-US" sz="1800" dirty="0"/>
          </a:p>
        </p:txBody>
      </p:sp>
      <p:sp>
        <p:nvSpPr>
          <p:cNvPr id="4" name="Text 2"/>
          <p:cNvSpPr/>
          <p:nvPr/>
        </p:nvSpPr>
        <p:spPr>
          <a:xfrm>
            <a:off x="1066800" y="122555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Pourquoi une règle simple ne suffit pas</a:t>
            </a:r>
            <a:endParaRPr lang="en-US" sz="5850" dirty="0"/>
          </a:p>
        </p:txBody>
      </p:sp>
      <p:sp>
        <p:nvSpPr>
          <p:cNvPr id="5" name="Shape 3"/>
          <p:cNvSpPr/>
          <p:nvPr/>
        </p:nvSpPr>
        <p:spPr>
          <a:xfrm>
            <a:off x="1447800" y="2402384"/>
            <a:ext cx="7086600" cy="5462885"/>
          </a:xfrm>
          <a:prstGeom prst="rect">
            <a:avLst/>
          </a:prstGeom>
          <a:solidFill>
            <a:srgbClr val="F5F5F8"/>
          </a:solidFill>
          <a:ln w="6350">
            <a:solidFill>
              <a:srgbClr val="1D1F20">
                <a:alpha val="16000"/>
              </a:srgbClr>
            </a:solidFill>
            <a:prstDash val="solid"/>
          </a:ln>
        </p:spPr>
      </p:sp>
      <p:sp>
        <p:nvSpPr>
          <p:cNvPr id="6" name="Shape 4"/>
          <p:cNvSpPr/>
          <p:nvPr/>
        </p:nvSpPr>
        <p:spPr>
          <a:xfrm>
            <a:off x="1397000" y="23515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7" name="Shape 5"/>
          <p:cNvSpPr/>
          <p:nvPr/>
        </p:nvSpPr>
        <p:spPr>
          <a:xfrm>
            <a:off x="8480425" y="7811294"/>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8" name="Image 0" descr="preencoded.png">    </p:cNvPr>
          <p:cNvPicPr>
            <a:picLocks noChangeAspect="1"/>
          </p:cNvPicPr>
          <p:nvPr/>
        </p:nvPicPr>
        <p:blipFill>
          <a:blip r:embed="rId1"/>
          <a:srcRect l="0" r="0" t="-49183" b="-49183"/>
          <a:stretch/>
        </p:blipFill>
        <p:spPr>
          <a:xfrm>
            <a:off x="1644650" y="2599234"/>
            <a:ext cx="6692900" cy="5069185"/>
          </a:xfrm>
          <a:prstGeom prst="rect">
            <a:avLst/>
          </a:prstGeom>
        </p:spPr>
      </p:pic>
      <p:sp>
        <p:nvSpPr>
          <p:cNvPr id="9" name="Text 6"/>
          <p:cNvSpPr/>
          <p:nvPr/>
        </p:nvSpPr>
        <p:spPr>
          <a:xfrm>
            <a:off x="1066800" y="8189119"/>
            <a:ext cx="8084058" cy="145018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Montant moyen : </a:t>
            </a:r>
            <a:pPr algn="l" indent="0" marL="0">
              <a:lnSpc>
                <a:spcPct val="124091"/>
              </a:lnSpc>
              <a:buNone/>
            </a:pPr>
            <a:r>
              <a:rPr lang="en-US" sz="1950" b="1" dirty="0">
                <a:solidFill>
                  <a:srgbClr val="1D1F20"/>
                </a:solidFill>
                <a:latin typeface="Arial" pitchFamily="34" charset="0"/>
                <a:ea typeface="Arial" pitchFamily="34" charset="-122"/>
                <a:cs typeface="Arial" pitchFamily="34" charset="-120"/>
              </a:rPr>
              <a:t>230 € </a:t>
            </a:r>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pour une fraude contre </a:t>
            </a:r>
            <a:pPr algn="l" indent="0" marL="0">
              <a:lnSpc>
                <a:spcPct val="124091"/>
              </a:lnSpc>
              <a:buNone/>
            </a:pPr>
            <a:r>
              <a:rPr lang="en-US" sz="1950" b="1" dirty="0">
                <a:solidFill>
                  <a:srgbClr val="1D1F20"/>
                </a:solidFill>
                <a:latin typeface="Arial" pitchFamily="34" charset="0"/>
                <a:ea typeface="Arial" pitchFamily="34" charset="-122"/>
                <a:cs typeface="Arial" pitchFamily="34" charset="-120"/>
              </a:rPr>
              <a:t>68 € </a:t>
            </a:r>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pour une transaction normale. Distance au domicile : </a:t>
            </a:r>
            <a:pPr algn="l" indent="0" marL="0">
              <a:lnSpc>
                <a:spcPct val="124091"/>
              </a:lnSpc>
              <a:buNone/>
            </a:pPr>
            <a:r>
              <a:rPr lang="en-US" sz="1950" b="1" dirty="0">
                <a:solidFill>
                  <a:srgbClr val="1D1F20"/>
                </a:solidFill>
                <a:latin typeface="Arial" pitchFamily="34" charset="0"/>
                <a:ea typeface="Arial" pitchFamily="34" charset="-122"/>
                <a:cs typeface="Arial" pitchFamily="34" charset="-120"/>
              </a:rPr>
              <a:t>174 km </a:t>
            </a:r>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contre </a:t>
            </a:r>
            <a:pPr algn="l" indent="0" marL="0">
              <a:lnSpc>
                <a:spcPct val="124091"/>
              </a:lnSpc>
              <a:buNone/>
            </a:pPr>
            <a:r>
              <a:rPr lang="en-US" sz="1950" b="1" dirty="0">
                <a:solidFill>
                  <a:srgbClr val="1D1F20"/>
                </a:solidFill>
                <a:latin typeface="Arial" pitchFamily="34" charset="0"/>
                <a:ea typeface="Arial" pitchFamily="34" charset="-122"/>
                <a:cs typeface="Arial" pitchFamily="34" charset="-120"/>
              </a:rPr>
              <a:t>14 km </a:t>
            </a:r>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 Les écarts sont nets en moyenne, mais les distributions se recouvrent : la moitié des fraudes coûtent moins de 52 €.</a:t>
            </a:r>
            <a:endParaRPr lang="en-US" sz="1950" dirty="0"/>
          </a:p>
        </p:txBody>
      </p:sp>
      <p:sp>
        <p:nvSpPr>
          <p:cNvPr id="10" name="Shape 7"/>
          <p:cNvSpPr/>
          <p:nvPr/>
        </p:nvSpPr>
        <p:spPr>
          <a:xfrm>
            <a:off x="9753600" y="2402384"/>
            <a:ext cx="7086600" cy="5450185"/>
          </a:xfrm>
          <a:prstGeom prst="rect">
            <a:avLst/>
          </a:prstGeom>
          <a:solidFill>
            <a:srgbClr val="F5F5F8"/>
          </a:solidFill>
          <a:ln w="6350">
            <a:solidFill>
              <a:srgbClr val="1D1F20">
                <a:alpha val="16000"/>
              </a:srgbClr>
            </a:solidFill>
            <a:prstDash val="solid"/>
          </a:ln>
        </p:spPr>
      </p:sp>
      <p:sp>
        <p:nvSpPr>
          <p:cNvPr id="11" name="Shape 8"/>
          <p:cNvSpPr/>
          <p:nvPr/>
        </p:nvSpPr>
        <p:spPr>
          <a:xfrm>
            <a:off x="9702800" y="23515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2" name="Shape 9"/>
          <p:cNvSpPr/>
          <p:nvPr/>
        </p:nvSpPr>
        <p:spPr>
          <a:xfrm>
            <a:off x="16786225" y="7798594"/>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13" name="Image 1" descr="preencoded.png">    </p:cNvPr>
          <p:cNvPicPr>
            <a:picLocks noChangeAspect="1"/>
          </p:cNvPicPr>
          <p:nvPr/>
        </p:nvPicPr>
        <p:blipFill>
          <a:blip r:embed="rId2"/>
          <a:srcRect l="0" r="0" t="-25550" b="-25550"/>
          <a:stretch/>
        </p:blipFill>
        <p:spPr>
          <a:xfrm>
            <a:off x="9950451" y="2599234"/>
            <a:ext cx="6692900" cy="5056486"/>
          </a:xfrm>
          <a:prstGeom prst="rect">
            <a:avLst/>
          </a:prstGeom>
        </p:spPr>
      </p:pic>
      <p:sp>
        <p:nvSpPr>
          <p:cNvPr id="14" name="Text 10"/>
          <p:cNvSpPr/>
          <p:nvPr/>
        </p:nvSpPr>
        <p:spPr>
          <a:xfrm>
            <a:off x="9372600" y="8176419"/>
            <a:ext cx="8084058" cy="146288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Les détecteurs statistiques classiques (écart-type, boîte à moustaches) atteignent au mieux </a:t>
            </a:r>
            <a:pPr algn="l" indent="0" marL="0">
              <a:lnSpc>
                <a:spcPct val="124091"/>
              </a:lnSpc>
              <a:buNone/>
            </a:pPr>
            <a:r>
              <a:rPr lang="en-US" sz="1950" b="1" dirty="0">
                <a:solidFill>
                  <a:srgbClr val="1D1F20"/>
                </a:solidFill>
                <a:latin typeface="Arial" pitchFamily="34" charset="0"/>
                <a:ea typeface="Arial" pitchFamily="34" charset="-122"/>
                <a:cs typeface="Arial" pitchFamily="34" charset="-120"/>
              </a:rPr>
              <a:t>21 % de précision </a:t>
            </a:r>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et </a:t>
            </a:r>
            <a:pPr algn="l" indent="0" marL="0">
              <a:lnSpc>
                <a:spcPct val="124091"/>
              </a:lnSpc>
              <a:buNone/>
            </a:pPr>
            <a:r>
              <a:rPr lang="en-US" sz="1950" b="1" dirty="0">
                <a:solidFill>
                  <a:srgbClr val="1D1F20"/>
                </a:solidFill>
                <a:latin typeface="Arial" pitchFamily="34" charset="0"/>
                <a:ea typeface="Arial" pitchFamily="34" charset="-122"/>
                <a:cs typeface="Arial" pitchFamily="34" charset="-120"/>
              </a:rPr>
              <a:t>30 % de rappel </a:t>
            </a:r>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 jusqu'à 27 000 fausses alertes pour 1 800 fraudes trouvées. </a:t>
            </a:r>
            <a:pPr algn="l" indent="0" marL="0">
              <a:lnSpc>
                <a:spcPct val="124091"/>
              </a:lnSpc>
              <a:buNone/>
            </a:pPr>
            <a:r>
              <a:rPr lang="en-US" sz="1950" b="1" dirty="0">
                <a:solidFill>
                  <a:srgbClr val="1D1F20"/>
                </a:solidFill>
                <a:latin typeface="Arial" pitchFamily="34" charset="0"/>
                <a:ea typeface="Arial" pitchFamily="34" charset="-122"/>
                <a:cs typeface="Arial" pitchFamily="34" charset="-120"/>
              </a:rPr>
              <a:t>Conclusion : il faut un modèle multivarié </a:t>
            </a:r>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 c'est la justification directe du BC03.</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D2D3D"/>
        </a:solidFill>
      </p:bgPr>
    </p:bg>
    <p:spTree>
      <p:nvGrpSpPr>
        <p:cNvPr id="1" name=""/>
        <p:cNvGrpSpPr/>
        <p:nvPr/>
      </p:nvGrpSpPr>
      <p:grpSpPr>
        <a:xfrm>
          <a:off x="0" y="0"/>
          <a:ext cx="0" cy="0"/>
          <a:chOff x="0" y="0"/>
          <a:chExt cx="0" cy="0"/>
        </a:xfrm>
      </p:grpSpPr>
      <p:sp>
        <p:nvSpPr>
          <p:cNvPr id="2" name="Text 0"/>
          <p:cNvSpPr/>
          <p:nvPr/>
        </p:nvSpPr>
        <p:spPr>
          <a:xfrm>
            <a:off x="1066800" y="3175992"/>
            <a:ext cx="17769840" cy="336550"/>
          </a:xfrm>
          <a:prstGeom prst="rect">
            <a:avLst/>
          </a:prstGeom>
          <a:noFill/>
          <a:ln/>
        </p:spPr>
        <p:txBody>
          <a:bodyPr wrap="square" lIns="25400" tIns="25400" rIns="25400" bIns="25400" rtlCol="0" anchor="t">
            <a:normAutofit/>
          </a:bodyPr>
          <a:lstStyle/>
          <a:p>
            <a:pPr algn="l" indent="0" marL="0">
              <a:buNone/>
            </a:pPr>
            <a:r>
              <a:rPr lang="en-US" sz="1950" spc="390" kern="0" dirty="0">
                <a:solidFill>
                  <a:srgbClr val="94BCE3"/>
                </a:solidFill>
                <a:latin typeface="Arial" pitchFamily="34" charset="0"/>
                <a:ea typeface="Arial" pitchFamily="34" charset="-122"/>
                <a:cs typeface="Arial" pitchFamily="34" charset="-120"/>
              </a:rPr>
              <a:t>BLOC DE COMPÉTENCES 03</a:t>
            </a:r>
            <a:endParaRPr lang="en-US" sz="1950" dirty="0"/>
          </a:p>
        </p:txBody>
      </p:sp>
      <p:sp>
        <p:nvSpPr>
          <p:cNvPr id="3" name="Text 1"/>
          <p:cNvSpPr/>
          <p:nvPr/>
        </p:nvSpPr>
        <p:spPr>
          <a:xfrm>
            <a:off x="1066800" y="3855442"/>
            <a:ext cx="14668500" cy="1527770"/>
          </a:xfrm>
          <a:prstGeom prst="rect">
            <a:avLst/>
          </a:prstGeom>
          <a:noFill/>
          <a:ln/>
        </p:spPr>
        <p:txBody>
          <a:bodyPr wrap="square" lIns="25400" tIns="25400" rIns="25400" bIns="25400" rtlCol="0" anchor="t">
            <a:normAutofit/>
          </a:bodyPr>
          <a:lstStyle/>
          <a:p>
            <a:pPr algn="l" indent="0" marL="0">
              <a:lnSpc>
                <a:spcPct val="80068"/>
              </a:lnSpc>
              <a:buNone/>
            </a:pPr>
            <a:r>
              <a:rPr lang="en-US" sz="12750" b="1" spc="-255" kern="0" dirty="0">
                <a:solidFill>
                  <a:srgbClr val="F2F2F3"/>
                </a:solidFill>
                <a:latin typeface="Arial" pitchFamily="34" charset="0"/>
                <a:ea typeface="Arial" pitchFamily="34" charset="-122"/>
                <a:cs typeface="Arial" pitchFamily="34" charset="-120"/>
              </a:rPr>
              <a:t>Modèles supervisés</a:t>
            </a:r>
            <a:endParaRPr lang="en-US" sz="12750" dirty="0"/>
          </a:p>
        </p:txBody>
      </p:sp>
      <p:sp>
        <p:nvSpPr>
          <p:cNvPr id="4" name="Shape 2"/>
          <p:cNvSpPr/>
          <p:nvPr/>
        </p:nvSpPr>
        <p:spPr>
          <a:xfrm>
            <a:off x="1066800" y="5726113"/>
            <a:ext cx="1524000" cy="9525"/>
          </a:xfrm>
          <a:prstGeom prst="rect">
            <a:avLst/>
          </a:prstGeom>
          <a:solidFill>
            <a:srgbClr val="597EA3"/>
          </a:solidFill>
          <a:ln/>
        </p:spPr>
      </p:sp>
      <p:sp>
        <p:nvSpPr>
          <p:cNvPr id="5" name="Text 3"/>
          <p:cNvSpPr/>
          <p:nvPr/>
        </p:nvSpPr>
        <p:spPr>
          <a:xfrm>
            <a:off x="1066800" y="6116638"/>
            <a:ext cx="12263438" cy="1032470"/>
          </a:xfrm>
          <a:prstGeom prst="rect">
            <a:avLst/>
          </a:prstGeom>
          <a:noFill/>
          <a:ln/>
        </p:spPr>
        <p:txBody>
          <a:bodyPr wrap="square" lIns="25400" tIns="25400" rIns="25400" bIns="25400" rtlCol="0" anchor="t">
            <a:normAutofit/>
          </a:bodyPr>
          <a:lstStyle/>
          <a:p>
            <a:pPr algn="l" indent="0" marL="0">
              <a:lnSpc>
                <a:spcPct val="126290"/>
              </a:lnSpc>
              <a:buNone/>
            </a:pPr>
            <a:r>
              <a:rPr lang="en-US" sz="2700" dirty="0">
                <a:solidFill>
                  <a:srgbClr val="D6EBFF"/>
                </a:solidFill>
                <a:latin typeface="Arial" pitchFamily="34" charset="0"/>
                <a:ea typeface="Arial" pitchFamily="34" charset="-122"/>
                <a:cs typeface="Arial" pitchFamily="34" charset="-120"/>
              </a:rPr>
              <a:t>Entraîner, comparer, expliquer — et arbitrer le seuil de décision plutôt que le subir.</a:t>
            </a:r>
            <a:endParaRPr lang="en-US" sz="2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3458121"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BC03 · MODÈLES SUPERVISÉS</a:t>
            </a:r>
            <a:endParaRPr lang="en-US" sz="1800" dirty="0"/>
          </a:p>
        </p:txBody>
      </p:sp>
      <p:sp>
        <p:nvSpPr>
          <p:cNvPr id="3" name="Text 1"/>
          <p:cNvSpPr/>
          <p:nvPr/>
        </p:nvSpPr>
        <p:spPr>
          <a:xfrm>
            <a:off x="15745520" y="685800"/>
            <a:ext cx="1623249"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COMPARAISON</a:t>
            </a:r>
            <a:endParaRPr lang="en-US" sz="1800" dirty="0"/>
          </a:p>
        </p:txBody>
      </p:sp>
      <p:sp>
        <p:nvSpPr>
          <p:cNvPr id="4" name="Text 2"/>
          <p:cNvSpPr/>
          <p:nvPr/>
        </p:nvSpPr>
        <p:spPr>
          <a:xfrm>
            <a:off x="1066800" y="124460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Trois modèles, un gagnant net</a:t>
            </a:r>
            <a:endParaRPr lang="en-US" sz="5850" dirty="0"/>
          </a:p>
        </p:txBody>
      </p:sp>
      <p:sp>
        <p:nvSpPr>
          <p:cNvPr id="5" name="Text 3"/>
          <p:cNvSpPr/>
          <p:nvPr/>
        </p:nvSpPr>
        <p:spPr>
          <a:xfrm>
            <a:off x="1066800" y="2288084"/>
            <a:ext cx="7501750" cy="1542256"/>
          </a:xfrm>
          <a:prstGeom prst="rect">
            <a:avLst/>
          </a:prstGeom>
          <a:noFill/>
          <a:ln/>
        </p:spPr>
        <p:txBody>
          <a:bodyPr wrap="square" lIns="25400" tIns="25400" rIns="25400" bIns="25400" rtlCol="0" anchor="t">
            <a:normAutofit/>
          </a:bodyPr>
          <a:lstStyle/>
          <a:p>
            <a:pPr algn="l" indent="0" marL="0">
              <a:lnSpc>
                <a:spcPct val="124947"/>
              </a:lnSpc>
              <a:buNone/>
            </a:pPr>
            <a:r>
              <a:rPr lang="en-US" sz="2025" dirty="0">
                <a:solidFill>
                  <a:srgbClr val="1D1F20"/>
                </a:solidFill>
                <a:latin typeface="Arial" pitchFamily="34" charset="0"/>
                <a:ea typeface="Arial" pitchFamily="34" charset="-122"/>
                <a:cs typeface="Arial" pitchFamily="34" charset="-120"/>
              </a:rPr>
              <a:t>Découpage </a:t>
            </a:r>
            <a:pPr algn="l" indent="0" marL="0">
              <a:lnSpc>
                <a:spcPct val="124947"/>
              </a:lnSpc>
              <a:buNone/>
            </a:pPr>
            <a:r>
              <a:rPr lang="en-US" sz="2025" b="1" dirty="0">
                <a:solidFill>
                  <a:srgbClr val="1D1F20"/>
                </a:solidFill>
                <a:latin typeface="Arial" pitchFamily="34" charset="0"/>
                <a:ea typeface="Arial" pitchFamily="34" charset="-122"/>
                <a:cs typeface="Arial" pitchFamily="34" charset="-120"/>
              </a:rPr>
              <a:t>temporel </a:t>
            </a:r>
            <a:pPr algn="l" indent="0" marL="0">
              <a:lnSpc>
                <a:spcPct val="124947"/>
              </a:lnSpc>
              <a:buNone/>
            </a:pPr>
            <a:r>
              <a:rPr lang="en-US" sz="2025" dirty="0">
                <a:solidFill>
                  <a:srgbClr val="1D1F20"/>
                </a:solidFill>
                <a:latin typeface="Arial" pitchFamily="34" charset="0"/>
                <a:ea typeface="Arial" pitchFamily="34" charset="-122"/>
                <a:cs typeface="Arial" pitchFamily="34" charset="-120"/>
              </a:rPr>
              <a:t>et non aléatoire : 320 000 transactions passées pour l'entraînement, 80 000 futures pour le test. C'est la seule façon d'imiter les conditions réelles — un modèle ne connaît jamais l'avenir.</a:t>
            </a:r>
            <a:endParaRPr lang="en-US" sz="2025" dirty="0"/>
          </a:p>
        </p:txBody>
      </p:sp>
      <p:sp>
        <p:nvSpPr>
          <p:cNvPr id="6" name="Shape 4"/>
          <p:cNvSpPr/>
          <p:nvPr/>
        </p:nvSpPr>
        <p:spPr>
          <a:xfrm>
            <a:off x="1066800" y="4389140"/>
            <a:ext cx="7283252" cy="9525"/>
          </a:xfrm>
          <a:prstGeom prst="rect">
            <a:avLst/>
          </a:prstGeom>
          <a:solidFill>
            <a:srgbClr val="1D1F20">
              <a:alpha val="30000"/>
            </a:srgbClr>
          </a:solidFill>
          <a:ln/>
        </p:spPr>
      </p:sp>
      <p:sp>
        <p:nvSpPr>
          <p:cNvPr id="7" name="Text 5"/>
          <p:cNvSpPr/>
          <p:nvPr/>
        </p:nvSpPr>
        <p:spPr>
          <a:xfrm>
            <a:off x="1066800" y="4001790"/>
            <a:ext cx="2655391" cy="330200"/>
          </a:xfrm>
          <a:prstGeom prst="rect">
            <a:avLst/>
          </a:prstGeom>
          <a:noFill/>
          <a:ln/>
        </p:spPr>
        <p:txBody>
          <a:bodyPr wrap="square" lIns="25400" tIns="25400" rIns="25400" bIns="25400" rtlCol="0" anchor="t">
            <a:normAutofit/>
          </a:bodyPr>
          <a:lstStyle/>
          <a:p>
            <a:pPr algn="l" indent="0" marL="0">
              <a:buNone/>
            </a:pPr>
            <a:r>
              <a:rPr lang="en-US" sz="1875" spc="188" kern="0" dirty="0">
                <a:solidFill>
                  <a:srgbClr val="5D5D60"/>
                </a:solidFill>
                <a:latin typeface="Arial" pitchFamily="34" charset="0"/>
                <a:ea typeface="Arial" pitchFamily="34" charset="-122"/>
                <a:cs typeface="Arial" pitchFamily="34" charset="-120"/>
              </a:rPr>
              <a:t>MODÈLE</a:t>
            </a:r>
            <a:endParaRPr lang="en-US" sz="1875" dirty="0"/>
          </a:p>
        </p:txBody>
      </p:sp>
      <p:sp>
        <p:nvSpPr>
          <p:cNvPr id="8" name="Text 6"/>
          <p:cNvSpPr/>
          <p:nvPr/>
        </p:nvSpPr>
        <p:spPr>
          <a:xfrm>
            <a:off x="3595092" y="4001790"/>
            <a:ext cx="1659592" cy="330200"/>
          </a:xfrm>
          <a:prstGeom prst="rect">
            <a:avLst/>
          </a:prstGeom>
          <a:noFill/>
          <a:ln/>
        </p:spPr>
        <p:txBody>
          <a:bodyPr wrap="square" lIns="25400" tIns="25400" rIns="25400" bIns="25400" rtlCol="0" anchor="t">
            <a:normAutofit/>
          </a:bodyPr>
          <a:lstStyle/>
          <a:p>
            <a:pPr algn="l" indent="0" marL="0">
              <a:buNone/>
            </a:pPr>
            <a:r>
              <a:rPr lang="en-US" sz="1875" spc="188" kern="0" dirty="0">
                <a:solidFill>
                  <a:srgbClr val="5D5D60"/>
                </a:solidFill>
                <a:latin typeface="Arial" pitchFamily="34" charset="0"/>
                <a:ea typeface="Arial" pitchFamily="34" charset="-122"/>
                <a:cs typeface="Arial" pitchFamily="34" charset="-120"/>
              </a:rPr>
              <a:t>AUC</a:t>
            </a:r>
            <a:endParaRPr lang="en-US" sz="1875" dirty="0"/>
          </a:p>
        </p:txBody>
      </p:sp>
      <p:sp>
        <p:nvSpPr>
          <p:cNvPr id="9" name="Text 7"/>
          <p:cNvSpPr/>
          <p:nvPr/>
        </p:nvSpPr>
        <p:spPr>
          <a:xfrm>
            <a:off x="5218113" y="4001790"/>
            <a:ext cx="1659701" cy="330200"/>
          </a:xfrm>
          <a:prstGeom prst="rect">
            <a:avLst/>
          </a:prstGeom>
          <a:noFill/>
          <a:ln/>
        </p:spPr>
        <p:txBody>
          <a:bodyPr wrap="square" lIns="25400" tIns="25400" rIns="25400" bIns="25400" rtlCol="0" anchor="t">
            <a:normAutofit/>
          </a:bodyPr>
          <a:lstStyle/>
          <a:p>
            <a:pPr algn="l" indent="0" marL="0">
              <a:buNone/>
            </a:pPr>
            <a:r>
              <a:rPr lang="en-US" sz="1875" spc="188" kern="0" dirty="0">
                <a:solidFill>
                  <a:srgbClr val="5D5D60"/>
                </a:solidFill>
                <a:latin typeface="Arial" pitchFamily="34" charset="0"/>
                <a:ea typeface="Arial" pitchFamily="34" charset="-122"/>
                <a:cs typeface="Arial" pitchFamily="34" charset="-120"/>
              </a:rPr>
              <a:t>PRÉCISION</a:t>
            </a:r>
            <a:endParaRPr lang="en-US" sz="1875" dirty="0"/>
          </a:p>
        </p:txBody>
      </p:sp>
      <p:sp>
        <p:nvSpPr>
          <p:cNvPr id="10" name="Text 8"/>
          <p:cNvSpPr/>
          <p:nvPr/>
        </p:nvSpPr>
        <p:spPr>
          <a:xfrm>
            <a:off x="6841232" y="4001790"/>
            <a:ext cx="1659701" cy="330200"/>
          </a:xfrm>
          <a:prstGeom prst="rect">
            <a:avLst/>
          </a:prstGeom>
          <a:noFill/>
          <a:ln/>
        </p:spPr>
        <p:txBody>
          <a:bodyPr wrap="square" lIns="25400" tIns="25400" rIns="25400" bIns="25400" rtlCol="0" anchor="t">
            <a:normAutofit/>
          </a:bodyPr>
          <a:lstStyle/>
          <a:p>
            <a:pPr algn="l" indent="0" marL="0">
              <a:buNone/>
            </a:pPr>
            <a:r>
              <a:rPr lang="en-US" sz="1875" spc="188" kern="0" dirty="0">
                <a:solidFill>
                  <a:srgbClr val="5D5D60"/>
                </a:solidFill>
                <a:latin typeface="Arial" pitchFamily="34" charset="0"/>
                <a:ea typeface="Arial" pitchFamily="34" charset="-122"/>
                <a:cs typeface="Arial" pitchFamily="34" charset="-120"/>
              </a:rPr>
              <a:t>RAPPEL</a:t>
            </a:r>
            <a:endParaRPr lang="en-US" sz="1875" dirty="0"/>
          </a:p>
        </p:txBody>
      </p:sp>
      <p:sp>
        <p:nvSpPr>
          <p:cNvPr id="11" name="Shape 9"/>
          <p:cNvSpPr/>
          <p:nvPr/>
        </p:nvSpPr>
        <p:spPr>
          <a:xfrm>
            <a:off x="1066800" y="5335290"/>
            <a:ext cx="7283252" cy="9525"/>
          </a:xfrm>
          <a:prstGeom prst="rect">
            <a:avLst/>
          </a:prstGeom>
          <a:solidFill>
            <a:srgbClr val="1D1F20">
              <a:alpha val="10000"/>
            </a:srgbClr>
          </a:solidFill>
          <a:ln/>
        </p:spPr>
      </p:sp>
      <p:sp>
        <p:nvSpPr>
          <p:cNvPr id="12" name="Text 10"/>
          <p:cNvSpPr/>
          <p:nvPr/>
        </p:nvSpPr>
        <p:spPr>
          <a:xfrm>
            <a:off x="1066800" y="4547890"/>
            <a:ext cx="2490192" cy="6731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Régression logistique</a:t>
            </a:r>
            <a:endParaRPr lang="en-US" sz="2100" dirty="0"/>
          </a:p>
        </p:txBody>
      </p:sp>
      <p:sp>
        <p:nvSpPr>
          <p:cNvPr id="13" name="Text 11"/>
          <p:cNvSpPr/>
          <p:nvPr/>
        </p:nvSpPr>
        <p:spPr>
          <a:xfrm>
            <a:off x="3595092" y="4547890"/>
            <a:ext cx="1584920" cy="6731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0,983</a:t>
            </a:r>
            <a:endParaRPr lang="en-US" sz="2100" dirty="0"/>
          </a:p>
        </p:txBody>
      </p:sp>
      <p:sp>
        <p:nvSpPr>
          <p:cNvPr id="14" name="Text 12"/>
          <p:cNvSpPr/>
          <p:nvPr/>
        </p:nvSpPr>
        <p:spPr>
          <a:xfrm>
            <a:off x="5218113" y="4547890"/>
            <a:ext cx="1585020" cy="6731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80 %</a:t>
            </a:r>
            <a:endParaRPr lang="en-US" sz="2100" dirty="0"/>
          </a:p>
        </p:txBody>
      </p:sp>
      <p:sp>
        <p:nvSpPr>
          <p:cNvPr id="15" name="Text 13"/>
          <p:cNvSpPr/>
          <p:nvPr/>
        </p:nvSpPr>
        <p:spPr>
          <a:xfrm>
            <a:off x="6841232" y="4547890"/>
            <a:ext cx="1585020" cy="6731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46 %</a:t>
            </a:r>
            <a:endParaRPr lang="en-US" sz="2100" dirty="0"/>
          </a:p>
        </p:txBody>
      </p:sp>
      <p:sp>
        <p:nvSpPr>
          <p:cNvPr id="16" name="Shape 14"/>
          <p:cNvSpPr/>
          <p:nvPr/>
        </p:nvSpPr>
        <p:spPr>
          <a:xfrm>
            <a:off x="1066800" y="5963940"/>
            <a:ext cx="7283252" cy="9525"/>
          </a:xfrm>
          <a:prstGeom prst="rect">
            <a:avLst/>
          </a:prstGeom>
          <a:solidFill>
            <a:srgbClr val="1D1F20">
              <a:alpha val="10000"/>
            </a:srgbClr>
          </a:solidFill>
          <a:ln/>
        </p:spPr>
      </p:sp>
      <p:sp>
        <p:nvSpPr>
          <p:cNvPr id="17" name="Text 15"/>
          <p:cNvSpPr/>
          <p:nvPr/>
        </p:nvSpPr>
        <p:spPr>
          <a:xfrm>
            <a:off x="1066800" y="5494040"/>
            <a:ext cx="2655391" cy="3556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Régression + SMOTE</a:t>
            </a:r>
            <a:endParaRPr lang="en-US" sz="2100" dirty="0"/>
          </a:p>
        </p:txBody>
      </p:sp>
      <p:sp>
        <p:nvSpPr>
          <p:cNvPr id="18" name="Text 16"/>
          <p:cNvSpPr/>
          <p:nvPr/>
        </p:nvSpPr>
        <p:spPr>
          <a:xfrm>
            <a:off x="3595092" y="5494040"/>
            <a:ext cx="1659592" cy="3556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0,984</a:t>
            </a:r>
            <a:endParaRPr lang="en-US" sz="2100" dirty="0"/>
          </a:p>
        </p:txBody>
      </p:sp>
      <p:sp>
        <p:nvSpPr>
          <p:cNvPr id="19" name="Text 17"/>
          <p:cNvSpPr/>
          <p:nvPr/>
        </p:nvSpPr>
        <p:spPr>
          <a:xfrm>
            <a:off x="5218113" y="5494040"/>
            <a:ext cx="1659701" cy="3556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23 %</a:t>
            </a:r>
            <a:endParaRPr lang="en-US" sz="2100" dirty="0"/>
          </a:p>
        </p:txBody>
      </p:sp>
      <p:sp>
        <p:nvSpPr>
          <p:cNvPr id="20" name="Text 18"/>
          <p:cNvSpPr/>
          <p:nvPr/>
        </p:nvSpPr>
        <p:spPr>
          <a:xfrm>
            <a:off x="6841232" y="5494040"/>
            <a:ext cx="1659701" cy="355600"/>
          </a:xfrm>
          <a:prstGeom prst="rect">
            <a:avLst/>
          </a:prstGeom>
          <a:noFill/>
          <a:ln/>
        </p:spPr>
        <p:txBody>
          <a:bodyPr wrap="square" lIns="25400" tIns="25400" rIns="25400" bIns="25400" rtlCol="0" anchor="t">
            <a:normAutofit/>
          </a:bodyPr>
          <a:lstStyle/>
          <a:p>
            <a:pPr algn="l" indent="0" marL="0">
              <a:buNone/>
            </a:pPr>
            <a:r>
              <a:rPr lang="en-US" sz="2100" dirty="0">
                <a:solidFill>
                  <a:srgbClr val="1D1F20"/>
                </a:solidFill>
                <a:latin typeface="Arial" pitchFamily="34" charset="0"/>
                <a:ea typeface="Arial" pitchFamily="34" charset="-122"/>
                <a:cs typeface="Arial" pitchFamily="34" charset="-120"/>
              </a:rPr>
              <a:t>87 %</a:t>
            </a:r>
            <a:endParaRPr lang="en-US" sz="2100" dirty="0"/>
          </a:p>
        </p:txBody>
      </p:sp>
      <p:sp>
        <p:nvSpPr>
          <p:cNvPr id="21" name="Shape 19"/>
          <p:cNvSpPr/>
          <p:nvPr/>
        </p:nvSpPr>
        <p:spPr>
          <a:xfrm>
            <a:off x="1066800" y="5970290"/>
            <a:ext cx="7283252" cy="660400"/>
          </a:xfrm>
          <a:prstGeom prst="rect">
            <a:avLst/>
          </a:prstGeom>
          <a:solidFill>
            <a:srgbClr val="1D2D3D"/>
          </a:solidFill>
          <a:ln/>
        </p:spPr>
      </p:sp>
      <p:sp>
        <p:nvSpPr>
          <p:cNvPr id="22" name="Text 20"/>
          <p:cNvSpPr/>
          <p:nvPr/>
        </p:nvSpPr>
        <p:spPr>
          <a:xfrm>
            <a:off x="1181100" y="6122690"/>
            <a:ext cx="2567970" cy="393700"/>
          </a:xfrm>
          <a:prstGeom prst="rect">
            <a:avLst/>
          </a:prstGeom>
          <a:noFill/>
          <a:ln/>
        </p:spPr>
        <p:txBody>
          <a:bodyPr wrap="square" lIns="25400" tIns="25400" rIns="25400" bIns="25400" rtlCol="0" anchor="t">
            <a:normAutofit/>
          </a:bodyPr>
          <a:lstStyle/>
          <a:p>
            <a:pPr algn="l" indent="0" marL="0">
              <a:buNone/>
            </a:pPr>
            <a:r>
              <a:rPr lang="en-US" sz="2100" b="1" dirty="0">
                <a:solidFill>
                  <a:srgbClr val="F2F2F3"/>
                </a:solidFill>
                <a:latin typeface="Arial" pitchFamily="34" charset="0"/>
                <a:ea typeface="Arial" pitchFamily="34" charset="-122"/>
                <a:cs typeface="Arial" pitchFamily="34" charset="-120"/>
              </a:rPr>
              <a:t>LightGBM ✓</a:t>
            </a:r>
            <a:endParaRPr lang="en-US" sz="2100" dirty="0"/>
          </a:p>
        </p:txBody>
      </p:sp>
      <p:sp>
        <p:nvSpPr>
          <p:cNvPr id="23" name="Text 21"/>
          <p:cNvSpPr/>
          <p:nvPr/>
        </p:nvSpPr>
        <p:spPr>
          <a:xfrm>
            <a:off x="3629918" y="6122690"/>
            <a:ext cx="1604913" cy="393700"/>
          </a:xfrm>
          <a:prstGeom prst="rect">
            <a:avLst/>
          </a:prstGeom>
          <a:noFill/>
          <a:ln/>
        </p:spPr>
        <p:txBody>
          <a:bodyPr wrap="square" lIns="25400" tIns="25400" rIns="25400" bIns="25400" rtlCol="0" anchor="t">
            <a:normAutofit/>
          </a:bodyPr>
          <a:lstStyle/>
          <a:p>
            <a:pPr algn="l" indent="0" marL="0">
              <a:buNone/>
            </a:pPr>
            <a:r>
              <a:rPr lang="en-US" sz="2100" b="1" dirty="0">
                <a:solidFill>
                  <a:srgbClr val="F2F2F3"/>
                </a:solidFill>
                <a:latin typeface="Arial" pitchFamily="34" charset="0"/>
                <a:ea typeface="Arial" pitchFamily="34" charset="-122"/>
                <a:cs typeface="Arial" pitchFamily="34" charset="-120"/>
              </a:rPr>
              <a:t>0,998</a:t>
            </a:r>
            <a:endParaRPr lang="en-US" sz="2100" dirty="0"/>
          </a:p>
        </p:txBody>
      </p:sp>
      <p:sp>
        <p:nvSpPr>
          <p:cNvPr id="24" name="Text 22"/>
          <p:cNvSpPr/>
          <p:nvPr/>
        </p:nvSpPr>
        <p:spPr>
          <a:xfrm>
            <a:off x="5203230" y="6122690"/>
            <a:ext cx="1605022" cy="393700"/>
          </a:xfrm>
          <a:prstGeom prst="rect">
            <a:avLst/>
          </a:prstGeom>
          <a:noFill/>
          <a:ln/>
        </p:spPr>
        <p:txBody>
          <a:bodyPr wrap="square" lIns="25400" tIns="25400" rIns="25400" bIns="25400" rtlCol="0" anchor="t">
            <a:normAutofit/>
          </a:bodyPr>
          <a:lstStyle/>
          <a:p>
            <a:pPr algn="l" indent="0" marL="0">
              <a:buNone/>
            </a:pPr>
            <a:r>
              <a:rPr lang="en-US" sz="2100" b="1" dirty="0">
                <a:solidFill>
                  <a:srgbClr val="F2F2F3"/>
                </a:solidFill>
                <a:latin typeface="Arial" pitchFamily="34" charset="0"/>
                <a:ea typeface="Arial" pitchFamily="34" charset="-122"/>
                <a:cs typeface="Arial" pitchFamily="34" charset="-120"/>
              </a:rPr>
              <a:t>61 %</a:t>
            </a:r>
            <a:endParaRPr lang="en-US" sz="2100" dirty="0"/>
          </a:p>
        </p:txBody>
      </p:sp>
      <p:sp>
        <p:nvSpPr>
          <p:cNvPr id="25" name="Text 23"/>
          <p:cNvSpPr/>
          <p:nvPr/>
        </p:nvSpPr>
        <p:spPr>
          <a:xfrm>
            <a:off x="6776641" y="6122690"/>
            <a:ext cx="1605022" cy="393700"/>
          </a:xfrm>
          <a:prstGeom prst="rect">
            <a:avLst/>
          </a:prstGeom>
          <a:noFill/>
          <a:ln/>
        </p:spPr>
        <p:txBody>
          <a:bodyPr wrap="square" lIns="25400" tIns="25400" rIns="25400" bIns="25400" rtlCol="0" anchor="t">
            <a:normAutofit/>
          </a:bodyPr>
          <a:lstStyle/>
          <a:p>
            <a:pPr algn="l" indent="0" marL="0">
              <a:buNone/>
            </a:pPr>
            <a:r>
              <a:rPr lang="en-US" sz="2100" b="1" dirty="0">
                <a:solidFill>
                  <a:srgbClr val="F2F2F3"/>
                </a:solidFill>
                <a:latin typeface="Arial" pitchFamily="34" charset="0"/>
                <a:ea typeface="Arial" pitchFamily="34" charset="-122"/>
                <a:cs typeface="Arial" pitchFamily="34" charset="-120"/>
              </a:rPr>
              <a:t>97 %</a:t>
            </a:r>
            <a:endParaRPr lang="en-US" sz="2100" dirty="0"/>
          </a:p>
        </p:txBody>
      </p:sp>
      <p:sp>
        <p:nvSpPr>
          <p:cNvPr id="26" name="Text 24"/>
          <p:cNvSpPr/>
          <p:nvPr/>
        </p:nvSpPr>
        <p:spPr>
          <a:xfrm>
            <a:off x="1066800" y="6840240"/>
            <a:ext cx="7501750" cy="1169392"/>
          </a:xfrm>
          <a:prstGeom prst="rect">
            <a:avLst/>
          </a:prstGeom>
          <a:noFill/>
          <a:ln/>
        </p:spPr>
        <p:txBody>
          <a:bodyPr wrap="square" lIns="25400" tIns="25400" rIns="25400" bIns="25400" rtlCol="0" anchor="t">
            <a:normAutofit/>
          </a:bodyPr>
          <a:lstStyle/>
          <a:p>
            <a:pPr algn="l" indent="0" marL="0">
              <a:lnSpc>
                <a:spcPct val="124947"/>
              </a:lnSpc>
              <a:buNone/>
            </a:pPr>
            <a:r>
              <a:rPr lang="en-US" sz="2025" dirty="0">
                <a:solidFill>
                  <a:srgbClr val="5D5D60"/>
                </a:solidFill>
                <a:latin typeface="Arial" pitchFamily="34" charset="0"/>
                <a:ea typeface="Arial" pitchFamily="34" charset="-122"/>
                <a:cs typeface="Arial" pitchFamily="34" charset="-120"/>
              </a:rPr>
              <a:t>LightGBM retrouve </a:t>
            </a:r>
            <a:pPr algn="l" indent="0" marL="0">
              <a:lnSpc>
                <a:spcPct val="124947"/>
              </a:lnSpc>
              <a:buNone/>
            </a:pPr>
            <a:r>
              <a:rPr lang="en-US" sz="2025" b="1" dirty="0">
                <a:solidFill>
                  <a:srgbClr val="5D5D60"/>
                </a:solidFill>
                <a:latin typeface="Arial" pitchFamily="34" charset="0"/>
                <a:ea typeface="Arial" pitchFamily="34" charset="-122"/>
                <a:cs typeface="Arial" pitchFamily="34" charset="-120"/>
              </a:rPr>
              <a:t>97 % des fraudes </a:t>
            </a:r>
            <a:pPr algn="l" indent="0" marL="0">
              <a:lnSpc>
                <a:spcPct val="124947"/>
              </a:lnSpc>
              <a:buNone/>
            </a:pPr>
            <a:r>
              <a:rPr lang="en-US" sz="2025" dirty="0">
                <a:solidFill>
                  <a:srgbClr val="5D5D60"/>
                </a:solidFill>
                <a:latin typeface="Arial" pitchFamily="34" charset="0"/>
                <a:ea typeface="Arial" pitchFamily="34" charset="-122"/>
                <a:cs typeface="Arial" pitchFamily="34" charset="-120"/>
              </a:rPr>
              <a:t>tout en gardant une précision trois fois supérieure à la régression rééquilibrée. C'est le modèle retenu et servi en production au BC05.</a:t>
            </a:r>
            <a:endParaRPr lang="en-US" sz="2025" dirty="0"/>
          </a:p>
        </p:txBody>
      </p:sp>
      <p:sp>
        <p:nvSpPr>
          <p:cNvPr id="27" name="Shape 25"/>
          <p:cNvSpPr/>
          <p:nvPr/>
        </p:nvSpPr>
        <p:spPr>
          <a:xfrm>
            <a:off x="9226352" y="2440484"/>
            <a:ext cx="7613749" cy="7008316"/>
          </a:xfrm>
          <a:prstGeom prst="rect">
            <a:avLst/>
          </a:prstGeom>
          <a:solidFill>
            <a:srgbClr val="F5F5F8"/>
          </a:solidFill>
          <a:ln w="6350">
            <a:solidFill>
              <a:srgbClr val="1D1F20">
                <a:alpha val="16000"/>
              </a:srgbClr>
            </a:solidFill>
            <a:prstDash val="solid"/>
          </a:ln>
        </p:spPr>
      </p:sp>
      <p:sp>
        <p:nvSpPr>
          <p:cNvPr id="28" name="Shape 26"/>
          <p:cNvSpPr/>
          <p:nvPr/>
        </p:nvSpPr>
        <p:spPr>
          <a:xfrm>
            <a:off x="9175552" y="23896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9" name="Shape 27"/>
          <p:cNvSpPr/>
          <p:nvPr/>
        </p:nvSpPr>
        <p:spPr>
          <a:xfrm>
            <a:off x="16786127" y="23896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30" name="Shape 28"/>
          <p:cNvSpPr/>
          <p:nvPr/>
        </p:nvSpPr>
        <p:spPr>
          <a:xfrm>
            <a:off x="9175552"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31" name="Shape 29"/>
          <p:cNvSpPr/>
          <p:nvPr/>
        </p:nvSpPr>
        <p:spPr>
          <a:xfrm>
            <a:off x="16786127"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32" name="Image 0" descr="preencoded.png">    </p:cNvPr>
          <p:cNvPicPr>
            <a:picLocks noChangeAspect="1"/>
          </p:cNvPicPr>
          <p:nvPr/>
        </p:nvPicPr>
        <p:blipFill>
          <a:blip r:embed="rId1"/>
          <a:srcRect l="0" r="0" t="-43490" b="-43490"/>
          <a:stretch/>
        </p:blipFill>
        <p:spPr>
          <a:xfrm>
            <a:off x="9461302" y="2675434"/>
            <a:ext cx="7143849" cy="5585917"/>
          </a:xfrm>
          <a:prstGeom prst="rect">
            <a:avLst/>
          </a:prstGeom>
        </p:spPr>
      </p:pic>
      <p:sp>
        <p:nvSpPr>
          <p:cNvPr id="33" name="Text 30"/>
          <p:cNvSpPr/>
          <p:nvPr/>
        </p:nvSpPr>
        <p:spPr>
          <a:xfrm>
            <a:off x="9461302" y="8394700"/>
            <a:ext cx="7358165" cy="85725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Courbes ROC et précision-rappel. Sur données déséquilibrées, c'est la seconde qui compte : la courbe LightGBM y reste haute là où les autres s'effondrent.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3458121"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BC03 · MODÈLES SUPERVISÉS</a:t>
            </a:r>
            <a:endParaRPr lang="en-US" sz="1800" dirty="0"/>
          </a:p>
        </p:txBody>
      </p:sp>
      <p:sp>
        <p:nvSpPr>
          <p:cNvPr id="3" name="Text 1"/>
          <p:cNvSpPr/>
          <p:nvPr/>
        </p:nvSpPr>
        <p:spPr>
          <a:xfrm>
            <a:off x="15550059" y="685800"/>
            <a:ext cx="1838256"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RÉÉQUILIBRAGE</a:t>
            </a:r>
            <a:endParaRPr lang="en-US" sz="1800" dirty="0"/>
          </a:p>
        </p:txBody>
      </p:sp>
      <p:sp>
        <p:nvSpPr>
          <p:cNvPr id="4" name="Text 2"/>
          <p:cNvSpPr/>
          <p:nvPr/>
        </p:nvSpPr>
        <p:spPr>
          <a:xfrm>
            <a:off x="1066800" y="124460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SMOTE : testé, mesuré, écarté</a:t>
            </a:r>
            <a:endParaRPr lang="en-US" sz="5850" dirty="0"/>
          </a:p>
        </p:txBody>
      </p:sp>
      <p:sp>
        <p:nvSpPr>
          <p:cNvPr id="5" name="Shape 3"/>
          <p:cNvSpPr/>
          <p:nvPr/>
        </p:nvSpPr>
        <p:spPr>
          <a:xfrm>
            <a:off x="1447800" y="2440484"/>
            <a:ext cx="8505627" cy="7008316"/>
          </a:xfrm>
          <a:prstGeom prst="rect">
            <a:avLst/>
          </a:prstGeom>
          <a:solidFill>
            <a:srgbClr val="F5F5F8"/>
          </a:solidFill>
          <a:ln w="6350">
            <a:solidFill>
              <a:srgbClr val="1D1F20">
                <a:alpha val="16000"/>
              </a:srgbClr>
            </a:solidFill>
            <a:prstDash val="solid"/>
          </a:ln>
        </p:spPr>
      </p:sp>
      <p:sp>
        <p:nvSpPr>
          <p:cNvPr id="6" name="Shape 4"/>
          <p:cNvSpPr/>
          <p:nvPr/>
        </p:nvSpPr>
        <p:spPr>
          <a:xfrm>
            <a:off x="1397000" y="23896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7" name="Shape 5"/>
          <p:cNvSpPr/>
          <p:nvPr/>
        </p:nvSpPr>
        <p:spPr>
          <a:xfrm>
            <a:off x="9899452" y="23896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8" name="Shape 6"/>
          <p:cNvSpPr/>
          <p:nvPr/>
        </p:nvSpPr>
        <p:spPr>
          <a:xfrm>
            <a:off x="1397000"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9" name="Shape 7"/>
          <p:cNvSpPr/>
          <p:nvPr/>
        </p:nvSpPr>
        <p:spPr>
          <a:xfrm>
            <a:off x="9899452"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10" name="Image 0" descr="preencoded.png">    </p:cNvPr>
          <p:cNvPicPr>
            <a:picLocks noChangeAspect="1"/>
          </p:cNvPicPr>
          <p:nvPr/>
        </p:nvPicPr>
        <p:blipFill>
          <a:blip r:embed="rId1"/>
          <a:srcRect l="0" r="0" t="-13798" b="-13798"/>
          <a:stretch/>
        </p:blipFill>
        <p:spPr>
          <a:xfrm>
            <a:off x="1682750" y="2675434"/>
            <a:ext cx="8035727" cy="5858967"/>
          </a:xfrm>
          <a:prstGeom prst="rect">
            <a:avLst/>
          </a:prstGeom>
        </p:spPr>
      </p:pic>
      <p:sp>
        <p:nvSpPr>
          <p:cNvPr id="11" name="Text 8"/>
          <p:cNvSpPr/>
          <p:nvPr/>
        </p:nvSpPr>
        <p:spPr>
          <a:xfrm>
            <a:off x="1682750" y="8667750"/>
            <a:ext cx="8276799" cy="58420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Effet du rééquilibrage SMOTE sur la régression logistique : le rappel bondit, la précision s'effondre.</a:t>
            </a:r>
            <a:endParaRPr lang="en-US" sz="1800" dirty="0"/>
          </a:p>
        </p:txBody>
      </p:sp>
      <p:sp>
        <p:nvSpPr>
          <p:cNvPr id="12" name="Text 9"/>
          <p:cNvSpPr/>
          <p:nvPr/>
        </p:nvSpPr>
        <p:spPr>
          <a:xfrm>
            <a:off x="10829727" y="3186708"/>
            <a:ext cx="7030512"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EN UNE PHRASE</a:t>
            </a:r>
            <a:endParaRPr lang="en-US" sz="1800" dirty="0"/>
          </a:p>
        </p:txBody>
      </p:sp>
      <p:sp>
        <p:nvSpPr>
          <p:cNvPr id="13" name="Text 10"/>
          <p:cNvSpPr/>
          <p:nvPr/>
        </p:nvSpPr>
        <p:spPr>
          <a:xfrm>
            <a:off x="10829727" y="3688358"/>
            <a:ext cx="6583116" cy="1788716"/>
          </a:xfrm>
          <a:prstGeom prst="rect">
            <a:avLst/>
          </a:prstGeom>
          <a:noFill/>
          <a:ln/>
        </p:spPr>
        <p:txBody>
          <a:bodyPr wrap="square" lIns="25400" tIns="25400" rIns="25400" bIns="25400" rtlCol="0" anchor="t">
            <a:normAutofit/>
          </a:bodyPr>
          <a:lstStyle/>
          <a:p>
            <a:pPr algn="l" indent="0" marL="0">
              <a:lnSpc>
                <a:spcPct val="124861"/>
              </a:lnSpc>
              <a:buNone/>
            </a:pPr>
            <a:r>
              <a:rPr lang="en-US" sz="2325" dirty="0">
                <a:solidFill>
                  <a:srgbClr val="1D1F20"/>
                </a:solidFill>
                <a:latin typeface="Arial" pitchFamily="34" charset="0"/>
                <a:ea typeface="Arial" pitchFamily="34" charset="-122"/>
                <a:cs typeface="Arial" pitchFamily="34" charset="-120"/>
              </a:rPr>
              <a:t>SMOTE crée des fraudes synthétiques pour équilibrer artificiellement les classes. Le rappel passe de </a:t>
            </a:r>
            <a:pPr algn="l" indent="0" marL="0">
              <a:lnSpc>
                <a:spcPct val="124861"/>
              </a:lnSpc>
              <a:buNone/>
            </a:pPr>
            <a:r>
              <a:rPr lang="en-US" sz="2325" b="1" dirty="0">
                <a:solidFill>
                  <a:srgbClr val="1D1F20"/>
                </a:solidFill>
                <a:latin typeface="Arial" pitchFamily="34" charset="0"/>
                <a:ea typeface="Arial" pitchFamily="34" charset="-122"/>
                <a:cs typeface="Arial" pitchFamily="34" charset="-120"/>
              </a:rPr>
              <a:t>46 % à 87 % </a:t>
            </a:r>
            <a:pPr algn="l" indent="0" marL="0">
              <a:lnSpc>
                <a:spcPct val="124861"/>
              </a:lnSpc>
              <a:buNone/>
            </a:pPr>
            <a:r>
              <a:rPr lang="en-US" sz="2325" dirty="0">
                <a:solidFill>
                  <a:srgbClr val="1D1F20"/>
                </a:solidFill>
                <a:latin typeface="Arial" pitchFamily="34" charset="0"/>
                <a:ea typeface="Arial" pitchFamily="34" charset="-122"/>
                <a:cs typeface="Arial" pitchFamily="34" charset="-120"/>
              </a:rPr>
              <a:t>… mais la précision chute de </a:t>
            </a:r>
            <a:pPr algn="l" indent="0" marL="0">
              <a:lnSpc>
                <a:spcPct val="124861"/>
              </a:lnSpc>
              <a:buNone/>
            </a:pPr>
            <a:r>
              <a:rPr lang="en-US" sz="2325" b="1" dirty="0">
                <a:solidFill>
                  <a:srgbClr val="1D1F20"/>
                </a:solidFill>
                <a:latin typeface="Arial" pitchFamily="34" charset="0"/>
                <a:ea typeface="Arial" pitchFamily="34" charset="-122"/>
                <a:cs typeface="Arial" pitchFamily="34" charset="-120"/>
              </a:rPr>
              <a:t>80 % à 23 %</a:t>
            </a:r>
            <a:pPr algn="l" indent="0" marL="0">
              <a:lnSpc>
                <a:spcPct val="124861"/>
              </a:lnSpc>
              <a:buNone/>
            </a:pPr>
            <a:r>
              <a:rPr lang="en-US" sz="2325" dirty="0">
                <a:solidFill>
                  <a:srgbClr val="1D1F20"/>
                </a:solidFill>
                <a:latin typeface="Arial" pitchFamily="34" charset="0"/>
                <a:ea typeface="Arial" pitchFamily="34" charset="-122"/>
                <a:cs typeface="Arial" pitchFamily="34" charset="-120"/>
              </a:rPr>
              <a:t>.</a:t>
            </a:r>
            <a:endParaRPr lang="en-US" sz="2325" dirty="0"/>
          </a:p>
        </p:txBody>
      </p:sp>
      <p:sp>
        <p:nvSpPr>
          <p:cNvPr id="14" name="Shape 11"/>
          <p:cNvSpPr/>
          <p:nvPr/>
        </p:nvSpPr>
        <p:spPr>
          <a:xfrm>
            <a:off x="10829727" y="5667574"/>
            <a:ext cx="6391374" cy="1687711"/>
          </a:xfrm>
          <a:prstGeom prst="rect">
            <a:avLst/>
          </a:prstGeom>
          <a:ln w="6350">
            <a:solidFill>
              <a:srgbClr val="1D1F20">
                <a:alpha val="16000"/>
              </a:srgbClr>
            </a:solidFill>
            <a:prstDash val="solid"/>
          </a:ln>
        </p:spPr>
      </p:sp>
      <p:sp>
        <p:nvSpPr>
          <p:cNvPr id="15" name="Shape 12"/>
          <p:cNvSpPr/>
          <p:nvPr/>
        </p:nvSpPr>
        <p:spPr>
          <a:xfrm>
            <a:off x="10778927" y="5616773"/>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6" name="Shape 13"/>
          <p:cNvSpPr/>
          <p:nvPr/>
        </p:nvSpPr>
        <p:spPr>
          <a:xfrm>
            <a:off x="17167127" y="7301310"/>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7" name="Text 14"/>
          <p:cNvSpPr/>
          <p:nvPr/>
        </p:nvSpPr>
        <p:spPr>
          <a:xfrm>
            <a:off x="11121827" y="5940623"/>
            <a:ext cx="6387892"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TRADUCTION MÉTIER</a:t>
            </a:r>
            <a:endParaRPr lang="en-US" sz="1800" dirty="0"/>
          </a:p>
        </p:txBody>
      </p:sp>
      <p:sp>
        <p:nvSpPr>
          <p:cNvPr id="18" name="Text 15"/>
          <p:cNvSpPr/>
          <p:nvPr/>
        </p:nvSpPr>
        <p:spPr>
          <a:xfrm>
            <a:off x="11121827" y="6308924"/>
            <a:ext cx="5981390" cy="811411"/>
          </a:xfrm>
          <a:prstGeom prst="rect">
            <a:avLst/>
          </a:prstGeom>
          <a:noFill/>
          <a:ln/>
        </p:spPr>
        <p:txBody>
          <a:bodyPr wrap="square" lIns="25400" tIns="25400" rIns="25400" bIns="25400" rtlCol="0" anchor="t">
            <a:normAutofit/>
          </a:bodyPr>
          <a:lstStyle/>
          <a:p>
            <a:pPr algn="l" indent="0" marL="0">
              <a:lnSpc>
                <a:spcPct val="124286"/>
              </a:lnSpc>
              <a:buNone/>
            </a:pPr>
            <a:r>
              <a:rPr lang="en-US" sz="2175" dirty="0">
                <a:solidFill>
                  <a:srgbClr val="1D1F20"/>
                </a:solidFill>
                <a:latin typeface="Arial" pitchFamily="34" charset="0"/>
                <a:ea typeface="Arial" pitchFamily="34" charset="-122"/>
                <a:cs typeface="Arial" pitchFamily="34" charset="-120"/>
              </a:rPr>
              <a:t>Plus de 3 alertes sur 4 seraient fausses. Une équipe anti-fraude ne peut pas absorber ça.</a:t>
            </a:r>
            <a:endParaRPr lang="en-US" sz="2175" dirty="0"/>
          </a:p>
        </p:txBody>
      </p:sp>
      <p:sp>
        <p:nvSpPr>
          <p:cNvPr id="19" name="Text 16"/>
          <p:cNvSpPr/>
          <p:nvPr/>
        </p:nvSpPr>
        <p:spPr>
          <a:xfrm>
            <a:off x="10829727" y="7583885"/>
            <a:ext cx="6583116" cy="1156692"/>
          </a:xfrm>
          <a:prstGeom prst="rect">
            <a:avLst/>
          </a:prstGeom>
          <a:noFill/>
          <a:ln/>
        </p:spPr>
        <p:txBody>
          <a:bodyPr wrap="square" lIns="25400" tIns="25400" rIns="25400" bIns="25400" rtlCol="0" anchor="t">
            <a:normAutofit/>
          </a:bodyPr>
          <a:lstStyle/>
          <a:p>
            <a:pPr algn="l" indent="0" marL="0">
              <a:lnSpc>
                <a:spcPct val="124947"/>
              </a:lnSpc>
              <a:buNone/>
            </a:pPr>
            <a:r>
              <a:rPr lang="en-US" sz="2025" dirty="0">
                <a:solidFill>
                  <a:srgbClr val="5D5D60"/>
                </a:solidFill>
                <a:latin typeface="Arial" pitchFamily="34" charset="0"/>
                <a:ea typeface="Arial" pitchFamily="34" charset="-122"/>
                <a:cs typeface="Arial" pitchFamily="34" charset="-120"/>
              </a:rPr>
              <a:t>Technique écartée au profit de la pondération native de la classe rare (facteur 66) dans LightGBM — même intention, sans fabriquer de données qui n'existent pas.</a:t>
            </a:r>
            <a:endParaRPr lang="en-US" sz="20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3458121"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BC03 · MODÈLES SUPERVISÉS</a:t>
            </a:r>
            <a:endParaRPr lang="en-US" sz="1800" dirty="0"/>
          </a:p>
        </p:txBody>
      </p:sp>
      <p:sp>
        <p:nvSpPr>
          <p:cNvPr id="3" name="Text 1"/>
          <p:cNvSpPr/>
          <p:nvPr/>
        </p:nvSpPr>
        <p:spPr>
          <a:xfrm>
            <a:off x="15150009" y="685800"/>
            <a:ext cx="2278311"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SEUIL DE DÉCISION</a:t>
            </a:r>
            <a:endParaRPr lang="en-US" sz="1800" dirty="0"/>
          </a:p>
        </p:txBody>
      </p:sp>
      <p:sp>
        <p:nvSpPr>
          <p:cNvPr id="4" name="Text 2"/>
          <p:cNvSpPr/>
          <p:nvPr/>
        </p:nvSpPr>
        <p:spPr>
          <a:xfrm>
            <a:off x="1066800" y="122555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Le seuil est une décision, pas un réglage</a:t>
            </a:r>
            <a:endParaRPr lang="en-US" sz="5850" dirty="0"/>
          </a:p>
        </p:txBody>
      </p:sp>
      <p:sp>
        <p:nvSpPr>
          <p:cNvPr id="5" name="Shape 3"/>
          <p:cNvSpPr/>
          <p:nvPr/>
        </p:nvSpPr>
        <p:spPr>
          <a:xfrm>
            <a:off x="1447800" y="2402384"/>
            <a:ext cx="4665563" cy="7046416"/>
          </a:xfrm>
          <a:prstGeom prst="rect">
            <a:avLst/>
          </a:prstGeom>
          <a:solidFill>
            <a:srgbClr val="F5F5F8"/>
          </a:solidFill>
          <a:ln w="6350">
            <a:solidFill>
              <a:srgbClr val="1D1F20">
                <a:alpha val="16000"/>
              </a:srgbClr>
            </a:solidFill>
            <a:prstDash val="solid"/>
          </a:ln>
        </p:spPr>
      </p:sp>
      <p:sp>
        <p:nvSpPr>
          <p:cNvPr id="6" name="Shape 4"/>
          <p:cNvSpPr/>
          <p:nvPr/>
        </p:nvSpPr>
        <p:spPr>
          <a:xfrm>
            <a:off x="1397000" y="23515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7" name="Shape 5"/>
          <p:cNvSpPr/>
          <p:nvPr/>
        </p:nvSpPr>
        <p:spPr>
          <a:xfrm>
            <a:off x="6059388"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8" name="Image 0" descr="preencoded.png">    </p:cNvPr>
          <p:cNvPicPr>
            <a:picLocks noChangeAspect="1"/>
          </p:cNvPicPr>
          <p:nvPr/>
        </p:nvPicPr>
        <p:blipFill>
          <a:blip r:embed="rId1"/>
          <a:srcRect l="0" r="0" t="-83333" b="-83333"/>
          <a:stretch/>
        </p:blipFill>
        <p:spPr>
          <a:xfrm>
            <a:off x="1644650" y="2599234"/>
            <a:ext cx="4271863" cy="6265366"/>
          </a:xfrm>
          <a:prstGeom prst="rect">
            <a:avLst/>
          </a:prstGeom>
        </p:spPr>
      </p:pic>
      <p:sp>
        <p:nvSpPr>
          <p:cNvPr id="9" name="Text 6"/>
          <p:cNvSpPr/>
          <p:nvPr/>
        </p:nvSpPr>
        <p:spPr>
          <a:xfrm>
            <a:off x="1644650" y="8978900"/>
            <a:ext cx="4699050" cy="31115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Précision, rappel et F1 en fonction du seuil.</a:t>
            </a:r>
            <a:endParaRPr lang="en-US" sz="1800" dirty="0"/>
          </a:p>
        </p:txBody>
      </p:sp>
      <p:sp>
        <p:nvSpPr>
          <p:cNvPr id="10" name="Shape 7"/>
          <p:cNvSpPr/>
          <p:nvPr/>
        </p:nvSpPr>
        <p:spPr>
          <a:xfrm>
            <a:off x="7218263" y="2402384"/>
            <a:ext cx="4665563" cy="7046416"/>
          </a:xfrm>
          <a:prstGeom prst="rect">
            <a:avLst/>
          </a:prstGeom>
          <a:solidFill>
            <a:srgbClr val="F5F5F8"/>
          </a:solidFill>
          <a:ln w="6350">
            <a:solidFill>
              <a:srgbClr val="1D1F20">
                <a:alpha val="16000"/>
              </a:srgbClr>
            </a:solidFill>
            <a:prstDash val="solid"/>
          </a:ln>
        </p:spPr>
      </p:sp>
      <p:sp>
        <p:nvSpPr>
          <p:cNvPr id="11" name="Shape 8"/>
          <p:cNvSpPr/>
          <p:nvPr/>
        </p:nvSpPr>
        <p:spPr>
          <a:xfrm>
            <a:off x="7167464" y="23515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2" name="Shape 9"/>
          <p:cNvSpPr/>
          <p:nvPr/>
        </p:nvSpPr>
        <p:spPr>
          <a:xfrm>
            <a:off x="11829852"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13" name="Image 1" descr="preencoded.png">    </p:cNvPr>
          <p:cNvPicPr>
            <a:picLocks noChangeAspect="1"/>
          </p:cNvPicPr>
          <p:nvPr/>
        </p:nvPicPr>
        <p:blipFill>
          <a:blip r:embed="rId2"/>
          <a:srcRect l="0" r="0" t="-88784" b="-88784"/>
          <a:stretch/>
        </p:blipFill>
        <p:spPr>
          <a:xfrm>
            <a:off x="7415114" y="2599234"/>
            <a:ext cx="4271863" cy="5992317"/>
          </a:xfrm>
          <a:prstGeom prst="rect">
            <a:avLst/>
          </a:prstGeom>
        </p:spPr>
      </p:pic>
      <p:sp>
        <p:nvSpPr>
          <p:cNvPr id="14" name="Text 10"/>
          <p:cNvSpPr/>
          <p:nvPr/>
        </p:nvSpPr>
        <p:spPr>
          <a:xfrm>
            <a:off x="7415114" y="8705850"/>
            <a:ext cx="4400019" cy="58420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Matrices de confusion aux deux seuils comparés.</a:t>
            </a:r>
            <a:endParaRPr lang="en-US" sz="1800" dirty="0"/>
          </a:p>
        </p:txBody>
      </p:sp>
      <p:sp>
        <p:nvSpPr>
          <p:cNvPr id="15" name="Shape 11"/>
          <p:cNvSpPr/>
          <p:nvPr/>
        </p:nvSpPr>
        <p:spPr>
          <a:xfrm>
            <a:off x="12607727" y="3673376"/>
            <a:ext cx="25400" cy="1535311"/>
          </a:xfrm>
          <a:prstGeom prst="rect">
            <a:avLst/>
          </a:prstGeom>
          <a:solidFill>
            <a:srgbClr val="5980A6"/>
          </a:solidFill>
          <a:ln/>
        </p:spPr>
      </p:sp>
      <p:sp>
        <p:nvSpPr>
          <p:cNvPr id="16" name="Text 12"/>
          <p:cNvSpPr/>
          <p:nvPr/>
        </p:nvSpPr>
        <p:spPr>
          <a:xfrm>
            <a:off x="12842677" y="3673376"/>
            <a:ext cx="4816376" cy="476250"/>
          </a:xfrm>
          <a:prstGeom prst="rect">
            <a:avLst/>
          </a:prstGeom>
          <a:noFill/>
          <a:ln/>
        </p:spPr>
        <p:txBody>
          <a:bodyPr wrap="square" lIns="25400" tIns="25400" rIns="25400" bIns="25400" rtlCol="0" anchor="t">
            <a:normAutofit/>
          </a:bodyPr>
          <a:lstStyle/>
          <a:p>
            <a:pPr algn="l" indent="0" marL="0">
              <a:lnSpc>
                <a:spcPct val="87342"/>
              </a:lnSpc>
              <a:buNone/>
            </a:pPr>
            <a:r>
              <a:rPr lang="en-US" sz="3450" dirty="0">
                <a:solidFill>
                  <a:srgbClr val="1D1F20"/>
                </a:solidFill>
                <a:latin typeface="Arial" pitchFamily="34" charset="0"/>
                <a:ea typeface="Arial" pitchFamily="34" charset="-122"/>
                <a:cs typeface="Arial" pitchFamily="34" charset="-120"/>
              </a:rPr>
              <a:t>Seuil 0,50</a:t>
            </a:r>
            <a:endParaRPr lang="en-US" sz="3450" dirty="0"/>
          </a:p>
        </p:txBody>
      </p:sp>
      <p:sp>
        <p:nvSpPr>
          <p:cNvPr id="17" name="Text 13"/>
          <p:cNvSpPr/>
          <p:nvPr/>
        </p:nvSpPr>
        <p:spPr>
          <a:xfrm>
            <a:off x="12842677" y="4168676"/>
            <a:ext cx="4509879" cy="107811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5D5D60"/>
                </a:solidFill>
                <a:latin typeface="Arial" pitchFamily="34" charset="0"/>
                <a:ea typeface="Arial" pitchFamily="34" charset="-122"/>
                <a:cs typeface="Arial" pitchFamily="34" charset="-120"/>
              </a:rPr>
              <a:t>Rappel 97 %, précision 61 %. On attrape presque toutes les fraudes, au prix de plus d'alertes à traiter.</a:t>
            </a:r>
            <a:endParaRPr lang="en-US" sz="1950" dirty="0"/>
          </a:p>
        </p:txBody>
      </p:sp>
      <p:sp>
        <p:nvSpPr>
          <p:cNvPr id="18" name="Shape 14"/>
          <p:cNvSpPr/>
          <p:nvPr/>
        </p:nvSpPr>
        <p:spPr>
          <a:xfrm>
            <a:off x="12607727" y="5399187"/>
            <a:ext cx="25400" cy="1535311"/>
          </a:xfrm>
          <a:prstGeom prst="rect">
            <a:avLst/>
          </a:prstGeom>
          <a:solidFill>
            <a:srgbClr val="5980A6"/>
          </a:solidFill>
          <a:ln/>
        </p:spPr>
      </p:sp>
      <p:sp>
        <p:nvSpPr>
          <p:cNvPr id="19" name="Text 15"/>
          <p:cNvSpPr/>
          <p:nvPr/>
        </p:nvSpPr>
        <p:spPr>
          <a:xfrm>
            <a:off x="12842677" y="5399187"/>
            <a:ext cx="4816376" cy="476250"/>
          </a:xfrm>
          <a:prstGeom prst="rect">
            <a:avLst/>
          </a:prstGeom>
          <a:noFill/>
          <a:ln/>
        </p:spPr>
        <p:txBody>
          <a:bodyPr wrap="square" lIns="25400" tIns="25400" rIns="25400" bIns="25400" rtlCol="0" anchor="t">
            <a:normAutofit/>
          </a:bodyPr>
          <a:lstStyle/>
          <a:p>
            <a:pPr algn="l" indent="0" marL="0">
              <a:lnSpc>
                <a:spcPct val="87342"/>
              </a:lnSpc>
              <a:buNone/>
            </a:pPr>
            <a:r>
              <a:rPr lang="en-US" sz="3450" dirty="0">
                <a:solidFill>
                  <a:srgbClr val="1D1F20"/>
                </a:solidFill>
                <a:latin typeface="Arial" pitchFamily="34" charset="0"/>
                <a:ea typeface="Arial" pitchFamily="34" charset="-122"/>
                <a:cs typeface="Arial" pitchFamily="34" charset="-120"/>
              </a:rPr>
              <a:t>Seuil 0,98</a:t>
            </a:r>
            <a:endParaRPr lang="en-US" sz="3450" dirty="0"/>
          </a:p>
        </p:txBody>
      </p:sp>
      <p:sp>
        <p:nvSpPr>
          <p:cNvPr id="20" name="Text 16"/>
          <p:cNvSpPr/>
          <p:nvPr/>
        </p:nvSpPr>
        <p:spPr>
          <a:xfrm>
            <a:off x="12842677" y="5894487"/>
            <a:ext cx="4509879" cy="107811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5D5D60"/>
                </a:solidFill>
                <a:latin typeface="Arial" pitchFamily="34" charset="0"/>
                <a:ea typeface="Arial" pitchFamily="34" charset="-122"/>
                <a:cs typeface="Arial" pitchFamily="34" charset="-120"/>
              </a:rPr>
              <a:t>Rappel 77 %, précision 88 %. Meilleur équilibre statistique (F1 = 0,82), mais une fraude sur quatre passe.</a:t>
            </a:r>
            <a:endParaRPr lang="en-US" sz="1950" dirty="0"/>
          </a:p>
        </p:txBody>
      </p:sp>
      <p:sp>
        <p:nvSpPr>
          <p:cNvPr id="21" name="Text 17"/>
          <p:cNvSpPr/>
          <p:nvPr/>
        </p:nvSpPr>
        <p:spPr>
          <a:xfrm>
            <a:off x="12607727" y="7124998"/>
            <a:ext cx="4751878" cy="1090811"/>
          </a:xfrm>
          <a:prstGeom prst="rect">
            <a:avLst/>
          </a:prstGeom>
          <a:noFill/>
          <a:ln/>
        </p:spPr>
        <p:txBody>
          <a:bodyPr wrap="square" lIns="25400" tIns="25400" rIns="25400" bIns="25400" rtlCol="0" anchor="t">
            <a:normAutofit/>
          </a:bodyPr>
          <a:lstStyle/>
          <a:p>
            <a:pPr algn="l" indent="0" marL="0">
              <a:lnSpc>
                <a:spcPct val="124091"/>
              </a:lnSpc>
              <a:buNone/>
            </a:pPr>
            <a:r>
              <a:rPr lang="en-US" sz="1950" b="1" dirty="0">
                <a:solidFill>
                  <a:srgbClr val="1D1F20"/>
                </a:solidFill>
                <a:latin typeface="Arial" pitchFamily="34" charset="0"/>
                <a:ea typeface="Arial" pitchFamily="34" charset="-122"/>
                <a:cs typeface="Arial" pitchFamily="34" charset="-120"/>
              </a:rPr>
              <a:t>Le F1 ne tranche pas la question métier. </a:t>
            </a:r>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Réserve posée ici, et chiffrée en euros au BC06.</a:t>
            </a:r>
            <a:endParaRPr lang="en-US" sz="1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3458121"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BC03 · MODÈLES SUPERVISÉS</a:t>
            </a:r>
            <a:endParaRPr lang="en-US" sz="1800" dirty="0"/>
          </a:p>
        </p:txBody>
      </p:sp>
      <p:sp>
        <p:nvSpPr>
          <p:cNvPr id="3" name="Text 1"/>
          <p:cNvSpPr/>
          <p:nvPr/>
        </p:nvSpPr>
        <p:spPr>
          <a:xfrm>
            <a:off x="15626655" y="685800"/>
            <a:ext cx="1753999"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EXPLICABILITÉ</a:t>
            </a:r>
            <a:endParaRPr lang="en-US" sz="1800" dirty="0"/>
          </a:p>
        </p:txBody>
      </p:sp>
      <p:sp>
        <p:nvSpPr>
          <p:cNvPr id="4" name="Text 2"/>
          <p:cNvSpPr/>
          <p:nvPr/>
        </p:nvSpPr>
        <p:spPr>
          <a:xfrm>
            <a:off x="1066800" y="120650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Pourquoi le modèle a dit oui ou non</a:t>
            </a:r>
            <a:endParaRPr lang="en-US" sz="5850" dirty="0"/>
          </a:p>
        </p:txBody>
      </p:sp>
      <p:sp>
        <p:nvSpPr>
          <p:cNvPr id="5" name="Text 3"/>
          <p:cNvSpPr/>
          <p:nvPr/>
        </p:nvSpPr>
        <p:spPr>
          <a:xfrm>
            <a:off x="1066800" y="2211884"/>
            <a:ext cx="14716125" cy="858044"/>
          </a:xfrm>
          <a:prstGeom prst="rect">
            <a:avLst/>
          </a:prstGeom>
          <a:noFill/>
          <a:ln/>
        </p:spPr>
        <p:txBody>
          <a:bodyPr wrap="square" lIns="25400" tIns="25400" rIns="25400" bIns="25400" rtlCol="0" anchor="t">
            <a:normAutofit/>
          </a:bodyPr>
          <a:lstStyle/>
          <a:p>
            <a:pPr algn="l" indent="0" marL="0">
              <a:lnSpc>
                <a:spcPct val="128724"/>
              </a:lnSpc>
              <a:buNone/>
            </a:pPr>
            <a:r>
              <a:rPr lang="en-US" sz="2175" dirty="0">
                <a:solidFill>
                  <a:srgbClr val="1D1F20"/>
                </a:solidFill>
                <a:latin typeface="Arial" pitchFamily="34" charset="0"/>
                <a:ea typeface="Arial" pitchFamily="34" charset="-122"/>
                <a:cs typeface="Arial" pitchFamily="34" charset="-120"/>
              </a:rPr>
              <a:t>Un modèle qui bloque un paiement doit pouvoir se justifier — devant le client comme devant le régulateur. SHAP répond à deux questions : ce qui compte </a:t>
            </a:r>
            <a:pPr algn="l" indent="0" marL="0">
              <a:lnSpc>
                <a:spcPct val="128724"/>
              </a:lnSpc>
              <a:buNone/>
            </a:pPr>
            <a:r>
              <a:rPr lang="en-US" sz="2175" b="1" dirty="0">
                <a:solidFill>
                  <a:srgbClr val="1D1F20"/>
                </a:solidFill>
                <a:latin typeface="Arial" pitchFamily="34" charset="0"/>
                <a:ea typeface="Arial" pitchFamily="34" charset="-122"/>
                <a:cs typeface="Arial" pitchFamily="34" charset="-120"/>
              </a:rPr>
              <a:t>en général</a:t>
            </a:r>
            <a:pPr algn="l" indent="0" marL="0">
              <a:lnSpc>
                <a:spcPct val="128724"/>
              </a:lnSpc>
              <a:buNone/>
            </a:pPr>
            <a:r>
              <a:rPr lang="en-US" sz="2175" dirty="0">
                <a:solidFill>
                  <a:srgbClr val="1D1F20"/>
                </a:solidFill>
                <a:latin typeface="Arial" pitchFamily="34" charset="0"/>
                <a:ea typeface="Arial" pitchFamily="34" charset="-122"/>
                <a:cs typeface="Arial" pitchFamily="34" charset="-120"/>
              </a:rPr>
              <a:t>, et ce qui a compté </a:t>
            </a:r>
            <a:pPr algn="l" indent="0" marL="0">
              <a:lnSpc>
                <a:spcPct val="128724"/>
              </a:lnSpc>
              <a:buNone/>
            </a:pPr>
            <a:r>
              <a:rPr lang="en-US" sz="2175" b="1" dirty="0">
                <a:solidFill>
                  <a:srgbClr val="1D1F20"/>
                </a:solidFill>
                <a:latin typeface="Arial" pitchFamily="34" charset="0"/>
                <a:ea typeface="Arial" pitchFamily="34" charset="-122"/>
                <a:cs typeface="Arial" pitchFamily="34" charset="-120"/>
              </a:rPr>
              <a:t>pour cette transaction-là</a:t>
            </a:r>
            <a:pPr algn="l" indent="0" marL="0">
              <a:lnSpc>
                <a:spcPct val="128724"/>
              </a:lnSpc>
              <a:buNone/>
            </a:pPr>
            <a:r>
              <a:rPr lang="en-US" sz="2175" dirty="0">
                <a:solidFill>
                  <a:srgbClr val="1D1F20"/>
                </a:solidFill>
                <a:latin typeface="Arial" pitchFamily="34" charset="0"/>
                <a:ea typeface="Arial" pitchFamily="34" charset="-122"/>
                <a:cs typeface="Arial" pitchFamily="34" charset="-120"/>
              </a:rPr>
              <a:t>.</a:t>
            </a:r>
            <a:endParaRPr lang="en-US" sz="2175" dirty="0"/>
          </a:p>
        </p:txBody>
      </p:sp>
      <p:sp>
        <p:nvSpPr>
          <p:cNvPr id="6" name="Shape 4"/>
          <p:cNvSpPr/>
          <p:nvPr/>
        </p:nvSpPr>
        <p:spPr>
          <a:xfrm>
            <a:off x="1447800" y="3431877"/>
            <a:ext cx="4419600" cy="6016923"/>
          </a:xfrm>
          <a:prstGeom prst="rect">
            <a:avLst/>
          </a:prstGeom>
          <a:solidFill>
            <a:srgbClr val="F5F5F8"/>
          </a:solidFill>
          <a:ln w="6350">
            <a:solidFill>
              <a:srgbClr val="1D1F20">
                <a:alpha val="16000"/>
              </a:srgbClr>
            </a:solidFill>
            <a:prstDash val="solid"/>
          </a:ln>
        </p:spPr>
      </p:sp>
      <p:sp>
        <p:nvSpPr>
          <p:cNvPr id="7" name="Shape 5"/>
          <p:cNvSpPr/>
          <p:nvPr/>
        </p:nvSpPr>
        <p:spPr>
          <a:xfrm>
            <a:off x="1397000" y="338107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8" name="Shape 6"/>
          <p:cNvSpPr/>
          <p:nvPr/>
        </p:nvSpPr>
        <p:spPr>
          <a:xfrm>
            <a:off x="5813425"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9" name="Image 0" descr="preencoded.png">    </p:cNvPr>
          <p:cNvPicPr>
            <a:picLocks noChangeAspect="1"/>
          </p:cNvPicPr>
          <p:nvPr/>
        </p:nvPicPr>
        <p:blipFill>
          <a:blip r:embed="rId1"/>
          <a:srcRect l="0" r="0" t="-34720" b="-34720"/>
          <a:stretch/>
        </p:blipFill>
        <p:spPr>
          <a:xfrm>
            <a:off x="1644650" y="3628727"/>
            <a:ext cx="4025900" cy="4689773"/>
          </a:xfrm>
          <a:prstGeom prst="rect">
            <a:avLst/>
          </a:prstGeom>
        </p:spPr>
      </p:pic>
      <p:sp>
        <p:nvSpPr>
          <p:cNvPr id="10" name="Text 7"/>
          <p:cNvSpPr/>
          <p:nvPr/>
        </p:nvSpPr>
        <p:spPr>
          <a:xfrm>
            <a:off x="1644650" y="8432800"/>
            <a:ext cx="4146677" cy="85725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Importance des variables selon le modèle : montant, distance au domicile, revenu, heure, mois.</a:t>
            </a:r>
            <a:endParaRPr lang="en-US" sz="1800" dirty="0"/>
          </a:p>
        </p:txBody>
      </p:sp>
      <p:sp>
        <p:nvSpPr>
          <p:cNvPr id="11" name="Shape 8"/>
          <p:cNvSpPr/>
          <p:nvPr/>
        </p:nvSpPr>
        <p:spPr>
          <a:xfrm>
            <a:off x="6934200" y="3431877"/>
            <a:ext cx="4419600" cy="6016923"/>
          </a:xfrm>
          <a:prstGeom prst="rect">
            <a:avLst/>
          </a:prstGeom>
          <a:solidFill>
            <a:srgbClr val="F5F5F8"/>
          </a:solidFill>
          <a:ln w="6350">
            <a:solidFill>
              <a:srgbClr val="1D1F20">
                <a:alpha val="16000"/>
              </a:srgbClr>
            </a:solidFill>
            <a:prstDash val="solid"/>
          </a:ln>
        </p:spPr>
      </p:sp>
      <p:sp>
        <p:nvSpPr>
          <p:cNvPr id="12" name="Shape 9"/>
          <p:cNvSpPr/>
          <p:nvPr/>
        </p:nvSpPr>
        <p:spPr>
          <a:xfrm>
            <a:off x="6883400" y="338107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3" name="Shape 10"/>
          <p:cNvSpPr/>
          <p:nvPr/>
        </p:nvSpPr>
        <p:spPr>
          <a:xfrm>
            <a:off x="11299825"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14" name="Image 1" descr="preencoded.png">    </p:cNvPr>
          <p:cNvPicPr>
            <a:picLocks noChangeAspect="1"/>
          </p:cNvPicPr>
          <p:nvPr/>
        </p:nvPicPr>
        <p:blipFill>
          <a:blip r:embed="rId2"/>
          <a:srcRect l="0" r="0" t="-11399" b="-11399"/>
          <a:stretch/>
        </p:blipFill>
        <p:spPr>
          <a:xfrm>
            <a:off x="7131050" y="3628727"/>
            <a:ext cx="4025900" cy="4689773"/>
          </a:xfrm>
          <a:prstGeom prst="rect">
            <a:avLst/>
          </a:prstGeom>
        </p:spPr>
      </p:pic>
      <p:sp>
        <p:nvSpPr>
          <p:cNvPr id="15" name="Text 11"/>
          <p:cNvSpPr/>
          <p:nvPr/>
        </p:nvSpPr>
        <p:spPr>
          <a:xfrm>
            <a:off x="7131050" y="8432800"/>
            <a:ext cx="4146677" cy="85725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Synthèse SHAP : sens de l'effet de chaque variable, et pas seulement son poids.</a:t>
            </a:r>
            <a:endParaRPr lang="en-US" sz="1800" dirty="0"/>
          </a:p>
        </p:txBody>
      </p:sp>
      <p:sp>
        <p:nvSpPr>
          <p:cNvPr id="16" name="Shape 12"/>
          <p:cNvSpPr/>
          <p:nvPr/>
        </p:nvSpPr>
        <p:spPr>
          <a:xfrm>
            <a:off x="12420600" y="3431877"/>
            <a:ext cx="4419600" cy="6016923"/>
          </a:xfrm>
          <a:prstGeom prst="rect">
            <a:avLst/>
          </a:prstGeom>
          <a:solidFill>
            <a:srgbClr val="F5F5F8"/>
          </a:solidFill>
          <a:ln w="6350">
            <a:solidFill>
              <a:srgbClr val="1D1F20">
                <a:alpha val="16000"/>
              </a:srgbClr>
            </a:solidFill>
            <a:prstDash val="solid"/>
          </a:ln>
        </p:spPr>
      </p:sp>
      <p:sp>
        <p:nvSpPr>
          <p:cNvPr id="17" name="Shape 13"/>
          <p:cNvSpPr/>
          <p:nvPr/>
        </p:nvSpPr>
        <p:spPr>
          <a:xfrm>
            <a:off x="12369801" y="338107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8" name="Shape 14"/>
          <p:cNvSpPr/>
          <p:nvPr/>
        </p:nvSpPr>
        <p:spPr>
          <a:xfrm>
            <a:off x="16786225"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19" name="Image 2" descr="preencoded.png">    </p:cNvPr>
          <p:cNvPicPr>
            <a:picLocks noChangeAspect="1"/>
          </p:cNvPicPr>
          <p:nvPr/>
        </p:nvPicPr>
        <p:blipFill>
          <a:blip r:embed="rId3"/>
          <a:srcRect l="0" r="0" t="-23851" b="-23851"/>
          <a:stretch/>
        </p:blipFill>
        <p:spPr>
          <a:xfrm>
            <a:off x="12617451" y="3628727"/>
            <a:ext cx="4025900" cy="4689773"/>
          </a:xfrm>
          <a:prstGeom prst="rect">
            <a:avLst/>
          </a:prstGeom>
        </p:spPr>
      </p:pic>
      <p:sp>
        <p:nvSpPr>
          <p:cNvPr id="20" name="Text 15"/>
          <p:cNvSpPr/>
          <p:nvPr/>
        </p:nvSpPr>
        <p:spPr>
          <a:xfrm>
            <a:off x="12617451" y="8432800"/>
            <a:ext cx="4146677" cy="85725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Une décision expliquée transaction par transaction — la brique du droit à l'explication (RGPD Art. 22).</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D2D3D"/>
        </a:solidFill>
      </p:bgPr>
    </p:bg>
    <p:spTree>
      <p:nvGrpSpPr>
        <p:cNvPr id="1" name=""/>
        <p:cNvGrpSpPr/>
        <p:nvPr/>
      </p:nvGrpSpPr>
      <p:grpSpPr>
        <a:xfrm>
          <a:off x="0" y="0"/>
          <a:ext cx="0" cy="0"/>
          <a:chOff x="0" y="0"/>
          <a:chExt cx="0" cy="0"/>
        </a:xfrm>
      </p:grpSpPr>
      <p:sp>
        <p:nvSpPr>
          <p:cNvPr id="2" name="Text 0"/>
          <p:cNvSpPr/>
          <p:nvPr/>
        </p:nvSpPr>
        <p:spPr>
          <a:xfrm>
            <a:off x="1066800" y="3175992"/>
            <a:ext cx="17769840" cy="336550"/>
          </a:xfrm>
          <a:prstGeom prst="rect">
            <a:avLst/>
          </a:prstGeom>
          <a:noFill/>
          <a:ln/>
        </p:spPr>
        <p:txBody>
          <a:bodyPr wrap="square" lIns="25400" tIns="25400" rIns="25400" bIns="25400" rtlCol="0" anchor="t">
            <a:normAutofit/>
          </a:bodyPr>
          <a:lstStyle/>
          <a:p>
            <a:pPr algn="l" indent="0" marL="0">
              <a:buNone/>
            </a:pPr>
            <a:r>
              <a:rPr lang="en-US" sz="1950" spc="390" kern="0" dirty="0">
                <a:solidFill>
                  <a:srgbClr val="94BCE3"/>
                </a:solidFill>
                <a:latin typeface="Arial" pitchFamily="34" charset="0"/>
                <a:ea typeface="Arial" pitchFamily="34" charset="-122"/>
                <a:cs typeface="Arial" pitchFamily="34" charset="-120"/>
              </a:rPr>
              <a:t>BLOC DE COMPÉTENCES 04</a:t>
            </a:r>
            <a:endParaRPr lang="en-US" sz="1950" dirty="0"/>
          </a:p>
        </p:txBody>
      </p:sp>
      <p:sp>
        <p:nvSpPr>
          <p:cNvPr id="3" name="Text 1"/>
          <p:cNvSpPr/>
          <p:nvPr/>
        </p:nvSpPr>
        <p:spPr>
          <a:xfrm>
            <a:off x="1066800" y="3855442"/>
            <a:ext cx="14668500" cy="1527770"/>
          </a:xfrm>
          <a:prstGeom prst="rect">
            <a:avLst/>
          </a:prstGeom>
          <a:noFill/>
          <a:ln/>
        </p:spPr>
        <p:txBody>
          <a:bodyPr wrap="square" lIns="25400" tIns="25400" rIns="25400" bIns="25400" rtlCol="0" anchor="t">
            <a:normAutofit/>
          </a:bodyPr>
          <a:lstStyle/>
          <a:p>
            <a:pPr algn="l" indent="0" marL="0">
              <a:lnSpc>
                <a:spcPct val="80068"/>
              </a:lnSpc>
              <a:buNone/>
            </a:pPr>
            <a:r>
              <a:rPr lang="en-US" sz="12750" b="1" spc="-255" kern="0" dirty="0">
                <a:solidFill>
                  <a:srgbClr val="F2F2F3"/>
                </a:solidFill>
                <a:latin typeface="Arial" pitchFamily="34" charset="0"/>
                <a:ea typeface="Arial" pitchFamily="34" charset="-122"/>
                <a:cs typeface="Arial" pitchFamily="34" charset="-120"/>
              </a:rPr>
              <a:t>Deep learning</a:t>
            </a:r>
            <a:endParaRPr lang="en-US" sz="12750" dirty="0"/>
          </a:p>
        </p:txBody>
      </p:sp>
      <p:sp>
        <p:nvSpPr>
          <p:cNvPr id="4" name="Shape 2"/>
          <p:cNvSpPr/>
          <p:nvPr/>
        </p:nvSpPr>
        <p:spPr>
          <a:xfrm>
            <a:off x="1066800" y="5726113"/>
            <a:ext cx="1524000" cy="9525"/>
          </a:xfrm>
          <a:prstGeom prst="rect">
            <a:avLst/>
          </a:prstGeom>
          <a:solidFill>
            <a:srgbClr val="597EA3"/>
          </a:solidFill>
          <a:ln/>
        </p:spPr>
      </p:sp>
      <p:sp>
        <p:nvSpPr>
          <p:cNvPr id="5" name="Text 3"/>
          <p:cNvSpPr/>
          <p:nvPr/>
        </p:nvSpPr>
        <p:spPr>
          <a:xfrm>
            <a:off x="1066800" y="6116638"/>
            <a:ext cx="12263438" cy="1032470"/>
          </a:xfrm>
          <a:prstGeom prst="rect">
            <a:avLst/>
          </a:prstGeom>
          <a:noFill/>
          <a:ln/>
        </p:spPr>
        <p:txBody>
          <a:bodyPr wrap="square" lIns="25400" tIns="25400" rIns="25400" bIns="25400" rtlCol="0" anchor="t">
            <a:normAutofit/>
          </a:bodyPr>
          <a:lstStyle/>
          <a:p>
            <a:pPr algn="l" indent="0" marL="0">
              <a:lnSpc>
                <a:spcPct val="126290"/>
              </a:lnSpc>
              <a:buNone/>
            </a:pPr>
            <a:r>
              <a:rPr lang="en-US" sz="2700" dirty="0">
                <a:solidFill>
                  <a:srgbClr val="D6EBFF"/>
                </a:solidFill>
                <a:latin typeface="Arial" pitchFamily="34" charset="0"/>
                <a:ea typeface="Arial" pitchFamily="34" charset="-122"/>
                <a:cs typeface="Arial" pitchFamily="34" charset="-120"/>
              </a:rPr>
              <a:t>Détecter sans étiquettes, lire des séquences — et conclure honnêtement sur ce que ça apporte vraiment.</a:t>
            </a:r>
            <a:endParaRPr lang="en-US" sz="2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2731463"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BC04 · DEEP LEARNING</a:t>
            </a:r>
            <a:endParaRPr lang="en-US" sz="1800" dirty="0"/>
          </a:p>
        </p:txBody>
      </p:sp>
      <p:sp>
        <p:nvSpPr>
          <p:cNvPr id="3" name="Text 1"/>
          <p:cNvSpPr/>
          <p:nvPr/>
        </p:nvSpPr>
        <p:spPr>
          <a:xfrm>
            <a:off x="13293130" y="685800"/>
            <a:ext cx="4320877"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AUTOENCODEUR — SANS ÉTIQUETTES</a:t>
            </a:r>
            <a:endParaRPr lang="en-US" sz="1800" dirty="0"/>
          </a:p>
        </p:txBody>
      </p:sp>
      <p:sp>
        <p:nvSpPr>
          <p:cNvPr id="4" name="Text 2"/>
          <p:cNvSpPr/>
          <p:nvPr/>
        </p:nvSpPr>
        <p:spPr>
          <a:xfrm>
            <a:off x="1066800" y="122555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Apprendre le normal pour repérer l'anormal</a:t>
            </a:r>
            <a:endParaRPr lang="en-US" sz="5850" dirty="0"/>
          </a:p>
        </p:txBody>
      </p:sp>
      <p:sp>
        <p:nvSpPr>
          <p:cNvPr id="5" name="Text 3"/>
          <p:cNvSpPr/>
          <p:nvPr/>
        </p:nvSpPr>
        <p:spPr>
          <a:xfrm>
            <a:off x="1066800" y="2249984"/>
            <a:ext cx="15206662" cy="858044"/>
          </a:xfrm>
          <a:prstGeom prst="rect">
            <a:avLst/>
          </a:prstGeom>
          <a:noFill/>
          <a:ln/>
        </p:spPr>
        <p:txBody>
          <a:bodyPr wrap="square" lIns="25400" tIns="25400" rIns="25400" bIns="25400" rtlCol="0" anchor="t">
            <a:normAutofit/>
          </a:bodyPr>
          <a:lstStyle/>
          <a:p>
            <a:pPr algn="l" indent="0" marL="0">
              <a:lnSpc>
                <a:spcPct val="128724"/>
              </a:lnSpc>
              <a:buNone/>
            </a:pPr>
            <a:r>
              <a:rPr lang="en-US" sz="2175" dirty="0">
                <a:solidFill>
                  <a:srgbClr val="1D1F20"/>
                </a:solidFill>
                <a:latin typeface="Arial" pitchFamily="34" charset="0"/>
                <a:ea typeface="Arial" pitchFamily="34" charset="-122"/>
                <a:cs typeface="Arial" pitchFamily="34" charset="-120"/>
              </a:rPr>
              <a:t>Le modèle est entraîné </a:t>
            </a:r>
            <a:pPr algn="l" indent="0" marL="0">
              <a:lnSpc>
                <a:spcPct val="128724"/>
              </a:lnSpc>
              <a:buNone/>
            </a:pPr>
            <a:r>
              <a:rPr lang="en-US" sz="2175" b="1" dirty="0">
                <a:solidFill>
                  <a:srgbClr val="1D1F20"/>
                </a:solidFill>
                <a:latin typeface="Arial" pitchFamily="34" charset="0"/>
                <a:ea typeface="Arial" pitchFamily="34" charset="-122"/>
                <a:cs typeface="Arial" pitchFamily="34" charset="-120"/>
              </a:rPr>
              <a:t>uniquement sur des transactions légitimes </a:t>
            </a:r>
            <a:pPr algn="l" indent="0" marL="0">
              <a:lnSpc>
                <a:spcPct val="128724"/>
              </a:lnSpc>
              <a:buNone/>
            </a:pPr>
            <a:r>
              <a:rPr lang="en-US" sz="2175" dirty="0">
                <a:solidFill>
                  <a:srgbClr val="1D1F20"/>
                </a:solidFill>
                <a:latin typeface="Arial" pitchFamily="34" charset="0"/>
                <a:ea typeface="Arial" pitchFamily="34" charset="-122"/>
                <a:cs typeface="Arial" pitchFamily="34" charset="-120"/>
              </a:rPr>
              <a:t>: il apprend à les reconstruire. Une transaction qu'il reconstruit mal ne ressemble à rien de connu — donc elle est suspecte. Aucune étiquette de fraude n'est utilisée.</a:t>
            </a:r>
            <a:endParaRPr lang="en-US" sz="2175" dirty="0"/>
          </a:p>
        </p:txBody>
      </p:sp>
      <p:sp>
        <p:nvSpPr>
          <p:cNvPr id="6" name="Shape 4"/>
          <p:cNvSpPr/>
          <p:nvPr/>
        </p:nvSpPr>
        <p:spPr>
          <a:xfrm>
            <a:off x="1447800" y="3489027"/>
            <a:ext cx="4762500" cy="5959773"/>
          </a:xfrm>
          <a:prstGeom prst="rect">
            <a:avLst/>
          </a:prstGeom>
          <a:solidFill>
            <a:srgbClr val="F5F5F8"/>
          </a:solidFill>
          <a:ln w="6350">
            <a:solidFill>
              <a:srgbClr val="1D1F20">
                <a:alpha val="16000"/>
              </a:srgbClr>
            </a:solidFill>
            <a:prstDash val="solid"/>
          </a:ln>
        </p:spPr>
      </p:sp>
      <p:sp>
        <p:nvSpPr>
          <p:cNvPr id="7" name="Shape 5"/>
          <p:cNvSpPr/>
          <p:nvPr/>
        </p:nvSpPr>
        <p:spPr>
          <a:xfrm>
            <a:off x="1397000" y="343822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8" name="Shape 6"/>
          <p:cNvSpPr/>
          <p:nvPr/>
        </p:nvSpPr>
        <p:spPr>
          <a:xfrm>
            <a:off x="6156325"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9" name="Image 0" descr="preencoded.png">    </p:cNvPr>
          <p:cNvPicPr>
            <a:picLocks noChangeAspect="1"/>
          </p:cNvPicPr>
          <p:nvPr/>
        </p:nvPicPr>
        <p:blipFill>
          <a:blip r:embed="rId1"/>
          <a:srcRect l="0" r="0" t="-48253" b="-48253"/>
          <a:stretch/>
        </p:blipFill>
        <p:spPr>
          <a:xfrm>
            <a:off x="1644650" y="3685877"/>
            <a:ext cx="4368800" cy="4905673"/>
          </a:xfrm>
          <a:prstGeom prst="rect">
            <a:avLst/>
          </a:prstGeom>
        </p:spPr>
      </p:pic>
      <p:sp>
        <p:nvSpPr>
          <p:cNvPr id="10" name="Text 7"/>
          <p:cNvSpPr/>
          <p:nvPr/>
        </p:nvSpPr>
        <p:spPr>
          <a:xfrm>
            <a:off x="1644650" y="8705850"/>
            <a:ext cx="4499864" cy="58420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21 époques, apprentissage stable — pas de surapprentissage.</a:t>
            </a:r>
            <a:endParaRPr lang="en-US" sz="1800" dirty="0"/>
          </a:p>
        </p:txBody>
      </p:sp>
      <p:sp>
        <p:nvSpPr>
          <p:cNvPr id="11" name="Shape 8"/>
          <p:cNvSpPr/>
          <p:nvPr/>
        </p:nvSpPr>
        <p:spPr>
          <a:xfrm>
            <a:off x="7315200" y="3489027"/>
            <a:ext cx="4762500" cy="5959773"/>
          </a:xfrm>
          <a:prstGeom prst="rect">
            <a:avLst/>
          </a:prstGeom>
          <a:solidFill>
            <a:srgbClr val="F5F5F8"/>
          </a:solidFill>
          <a:ln w="6350">
            <a:solidFill>
              <a:srgbClr val="1D1F20">
                <a:alpha val="16000"/>
              </a:srgbClr>
            </a:solidFill>
            <a:prstDash val="solid"/>
          </a:ln>
        </p:spPr>
      </p:sp>
      <p:sp>
        <p:nvSpPr>
          <p:cNvPr id="12" name="Shape 9"/>
          <p:cNvSpPr/>
          <p:nvPr/>
        </p:nvSpPr>
        <p:spPr>
          <a:xfrm>
            <a:off x="7264400" y="343822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3" name="Shape 10"/>
          <p:cNvSpPr/>
          <p:nvPr/>
        </p:nvSpPr>
        <p:spPr>
          <a:xfrm>
            <a:off x="12023725"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14" name="Image 1" descr="preencoded.png">    </p:cNvPr>
          <p:cNvPicPr>
            <a:picLocks noChangeAspect="1"/>
          </p:cNvPicPr>
          <p:nvPr/>
        </p:nvPicPr>
        <p:blipFill>
          <a:blip r:embed="rId2"/>
          <a:srcRect l="0" r="0" t="-52081" b="-52081"/>
          <a:stretch/>
        </p:blipFill>
        <p:spPr>
          <a:xfrm>
            <a:off x="7512050" y="3685877"/>
            <a:ext cx="4368800" cy="4905673"/>
          </a:xfrm>
          <a:prstGeom prst="rect">
            <a:avLst/>
          </a:prstGeom>
        </p:spPr>
      </p:pic>
      <p:sp>
        <p:nvSpPr>
          <p:cNvPr id="15" name="Text 11"/>
          <p:cNvSpPr/>
          <p:nvPr/>
        </p:nvSpPr>
        <p:spPr>
          <a:xfrm>
            <a:off x="7512050" y="8705850"/>
            <a:ext cx="4499864" cy="58420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Erreur de reconstruction : le seuil est fixé au 99e centile des transactions légitimes.</a:t>
            </a:r>
            <a:endParaRPr lang="en-US" sz="1800" dirty="0"/>
          </a:p>
        </p:txBody>
      </p:sp>
      <p:sp>
        <p:nvSpPr>
          <p:cNvPr id="16" name="Text 12"/>
          <p:cNvSpPr/>
          <p:nvPr/>
        </p:nvSpPr>
        <p:spPr>
          <a:xfrm>
            <a:off x="12801600" y="4325838"/>
            <a:ext cx="4861560" cy="781050"/>
          </a:xfrm>
          <a:prstGeom prst="rect">
            <a:avLst/>
          </a:prstGeom>
          <a:noFill/>
          <a:ln/>
        </p:spPr>
        <p:txBody>
          <a:bodyPr wrap="square" lIns="25400" tIns="25400" rIns="25400" bIns="25400" rtlCol="0" anchor="t">
            <a:normAutofit/>
          </a:bodyPr>
          <a:lstStyle/>
          <a:p>
            <a:pPr algn="l" indent="0" marL="0">
              <a:lnSpc>
                <a:spcPct val="86667"/>
              </a:lnSpc>
              <a:buNone/>
            </a:pPr>
            <a:r>
              <a:rPr lang="en-US" sz="5850" dirty="0">
                <a:solidFill>
                  <a:srgbClr val="416180"/>
                </a:solidFill>
                <a:latin typeface="Arial" pitchFamily="34" charset="0"/>
                <a:ea typeface="Arial" pitchFamily="34" charset="-122"/>
                <a:cs typeface="Arial" pitchFamily="34" charset="-120"/>
              </a:rPr>
              <a:t>0,839</a:t>
            </a:r>
            <a:endParaRPr lang="en-US" sz="5850" dirty="0"/>
          </a:p>
        </p:txBody>
      </p:sp>
      <p:sp>
        <p:nvSpPr>
          <p:cNvPr id="17" name="Text 13"/>
          <p:cNvSpPr/>
          <p:nvPr/>
        </p:nvSpPr>
        <p:spPr>
          <a:xfrm>
            <a:off x="12801600" y="5087838"/>
            <a:ext cx="4861560" cy="330200"/>
          </a:xfrm>
          <a:prstGeom prst="rect">
            <a:avLst/>
          </a:prstGeom>
          <a:noFill/>
          <a:ln/>
        </p:spPr>
        <p:txBody>
          <a:bodyPr wrap="square" lIns="25400" tIns="25400" rIns="25400" bIns="25400" rtlCol="0" anchor="t">
            <a:normAutofit/>
          </a:bodyPr>
          <a:lstStyle/>
          <a:p>
            <a:pPr algn="l" indent="0" marL="0">
              <a:buNone/>
            </a:pPr>
            <a:r>
              <a:rPr lang="en-US" sz="1875" dirty="0">
                <a:solidFill>
                  <a:srgbClr val="5D5D60"/>
                </a:solidFill>
                <a:latin typeface="Arial" pitchFamily="34" charset="0"/>
                <a:ea typeface="Arial" pitchFamily="34" charset="-122"/>
                <a:cs typeface="Arial" pitchFamily="34" charset="-120"/>
              </a:rPr>
              <a:t>AUC — loin des 0,998 de LightGBM</a:t>
            </a:r>
            <a:endParaRPr lang="en-US" sz="1875" dirty="0"/>
          </a:p>
        </p:txBody>
      </p:sp>
      <p:sp>
        <p:nvSpPr>
          <p:cNvPr id="18" name="Text 14"/>
          <p:cNvSpPr/>
          <p:nvPr/>
        </p:nvSpPr>
        <p:spPr>
          <a:xfrm>
            <a:off x="12801600" y="5589488"/>
            <a:ext cx="4861560" cy="781050"/>
          </a:xfrm>
          <a:prstGeom prst="rect">
            <a:avLst/>
          </a:prstGeom>
          <a:noFill/>
          <a:ln/>
        </p:spPr>
        <p:txBody>
          <a:bodyPr wrap="square" lIns="25400" tIns="25400" rIns="25400" bIns="25400" rtlCol="0" anchor="t">
            <a:normAutofit/>
          </a:bodyPr>
          <a:lstStyle/>
          <a:p>
            <a:pPr algn="l" indent="0" marL="0">
              <a:lnSpc>
                <a:spcPct val="86667"/>
              </a:lnSpc>
              <a:buNone/>
            </a:pPr>
            <a:r>
              <a:rPr lang="en-US" sz="5850" dirty="0">
                <a:solidFill>
                  <a:srgbClr val="416180"/>
                </a:solidFill>
                <a:latin typeface="Arial" pitchFamily="34" charset="0"/>
                <a:ea typeface="Arial" pitchFamily="34" charset="-122"/>
                <a:cs typeface="Arial" pitchFamily="34" charset="-120"/>
              </a:rPr>
              <a:t>45 %</a:t>
            </a:r>
            <a:endParaRPr lang="en-US" sz="5850" dirty="0"/>
          </a:p>
        </p:txBody>
      </p:sp>
      <p:sp>
        <p:nvSpPr>
          <p:cNvPr id="19" name="Text 15"/>
          <p:cNvSpPr/>
          <p:nvPr/>
        </p:nvSpPr>
        <p:spPr>
          <a:xfrm>
            <a:off x="12801600" y="6351488"/>
            <a:ext cx="4861560" cy="330200"/>
          </a:xfrm>
          <a:prstGeom prst="rect">
            <a:avLst/>
          </a:prstGeom>
          <a:noFill/>
          <a:ln/>
        </p:spPr>
        <p:txBody>
          <a:bodyPr wrap="square" lIns="25400" tIns="25400" rIns="25400" bIns="25400" rtlCol="0" anchor="t">
            <a:normAutofit/>
          </a:bodyPr>
          <a:lstStyle/>
          <a:p>
            <a:pPr algn="l" indent="0" marL="0">
              <a:buNone/>
            </a:pPr>
            <a:r>
              <a:rPr lang="en-US" sz="1875" dirty="0">
                <a:solidFill>
                  <a:srgbClr val="5D5D60"/>
                </a:solidFill>
                <a:latin typeface="Arial" pitchFamily="34" charset="0"/>
                <a:ea typeface="Arial" pitchFamily="34" charset="-122"/>
                <a:cs typeface="Arial" pitchFamily="34" charset="-120"/>
              </a:rPr>
              <a:t>de rappel, pour 39 % de précision</a:t>
            </a:r>
            <a:endParaRPr lang="en-US" sz="1875" dirty="0"/>
          </a:p>
        </p:txBody>
      </p:sp>
      <p:sp>
        <p:nvSpPr>
          <p:cNvPr id="20" name="Text 16"/>
          <p:cNvSpPr/>
          <p:nvPr/>
        </p:nvSpPr>
        <p:spPr>
          <a:xfrm>
            <a:off x="12801600" y="6853139"/>
            <a:ext cx="4552188" cy="1796852"/>
          </a:xfrm>
          <a:prstGeom prst="rect">
            <a:avLst/>
          </a:prstGeom>
          <a:noFill/>
          <a:ln/>
        </p:spPr>
        <p:txBody>
          <a:bodyPr wrap="square" lIns="25400" tIns="25400" rIns="25400" bIns="25400" rtlCol="0" anchor="t">
            <a:normAutofit/>
          </a:bodyPr>
          <a:lstStyle/>
          <a:p>
            <a:pPr algn="l" indent="0" marL="0">
              <a:lnSpc>
                <a:spcPct val="124091"/>
              </a:lnSpc>
              <a:buNone/>
            </a:pPr>
            <a:r>
              <a:rPr lang="en-US" sz="1950" b="1" dirty="0">
                <a:solidFill>
                  <a:srgbClr val="1D1F20"/>
                </a:solidFill>
                <a:latin typeface="Arial" pitchFamily="34" charset="0"/>
                <a:ea typeface="Arial" pitchFamily="34" charset="-122"/>
                <a:cs typeface="Arial" pitchFamily="34" charset="-120"/>
              </a:rPr>
              <a:t>À retenir : </a:t>
            </a:r>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moins performant, mais il n'a jamais vu d'étiquette. Son rôle est de repérer des fraudes d'un type </a:t>
            </a:r>
            <a:pPr algn="l" indent="0" marL="0">
              <a:lnSpc>
                <a:spcPct val="124091"/>
              </a:lnSpc>
              <a:buNone/>
            </a:pPr>
            <a:r>
              <a:rPr lang="en-US" sz="1950" i="1" dirty="0">
                <a:solidFill>
                  <a:srgbClr val="1D1F20"/>
                </a:solidFill>
                <a:latin typeface="Arial" pitchFamily="34" charset="0"/>
                <a:ea typeface="Arial" pitchFamily="34" charset="-122"/>
                <a:cs typeface="Arial" pitchFamily="34" charset="-120"/>
              </a:rPr>
              <a:t>inconnu </a:t>
            </a:r>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 là où un modèle supervisé ne sait détecter que ce qu'on lui a déjà montré.</a:t>
            </a:r>
            <a:endParaRPr lang="en-US" sz="1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2731463"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BC04 · DEEP LEARNING</a:t>
            </a:r>
            <a:endParaRPr lang="en-US" sz="1800" dirty="0"/>
          </a:p>
        </p:txBody>
      </p:sp>
      <p:sp>
        <p:nvSpPr>
          <p:cNvPr id="3" name="Text 1"/>
          <p:cNvSpPr/>
          <p:nvPr/>
        </p:nvSpPr>
        <p:spPr>
          <a:xfrm>
            <a:off x="14297125" y="685800"/>
            <a:ext cx="3216483"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DÉTECTION PAR TYPOLOGIE</a:t>
            </a:r>
            <a:endParaRPr lang="en-US" sz="1800" dirty="0"/>
          </a:p>
        </p:txBody>
      </p:sp>
      <p:sp>
        <p:nvSpPr>
          <p:cNvPr id="4" name="Text 2"/>
          <p:cNvSpPr/>
          <p:nvPr/>
        </p:nvSpPr>
        <p:spPr>
          <a:xfrm>
            <a:off x="1066800" y="124460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Excellent sur certaines fraudes, aveugle sur d'autres</a:t>
            </a:r>
            <a:endParaRPr lang="en-US" sz="5850" dirty="0"/>
          </a:p>
        </p:txBody>
      </p:sp>
      <p:sp>
        <p:nvSpPr>
          <p:cNvPr id="5" name="Shape 3"/>
          <p:cNvSpPr/>
          <p:nvPr/>
        </p:nvSpPr>
        <p:spPr>
          <a:xfrm>
            <a:off x="1447800" y="2440484"/>
            <a:ext cx="8372475" cy="7008316"/>
          </a:xfrm>
          <a:prstGeom prst="rect">
            <a:avLst/>
          </a:prstGeom>
          <a:solidFill>
            <a:srgbClr val="F5F5F8"/>
          </a:solidFill>
          <a:ln w="6350">
            <a:solidFill>
              <a:srgbClr val="1D1F20">
                <a:alpha val="16000"/>
              </a:srgbClr>
            </a:solidFill>
            <a:prstDash val="solid"/>
          </a:ln>
        </p:spPr>
      </p:sp>
      <p:sp>
        <p:nvSpPr>
          <p:cNvPr id="6" name="Shape 4"/>
          <p:cNvSpPr/>
          <p:nvPr/>
        </p:nvSpPr>
        <p:spPr>
          <a:xfrm>
            <a:off x="1397000" y="23896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7" name="Shape 5"/>
          <p:cNvSpPr/>
          <p:nvPr/>
        </p:nvSpPr>
        <p:spPr>
          <a:xfrm>
            <a:off x="9766300" y="23896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8" name="Shape 6"/>
          <p:cNvSpPr/>
          <p:nvPr/>
        </p:nvSpPr>
        <p:spPr>
          <a:xfrm>
            <a:off x="1397000"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9" name="Shape 7"/>
          <p:cNvSpPr/>
          <p:nvPr/>
        </p:nvSpPr>
        <p:spPr>
          <a:xfrm>
            <a:off x="9766300"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10" name="Image 0" descr="preencoded.png">    </p:cNvPr>
          <p:cNvPicPr>
            <a:picLocks noChangeAspect="1"/>
          </p:cNvPicPr>
          <p:nvPr/>
        </p:nvPicPr>
        <p:blipFill>
          <a:blip r:embed="rId1"/>
          <a:srcRect l="0" r="0" t="-19281" b="-19281"/>
          <a:stretch/>
        </p:blipFill>
        <p:spPr>
          <a:xfrm>
            <a:off x="1682750" y="2675434"/>
            <a:ext cx="7902575" cy="6132016"/>
          </a:xfrm>
          <a:prstGeom prst="rect">
            <a:avLst/>
          </a:prstGeom>
        </p:spPr>
      </p:pic>
      <p:sp>
        <p:nvSpPr>
          <p:cNvPr id="11" name="Text 8"/>
          <p:cNvSpPr/>
          <p:nvPr/>
        </p:nvSpPr>
        <p:spPr>
          <a:xfrm>
            <a:off x="1682750" y="8940800"/>
            <a:ext cx="8692833" cy="31115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Taux de détection de l'autoencodeur, typologie de fraude par typologie.</a:t>
            </a:r>
            <a:endParaRPr lang="en-US" sz="1800" dirty="0"/>
          </a:p>
        </p:txBody>
      </p:sp>
      <p:sp>
        <p:nvSpPr>
          <p:cNvPr id="12" name="Text 9"/>
          <p:cNvSpPr/>
          <p:nvPr/>
        </p:nvSpPr>
        <p:spPr>
          <a:xfrm>
            <a:off x="10696575" y="2782392"/>
            <a:ext cx="935434" cy="609600"/>
          </a:xfrm>
          <a:prstGeom prst="rect">
            <a:avLst/>
          </a:prstGeom>
          <a:noFill/>
          <a:ln/>
        </p:spPr>
        <p:txBody>
          <a:bodyPr wrap="square" lIns="25400" tIns="25400" rIns="25400" bIns="25400" rtlCol="0" anchor="t">
            <a:normAutofit/>
          </a:bodyPr>
          <a:lstStyle/>
          <a:p>
            <a:pPr algn="l" indent="0" marL="0">
              <a:buNone/>
            </a:pPr>
            <a:r>
              <a:rPr lang="en-US" sz="3750" dirty="0">
                <a:solidFill>
                  <a:srgbClr val="416180"/>
                </a:solidFill>
                <a:latin typeface="Arial" pitchFamily="34" charset="0"/>
                <a:ea typeface="Arial" pitchFamily="34" charset="-122"/>
                <a:cs typeface="Arial" pitchFamily="34" charset="-120"/>
              </a:rPr>
              <a:t>99 %</a:t>
            </a:r>
            <a:endParaRPr lang="en-US" sz="3750" dirty="0"/>
          </a:p>
        </p:txBody>
      </p:sp>
      <p:sp>
        <p:nvSpPr>
          <p:cNvPr id="13" name="Text 10"/>
          <p:cNvSpPr/>
          <p:nvPr/>
        </p:nvSpPr>
        <p:spPr>
          <a:xfrm>
            <a:off x="11765360" y="2998291"/>
            <a:ext cx="6001425" cy="372368"/>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ingénierie sociale</a:t>
            </a:r>
            <a:endParaRPr lang="en-US" sz="1950" dirty="0"/>
          </a:p>
        </p:txBody>
      </p:sp>
      <p:sp>
        <p:nvSpPr>
          <p:cNvPr id="14" name="Text 11"/>
          <p:cNvSpPr/>
          <p:nvPr/>
        </p:nvSpPr>
        <p:spPr>
          <a:xfrm>
            <a:off x="10696575" y="3468192"/>
            <a:ext cx="935434" cy="609600"/>
          </a:xfrm>
          <a:prstGeom prst="rect">
            <a:avLst/>
          </a:prstGeom>
          <a:noFill/>
          <a:ln/>
        </p:spPr>
        <p:txBody>
          <a:bodyPr wrap="square" lIns="25400" tIns="25400" rIns="25400" bIns="25400" rtlCol="0" anchor="t">
            <a:normAutofit/>
          </a:bodyPr>
          <a:lstStyle/>
          <a:p>
            <a:pPr algn="l" indent="0" marL="0">
              <a:buNone/>
            </a:pPr>
            <a:r>
              <a:rPr lang="en-US" sz="3750" dirty="0">
                <a:solidFill>
                  <a:srgbClr val="416180"/>
                </a:solidFill>
                <a:latin typeface="Arial" pitchFamily="34" charset="0"/>
                <a:ea typeface="Arial" pitchFamily="34" charset="-122"/>
                <a:cs typeface="Arial" pitchFamily="34" charset="-120"/>
              </a:rPr>
              <a:t>94 %</a:t>
            </a:r>
            <a:endParaRPr lang="en-US" sz="3750" dirty="0"/>
          </a:p>
        </p:txBody>
      </p:sp>
      <p:sp>
        <p:nvSpPr>
          <p:cNvPr id="15" name="Text 12"/>
          <p:cNvSpPr/>
          <p:nvPr/>
        </p:nvSpPr>
        <p:spPr>
          <a:xfrm>
            <a:off x="11765360" y="3684091"/>
            <a:ext cx="6001425" cy="372368"/>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usurpation d'identité</a:t>
            </a:r>
            <a:endParaRPr lang="en-US" sz="1950" dirty="0"/>
          </a:p>
        </p:txBody>
      </p:sp>
      <p:sp>
        <p:nvSpPr>
          <p:cNvPr id="16" name="Text 13"/>
          <p:cNvSpPr/>
          <p:nvPr/>
        </p:nvSpPr>
        <p:spPr>
          <a:xfrm>
            <a:off x="10696575" y="4153992"/>
            <a:ext cx="935434" cy="609600"/>
          </a:xfrm>
          <a:prstGeom prst="rect">
            <a:avLst/>
          </a:prstGeom>
          <a:noFill/>
          <a:ln/>
        </p:spPr>
        <p:txBody>
          <a:bodyPr wrap="square" lIns="25400" tIns="25400" rIns="25400" bIns="25400" rtlCol="0" anchor="t">
            <a:normAutofit/>
          </a:bodyPr>
          <a:lstStyle/>
          <a:p>
            <a:pPr algn="l" indent="0" marL="0">
              <a:buNone/>
            </a:pPr>
            <a:r>
              <a:rPr lang="en-US" sz="3750" dirty="0">
                <a:solidFill>
                  <a:srgbClr val="416180"/>
                </a:solidFill>
                <a:latin typeface="Arial" pitchFamily="34" charset="0"/>
                <a:ea typeface="Arial" pitchFamily="34" charset="-122"/>
                <a:cs typeface="Arial" pitchFamily="34" charset="-120"/>
              </a:rPr>
              <a:t>43 %</a:t>
            </a:r>
            <a:endParaRPr lang="en-US" sz="3750" dirty="0"/>
          </a:p>
        </p:txBody>
      </p:sp>
      <p:sp>
        <p:nvSpPr>
          <p:cNvPr id="17" name="Text 14"/>
          <p:cNvSpPr/>
          <p:nvPr/>
        </p:nvSpPr>
        <p:spPr>
          <a:xfrm>
            <a:off x="11765360" y="4369891"/>
            <a:ext cx="6001425" cy="372368"/>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vol de carte physique</a:t>
            </a:r>
            <a:endParaRPr lang="en-US" sz="1950" dirty="0"/>
          </a:p>
        </p:txBody>
      </p:sp>
      <p:sp>
        <p:nvSpPr>
          <p:cNvPr id="18" name="Text 15"/>
          <p:cNvSpPr/>
          <p:nvPr/>
        </p:nvSpPr>
        <p:spPr>
          <a:xfrm>
            <a:off x="10696575" y="4839792"/>
            <a:ext cx="935434" cy="609600"/>
          </a:xfrm>
          <a:prstGeom prst="rect">
            <a:avLst/>
          </a:prstGeom>
          <a:noFill/>
          <a:ln/>
        </p:spPr>
        <p:txBody>
          <a:bodyPr wrap="square" lIns="25400" tIns="25400" rIns="25400" bIns="25400" rtlCol="0" anchor="t">
            <a:normAutofit/>
          </a:bodyPr>
          <a:lstStyle/>
          <a:p>
            <a:pPr algn="l" indent="0" marL="0">
              <a:buNone/>
            </a:pPr>
            <a:r>
              <a:rPr lang="en-US" sz="3750" dirty="0">
                <a:solidFill>
                  <a:srgbClr val="5D5D60"/>
                </a:solidFill>
                <a:latin typeface="Arial" pitchFamily="34" charset="0"/>
                <a:ea typeface="Arial" pitchFamily="34" charset="-122"/>
                <a:cs typeface="Arial" pitchFamily="34" charset="-120"/>
              </a:rPr>
              <a:t>33 %</a:t>
            </a:r>
            <a:endParaRPr lang="en-US" sz="3750" dirty="0"/>
          </a:p>
        </p:txBody>
      </p:sp>
      <p:sp>
        <p:nvSpPr>
          <p:cNvPr id="19" name="Text 16"/>
          <p:cNvSpPr/>
          <p:nvPr/>
        </p:nvSpPr>
        <p:spPr>
          <a:xfrm>
            <a:off x="11765360" y="5055691"/>
            <a:ext cx="6001425" cy="372368"/>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fraude en ligne</a:t>
            </a:r>
            <a:endParaRPr lang="en-US" sz="1950" dirty="0"/>
          </a:p>
        </p:txBody>
      </p:sp>
      <p:sp>
        <p:nvSpPr>
          <p:cNvPr id="20" name="Text 17"/>
          <p:cNvSpPr/>
          <p:nvPr/>
        </p:nvSpPr>
        <p:spPr>
          <a:xfrm>
            <a:off x="10696575" y="5525592"/>
            <a:ext cx="935434" cy="609600"/>
          </a:xfrm>
          <a:prstGeom prst="rect">
            <a:avLst/>
          </a:prstGeom>
          <a:noFill/>
          <a:ln/>
        </p:spPr>
        <p:txBody>
          <a:bodyPr wrap="square" lIns="25400" tIns="25400" rIns="25400" bIns="25400" rtlCol="0" anchor="t">
            <a:normAutofit/>
          </a:bodyPr>
          <a:lstStyle/>
          <a:p>
            <a:pPr algn="l" indent="0" marL="0">
              <a:buNone/>
            </a:pPr>
            <a:r>
              <a:rPr lang="en-US" sz="3750" dirty="0">
                <a:solidFill>
                  <a:srgbClr val="5D5D60"/>
                </a:solidFill>
                <a:latin typeface="Arial" pitchFamily="34" charset="0"/>
                <a:ea typeface="Arial" pitchFamily="34" charset="-122"/>
                <a:cs typeface="Arial" pitchFamily="34" charset="-120"/>
              </a:rPr>
              <a:t>0 %</a:t>
            </a:r>
            <a:endParaRPr lang="en-US" sz="3750" dirty="0"/>
          </a:p>
        </p:txBody>
      </p:sp>
      <p:sp>
        <p:nvSpPr>
          <p:cNvPr id="21" name="Text 18"/>
          <p:cNvSpPr/>
          <p:nvPr/>
        </p:nvSpPr>
        <p:spPr>
          <a:xfrm>
            <a:off x="11765360" y="5741491"/>
            <a:ext cx="6001425" cy="372368"/>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skimming et test de carte</a:t>
            </a:r>
            <a:endParaRPr lang="en-US" sz="1950" dirty="0"/>
          </a:p>
        </p:txBody>
      </p:sp>
      <p:sp>
        <p:nvSpPr>
          <p:cNvPr id="22" name="Shape 19"/>
          <p:cNvSpPr/>
          <p:nvPr/>
        </p:nvSpPr>
        <p:spPr>
          <a:xfrm>
            <a:off x="10696575" y="6287592"/>
            <a:ext cx="6524625" cy="2819301"/>
          </a:xfrm>
          <a:prstGeom prst="rect">
            <a:avLst/>
          </a:prstGeom>
          <a:ln w="6350">
            <a:solidFill>
              <a:srgbClr val="1D1F20">
                <a:alpha val="16000"/>
              </a:srgbClr>
            </a:solidFill>
            <a:prstDash val="solid"/>
          </a:ln>
        </p:spPr>
      </p:sp>
      <p:sp>
        <p:nvSpPr>
          <p:cNvPr id="23" name="Shape 20"/>
          <p:cNvSpPr/>
          <p:nvPr/>
        </p:nvSpPr>
        <p:spPr>
          <a:xfrm>
            <a:off x="10645776" y="6236791"/>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4" name="Shape 21"/>
          <p:cNvSpPr/>
          <p:nvPr/>
        </p:nvSpPr>
        <p:spPr>
          <a:xfrm>
            <a:off x="17167225" y="905291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5" name="Text 22"/>
          <p:cNvSpPr/>
          <p:nvPr/>
        </p:nvSpPr>
        <p:spPr>
          <a:xfrm>
            <a:off x="10988676" y="6560641"/>
            <a:ext cx="6534468"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LECTURE</a:t>
            </a:r>
            <a:endParaRPr lang="en-US" sz="1800" dirty="0"/>
          </a:p>
        </p:txBody>
      </p:sp>
      <p:sp>
        <p:nvSpPr>
          <p:cNvPr id="26" name="Text 23"/>
          <p:cNvSpPr/>
          <p:nvPr/>
        </p:nvSpPr>
        <p:spPr>
          <a:xfrm>
            <a:off x="10988676" y="6928942"/>
            <a:ext cx="6118638" cy="1943001"/>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1D1F20"/>
                </a:solidFill>
                <a:latin typeface="Arial" pitchFamily="34" charset="0"/>
                <a:ea typeface="Arial" pitchFamily="34" charset="-122"/>
                <a:cs typeface="Arial" pitchFamily="34" charset="-120"/>
              </a:rPr>
              <a:t>Il détecte ce qui </a:t>
            </a:r>
            <a:pPr algn="l" indent="0" marL="0">
              <a:lnSpc>
                <a:spcPct val="122500"/>
              </a:lnSpc>
              <a:buNone/>
            </a:pPr>
            <a:r>
              <a:rPr lang="en-US" sz="2100" b="1" dirty="0">
                <a:solidFill>
                  <a:srgbClr val="1D1F20"/>
                </a:solidFill>
                <a:latin typeface="Arial" pitchFamily="34" charset="0"/>
                <a:ea typeface="Arial" pitchFamily="34" charset="-122"/>
                <a:cs typeface="Arial" pitchFamily="34" charset="-120"/>
              </a:rPr>
              <a:t>rompt franchement </a:t>
            </a:r>
            <a:pPr algn="l" indent="0" marL="0">
              <a:lnSpc>
                <a:spcPct val="122500"/>
              </a:lnSpc>
              <a:buNone/>
            </a:pPr>
            <a:r>
              <a:rPr lang="en-US" sz="2100" dirty="0">
                <a:solidFill>
                  <a:srgbClr val="1D1F20"/>
                </a:solidFill>
                <a:latin typeface="Arial" pitchFamily="34" charset="0"/>
                <a:ea typeface="Arial" pitchFamily="34" charset="-122"/>
                <a:cs typeface="Arial" pitchFamily="34" charset="-120"/>
              </a:rPr>
              <a:t>le comportement habituel — un gros montant, très loin du domicile. Il est aveugle aux fraudes </a:t>
            </a:r>
            <a:pPr algn="l" indent="0" marL="0">
              <a:lnSpc>
                <a:spcPct val="122500"/>
              </a:lnSpc>
              <a:buNone/>
            </a:pPr>
            <a:r>
              <a:rPr lang="en-US" sz="2100" b="1" dirty="0">
                <a:solidFill>
                  <a:srgbClr val="1D1F20"/>
                </a:solidFill>
                <a:latin typeface="Arial" pitchFamily="34" charset="0"/>
                <a:ea typeface="Arial" pitchFamily="34" charset="-122"/>
                <a:cs typeface="Arial" pitchFamily="34" charset="-120"/>
              </a:rPr>
              <a:t>discrètes </a:t>
            </a:r>
            <a:pPr algn="l" indent="0" marL="0">
              <a:lnSpc>
                <a:spcPct val="122500"/>
              </a:lnSpc>
              <a:buNone/>
            </a:pPr>
            <a:r>
              <a:rPr lang="en-US" sz="2100" dirty="0">
                <a:solidFill>
                  <a:srgbClr val="1D1F20"/>
                </a:solidFill>
                <a:latin typeface="Arial" pitchFamily="34" charset="0"/>
                <a:ea typeface="Arial" pitchFamily="34" charset="-122"/>
                <a:cs typeface="Arial" pitchFamily="34" charset="-120"/>
              </a:rPr>
              <a:t>: le test de carte à 1 €, indiscernable d'un petit achat ordinaire.</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2731463"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BC04 · DEEP LEARNING</a:t>
            </a:r>
            <a:endParaRPr lang="en-US" sz="1800" dirty="0"/>
          </a:p>
        </p:txBody>
      </p:sp>
      <p:sp>
        <p:nvSpPr>
          <p:cNvPr id="3" name="Text 1"/>
          <p:cNvSpPr/>
          <p:nvPr/>
        </p:nvSpPr>
        <p:spPr>
          <a:xfrm>
            <a:off x="15003959" y="685800"/>
            <a:ext cx="2438966"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LSTM DE SÉQUENCES</a:t>
            </a:r>
            <a:endParaRPr lang="en-US" sz="1800" dirty="0"/>
          </a:p>
        </p:txBody>
      </p:sp>
      <p:sp>
        <p:nvSpPr>
          <p:cNvPr id="4" name="Text 2"/>
          <p:cNvSpPr/>
          <p:nvPr/>
        </p:nvSpPr>
        <p:spPr>
          <a:xfrm>
            <a:off x="1066800" y="122555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Lire l'historique du client, pas la transaction isolée</a:t>
            </a:r>
            <a:endParaRPr lang="en-US" sz="5850" dirty="0"/>
          </a:p>
        </p:txBody>
      </p:sp>
      <p:sp>
        <p:nvSpPr>
          <p:cNvPr id="5" name="Text 3"/>
          <p:cNvSpPr/>
          <p:nvPr/>
        </p:nvSpPr>
        <p:spPr>
          <a:xfrm>
            <a:off x="1066800" y="2249984"/>
            <a:ext cx="15206662" cy="858044"/>
          </a:xfrm>
          <a:prstGeom prst="rect">
            <a:avLst/>
          </a:prstGeom>
          <a:noFill/>
          <a:ln/>
        </p:spPr>
        <p:txBody>
          <a:bodyPr wrap="square" lIns="25400" tIns="25400" rIns="25400" bIns="25400" rtlCol="0" anchor="t">
            <a:normAutofit/>
          </a:bodyPr>
          <a:lstStyle/>
          <a:p>
            <a:pPr algn="l" indent="0" marL="0">
              <a:lnSpc>
                <a:spcPct val="128724"/>
              </a:lnSpc>
              <a:buNone/>
            </a:pPr>
            <a:r>
              <a:rPr lang="en-US" sz="2175" dirty="0">
                <a:solidFill>
                  <a:srgbClr val="1D1F20"/>
                </a:solidFill>
                <a:latin typeface="Arial" pitchFamily="34" charset="0"/>
                <a:ea typeface="Arial" pitchFamily="34" charset="-122"/>
                <a:cs typeface="Arial" pitchFamily="34" charset="-120"/>
              </a:rPr>
              <a:t>Le réseau LSTM reçoit les </a:t>
            </a:r>
            <a:pPr algn="l" indent="0" marL="0">
              <a:lnSpc>
                <a:spcPct val="128724"/>
              </a:lnSpc>
              <a:buNone/>
            </a:pPr>
            <a:r>
              <a:rPr lang="en-US" sz="2175" b="1" dirty="0">
                <a:solidFill>
                  <a:srgbClr val="1D1F20"/>
                </a:solidFill>
                <a:latin typeface="Arial" pitchFamily="34" charset="0"/>
                <a:ea typeface="Arial" pitchFamily="34" charset="-122"/>
                <a:cs typeface="Arial" pitchFamily="34" charset="-120"/>
              </a:rPr>
              <a:t>5 dernières transactions </a:t>
            </a:r>
            <a:pPr algn="l" indent="0" marL="0">
              <a:lnSpc>
                <a:spcPct val="128724"/>
              </a:lnSpc>
              <a:buNone/>
            </a:pPr>
            <a:r>
              <a:rPr lang="en-US" sz="2175" dirty="0">
                <a:solidFill>
                  <a:srgbClr val="1D1F20"/>
                </a:solidFill>
                <a:latin typeface="Arial" pitchFamily="34" charset="0"/>
                <a:ea typeface="Arial" pitchFamily="34" charset="-122"/>
                <a:cs typeface="Arial" pitchFamily="34" charset="-120"/>
              </a:rPr>
              <a:t>du client et juge la suite, pas le paiement seul : un achat banal après quatre achats à l'étranger n'a pas le même sens qu'isolé.</a:t>
            </a:r>
            <a:endParaRPr lang="en-US" sz="2175" dirty="0"/>
          </a:p>
        </p:txBody>
      </p:sp>
      <p:sp>
        <p:nvSpPr>
          <p:cNvPr id="6" name="Shape 4"/>
          <p:cNvSpPr/>
          <p:nvPr/>
        </p:nvSpPr>
        <p:spPr>
          <a:xfrm>
            <a:off x="1447800" y="3489027"/>
            <a:ext cx="4665563" cy="5959773"/>
          </a:xfrm>
          <a:prstGeom prst="rect">
            <a:avLst/>
          </a:prstGeom>
          <a:solidFill>
            <a:srgbClr val="F5F5F8"/>
          </a:solidFill>
          <a:ln w="6350">
            <a:solidFill>
              <a:srgbClr val="1D1F20">
                <a:alpha val="16000"/>
              </a:srgbClr>
            </a:solidFill>
            <a:prstDash val="solid"/>
          </a:ln>
        </p:spPr>
      </p:sp>
      <p:sp>
        <p:nvSpPr>
          <p:cNvPr id="7" name="Shape 5"/>
          <p:cNvSpPr/>
          <p:nvPr/>
        </p:nvSpPr>
        <p:spPr>
          <a:xfrm>
            <a:off x="1397000" y="343822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8" name="Shape 6"/>
          <p:cNvSpPr/>
          <p:nvPr/>
        </p:nvSpPr>
        <p:spPr>
          <a:xfrm>
            <a:off x="6059388"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9" name="Image 0" descr="preencoded.png">    </p:cNvPr>
          <p:cNvPicPr>
            <a:picLocks noChangeAspect="1"/>
          </p:cNvPicPr>
          <p:nvPr/>
        </p:nvPicPr>
        <p:blipFill>
          <a:blip r:embed="rId1"/>
          <a:srcRect l="0" r="0" t="-93546" b="-93546"/>
          <a:stretch/>
        </p:blipFill>
        <p:spPr>
          <a:xfrm>
            <a:off x="1644650" y="3685877"/>
            <a:ext cx="4271863" cy="4905673"/>
          </a:xfrm>
          <a:prstGeom prst="rect">
            <a:avLst/>
          </a:prstGeom>
        </p:spPr>
      </p:pic>
      <p:sp>
        <p:nvSpPr>
          <p:cNvPr id="10" name="Text 7"/>
          <p:cNvSpPr/>
          <p:nvPr/>
        </p:nvSpPr>
        <p:spPr>
          <a:xfrm>
            <a:off x="1644650" y="8705850"/>
            <a:ext cx="4400019" cy="58420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19 époques, classe rare pondérée d'un facteur 8.</a:t>
            </a:r>
            <a:endParaRPr lang="en-US" sz="1800" dirty="0"/>
          </a:p>
        </p:txBody>
      </p:sp>
      <p:sp>
        <p:nvSpPr>
          <p:cNvPr id="11" name="Shape 8"/>
          <p:cNvSpPr/>
          <p:nvPr/>
        </p:nvSpPr>
        <p:spPr>
          <a:xfrm>
            <a:off x="7218263" y="3489027"/>
            <a:ext cx="4665563" cy="5959773"/>
          </a:xfrm>
          <a:prstGeom prst="rect">
            <a:avLst/>
          </a:prstGeom>
          <a:solidFill>
            <a:srgbClr val="F5F5F8"/>
          </a:solidFill>
          <a:ln w="6350">
            <a:solidFill>
              <a:srgbClr val="1D1F20">
                <a:alpha val="16000"/>
              </a:srgbClr>
            </a:solidFill>
            <a:prstDash val="solid"/>
          </a:ln>
        </p:spPr>
      </p:sp>
      <p:sp>
        <p:nvSpPr>
          <p:cNvPr id="12" name="Shape 9"/>
          <p:cNvSpPr/>
          <p:nvPr/>
        </p:nvSpPr>
        <p:spPr>
          <a:xfrm>
            <a:off x="7167464" y="343822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3" name="Shape 10"/>
          <p:cNvSpPr/>
          <p:nvPr/>
        </p:nvSpPr>
        <p:spPr>
          <a:xfrm>
            <a:off x="11829852"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14" name="Image 1" descr="preencoded.png">    </p:cNvPr>
          <p:cNvPicPr>
            <a:picLocks noChangeAspect="1"/>
          </p:cNvPicPr>
          <p:nvPr/>
        </p:nvPicPr>
        <p:blipFill>
          <a:blip r:embed="rId2"/>
          <a:srcRect l="0" r="0" t="-87305" b="-87305"/>
          <a:stretch/>
        </p:blipFill>
        <p:spPr>
          <a:xfrm>
            <a:off x="7415114" y="3685877"/>
            <a:ext cx="4271863" cy="4905673"/>
          </a:xfrm>
          <a:prstGeom prst="rect">
            <a:avLst/>
          </a:prstGeom>
        </p:spPr>
      </p:pic>
      <p:sp>
        <p:nvSpPr>
          <p:cNvPr id="15" name="Text 11"/>
          <p:cNvSpPr/>
          <p:nvPr/>
        </p:nvSpPr>
        <p:spPr>
          <a:xfrm>
            <a:off x="7415114" y="8705850"/>
            <a:ext cx="4400019" cy="58420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LSTM (AUC 0,996) face à LightGBM (AUC 0,998) sur le même jeu de test.</a:t>
            </a:r>
            <a:endParaRPr lang="en-US" sz="1800" dirty="0"/>
          </a:p>
        </p:txBody>
      </p:sp>
      <p:sp>
        <p:nvSpPr>
          <p:cNvPr id="16" name="Text 12"/>
          <p:cNvSpPr/>
          <p:nvPr/>
        </p:nvSpPr>
        <p:spPr>
          <a:xfrm>
            <a:off x="12607727" y="4033738"/>
            <a:ext cx="5074821"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COMPLÉMENTARITÉ</a:t>
            </a:r>
            <a:endParaRPr lang="en-US" sz="1800" dirty="0"/>
          </a:p>
        </p:txBody>
      </p:sp>
      <p:sp>
        <p:nvSpPr>
          <p:cNvPr id="17" name="Text 13"/>
          <p:cNvSpPr/>
          <p:nvPr/>
        </p:nvSpPr>
        <p:spPr>
          <a:xfrm>
            <a:off x="12607727" y="4497288"/>
            <a:ext cx="791270" cy="584200"/>
          </a:xfrm>
          <a:prstGeom prst="rect">
            <a:avLst/>
          </a:prstGeom>
          <a:noFill/>
          <a:ln/>
        </p:spPr>
        <p:txBody>
          <a:bodyPr wrap="square" lIns="25400" tIns="25400" rIns="25400" bIns="25400" rtlCol="0" anchor="t">
            <a:normAutofit/>
          </a:bodyPr>
          <a:lstStyle/>
          <a:p>
            <a:pPr algn="l" indent="0" marL="0">
              <a:buNone/>
            </a:pPr>
            <a:r>
              <a:rPr lang="en-US" sz="3600" dirty="0">
                <a:solidFill>
                  <a:srgbClr val="416180"/>
                </a:solidFill>
                <a:latin typeface="Arial" pitchFamily="34" charset="0"/>
                <a:ea typeface="Arial" pitchFamily="34" charset="-122"/>
                <a:cs typeface="Arial" pitchFamily="34" charset="-120"/>
              </a:rPr>
              <a:t>1 130</a:t>
            </a:r>
            <a:endParaRPr lang="en-US" sz="3600" dirty="0"/>
          </a:p>
        </p:txBody>
      </p:sp>
      <p:sp>
        <p:nvSpPr>
          <p:cNvPr id="18" name="Text 14"/>
          <p:cNvSpPr/>
          <p:nvPr/>
        </p:nvSpPr>
        <p:spPr>
          <a:xfrm>
            <a:off x="13513296" y="4706838"/>
            <a:ext cx="4078694" cy="347663"/>
          </a:xfrm>
          <a:prstGeom prst="rect">
            <a:avLst/>
          </a:prstGeom>
          <a:noFill/>
          <a:ln/>
        </p:spPr>
        <p:txBody>
          <a:bodyPr wrap="square" lIns="25400" tIns="25400" rIns="25400" bIns="25400" rtlCol="0" anchor="t">
            <a:normAutofit/>
          </a:bodyPr>
          <a:lstStyle/>
          <a:p>
            <a:pPr algn="l" indent="0" marL="0">
              <a:lnSpc>
                <a:spcPct val="113372"/>
              </a:lnSpc>
              <a:buNone/>
            </a:pPr>
            <a:r>
              <a:rPr lang="en-US" sz="1875" dirty="0">
                <a:solidFill>
                  <a:srgbClr val="1D1F20"/>
                </a:solidFill>
                <a:latin typeface="Arial" pitchFamily="34" charset="0"/>
                <a:ea typeface="Arial" pitchFamily="34" charset="-122"/>
                <a:cs typeface="Arial" pitchFamily="34" charset="-120"/>
              </a:rPr>
              <a:t>fraudes vues par les deux modèles</a:t>
            </a:r>
            <a:endParaRPr lang="en-US" sz="1875" dirty="0"/>
          </a:p>
        </p:txBody>
      </p:sp>
      <p:sp>
        <p:nvSpPr>
          <p:cNvPr id="19" name="Text 15"/>
          <p:cNvSpPr/>
          <p:nvPr/>
        </p:nvSpPr>
        <p:spPr>
          <a:xfrm>
            <a:off x="12607727" y="5138639"/>
            <a:ext cx="791270" cy="584200"/>
          </a:xfrm>
          <a:prstGeom prst="rect">
            <a:avLst/>
          </a:prstGeom>
          <a:noFill/>
          <a:ln/>
        </p:spPr>
        <p:txBody>
          <a:bodyPr wrap="square" lIns="25400" tIns="25400" rIns="25400" bIns="25400" rtlCol="0" anchor="t">
            <a:normAutofit/>
          </a:bodyPr>
          <a:lstStyle/>
          <a:p>
            <a:pPr algn="l" indent="0" marL="0">
              <a:buNone/>
            </a:pPr>
            <a:r>
              <a:rPr lang="en-US" sz="3600" dirty="0">
                <a:solidFill>
                  <a:srgbClr val="416180"/>
                </a:solidFill>
                <a:latin typeface="Arial" pitchFamily="34" charset="0"/>
                <a:ea typeface="Arial" pitchFamily="34" charset="-122"/>
                <a:cs typeface="Arial" pitchFamily="34" charset="-120"/>
              </a:rPr>
              <a:t>+24</a:t>
            </a:r>
            <a:endParaRPr lang="en-US" sz="3600" dirty="0"/>
          </a:p>
        </p:txBody>
      </p:sp>
      <p:sp>
        <p:nvSpPr>
          <p:cNvPr id="20" name="Text 16"/>
          <p:cNvSpPr/>
          <p:nvPr/>
        </p:nvSpPr>
        <p:spPr>
          <a:xfrm>
            <a:off x="13513296" y="5348189"/>
            <a:ext cx="4078694" cy="347663"/>
          </a:xfrm>
          <a:prstGeom prst="rect">
            <a:avLst/>
          </a:prstGeom>
          <a:noFill/>
          <a:ln/>
        </p:spPr>
        <p:txBody>
          <a:bodyPr wrap="square" lIns="25400" tIns="25400" rIns="25400" bIns="25400" rtlCol="0" anchor="t">
            <a:normAutofit/>
          </a:bodyPr>
          <a:lstStyle/>
          <a:p>
            <a:pPr algn="l" indent="0" marL="0">
              <a:lnSpc>
                <a:spcPct val="113372"/>
              </a:lnSpc>
              <a:buNone/>
            </a:pPr>
            <a:r>
              <a:rPr lang="en-US" sz="1875" dirty="0">
                <a:solidFill>
                  <a:srgbClr val="1D1F20"/>
                </a:solidFill>
                <a:latin typeface="Arial" pitchFamily="34" charset="0"/>
                <a:ea typeface="Arial" pitchFamily="34" charset="-122"/>
                <a:cs typeface="Arial" pitchFamily="34" charset="-120"/>
              </a:rPr>
              <a:t>vues par le LSTM seul</a:t>
            </a:r>
            <a:endParaRPr lang="en-US" sz="1875" dirty="0"/>
          </a:p>
        </p:txBody>
      </p:sp>
      <p:sp>
        <p:nvSpPr>
          <p:cNvPr id="21" name="Text 17"/>
          <p:cNvSpPr/>
          <p:nvPr/>
        </p:nvSpPr>
        <p:spPr>
          <a:xfrm>
            <a:off x="12607727" y="5779988"/>
            <a:ext cx="791270" cy="584200"/>
          </a:xfrm>
          <a:prstGeom prst="rect">
            <a:avLst/>
          </a:prstGeom>
          <a:noFill/>
          <a:ln/>
        </p:spPr>
        <p:txBody>
          <a:bodyPr wrap="square" lIns="25400" tIns="25400" rIns="25400" bIns="25400" rtlCol="0" anchor="t">
            <a:normAutofit/>
          </a:bodyPr>
          <a:lstStyle/>
          <a:p>
            <a:pPr algn="l" indent="0" marL="0">
              <a:buNone/>
            </a:pPr>
            <a:r>
              <a:rPr lang="en-US" sz="3600" dirty="0">
                <a:solidFill>
                  <a:srgbClr val="416180"/>
                </a:solidFill>
                <a:latin typeface="Arial" pitchFamily="34" charset="0"/>
                <a:ea typeface="Arial" pitchFamily="34" charset="-122"/>
                <a:cs typeface="Arial" pitchFamily="34" charset="-120"/>
              </a:rPr>
              <a:t>+50</a:t>
            </a:r>
            <a:endParaRPr lang="en-US" sz="3600" dirty="0"/>
          </a:p>
        </p:txBody>
      </p:sp>
      <p:sp>
        <p:nvSpPr>
          <p:cNvPr id="22" name="Text 18"/>
          <p:cNvSpPr/>
          <p:nvPr/>
        </p:nvSpPr>
        <p:spPr>
          <a:xfrm>
            <a:off x="13513296" y="5989538"/>
            <a:ext cx="4078694" cy="347663"/>
          </a:xfrm>
          <a:prstGeom prst="rect">
            <a:avLst/>
          </a:prstGeom>
          <a:noFill/>
          <a:ln/>
        </p:spPr>
        <p:txBody>
          <a:bodyPr wrap="square" lIns="25400" tIns="25400" rIns="25400" bIns="25400" rtlCol="0" anchor="t">
            <a:normAutofit/>
          </a:bodyPr>
          <a:lstStyle/>
          <a:p>
            <a:pPr algn="l" indent="0" marL="0">
              <a:lnSpc>
                <a:spcPct val="113372"/>
              </a:lnSpc>
              <a:buNone/>
            </a:pPr>
            <a:r>
              <a:rPr lang="en-US" sz="1875" dirty="0">
                <a:solidFill>
                  <a:srgbClr val="1D1F20"/>
                </a:solidFill>
                <a:latin typeface="Arial" pitchFamily="34" charset="0"/>
                <a:ea typeface="Arial" pitchFamily="34" charset="-122"/>
                <a:cs typeface="Arial" pitchFamily="34" charset="-120"/>
              </a:rPr>
              <a:t>vues par LightGBM seul</a:t>
            </a:r>
            <a:endParaRPr lang="en-US" sz="1875" dirty="0"/>
          </a:p>
        </p:txBody>
      </p:sp>
      <p:sp>
        <p:nvSpPr>
          <p:cNvPr id="23" name="Text 19"/>
          <p:cNvSpPr/>
          <p:nvPr/>
        </p:nvSpPr>
        <p:spPr>
          <a:xfrm>
            <a:off x="12607727" y="6421338"/>
            <a:ext cx="791270" cy="584200"/>
          </a:xfrm>
          <a:prstGeom prst="rect">
            <a:avLst/>
          </a:prstGeom>
          <a:noFill/>
          <a:ln/>
        </p:spPr>
        <p:txBody>
          <a:bodyPr wrap="square" lIns="25400" tIns="25400" rIns="25400" bIns="25400" rtlCol="0" anchor="t">
            <a:normAutofit/>
          </a:bodyPr>
          <a:lstStyle/>
          <a:p>
            <a:pPr algn="l" indent="0" marL="0">
              <a:buNone/>
            </a:pPr>
            <a:r>
              <a:rPr lang="en-US" sz="3600" dirty="0">
                <a:solidFill>
                  <a:srgbClr val="5D5D60"/>
                </a:solidFill>
                <a:latin typeface="Arial" pitchFamily="34" charset="0"/>
                <a:ea typeface="Arial" pitchFamily="34" charset="-122"/>
                <a:cs typeface="Arial" pitchFamily="34" charset="-120"/>
              </a:rPr>
              <a:t>17</a:t>
            </a:r>
            <a:endParaRPr lang="en-US" sz="3600" dirty="0"/>
          </a:p>
        </p:txBody>
      </p:sp>
      <p:sp>
        <p:nvSpPr>
          <p:cNvPr id="24" name="Text 20"/>
          <p:cNvSpPr/>
          <p:nvPr/>
        </p:nvSpPr>
        <p:spPr>
          <a:xfrm>
            <a:off x="13513296" y="6630888"/>
            <a:ext cx="4078694" cy="347663"/>
          </a:xfrm>
          <a:prstGeom prst="rect">
            <a:avLst/>
          </a:prstGeom>
          <a:noFill/>
          <a:ln/>
        </p:spPr>
        <p:txBody>
          <a:bodyPr wrap="square" lIns="25400" tIns="25400" rIns="25400" bIns="25400" rtlCol="0" anchor="t">
            <a:normAutofit/>
          </a:bodyPr>
          <a:lstStyle/>
          <a:p>
            <a:pPr algn="l" indent="0" marL="0">
              <a:lnSpc>
                <a:spcPct val="113372"/>
              </a:lnSpc>
              <a:buNone/>
            </a:pPr>
            <a:r>
              <a:rPr lang="en-US" sz="1875" dirty="0">
                <a:solidFill>
                  <a:srgbClr val="1D1F20"/>
                </a:solidFill>
                <a:latin typeface="Arial" pitchFamily="34" charset="0"/>
                <a:ea typeface="Arial" pitchFamily="34" charset="-122"/>
                <a:cs typeface="Arial" pitchFamily="34" charset="-120"/>
              </a:rPr>
              <a:t>manquées par les deux</a:t>
            </a:r>
            <a:endParaRPr lang="en-US" sz="1875" dirty="0"/>
          </a:p>
        </p:txBody>
      </p:sp>
      <p:sp>
        <p:nvSpPr>
          <p:cNvPr id="25" name="Text 21"/>
          <p:cNvSpPr/>
          <p:nvPr/>
        </p:nvSpPr>
        <p:spPr>
          <a:xfrm>
            <a:off x="12607727" y="7157939"/>
            <a:ext cx="4751878" cy="1784152"/>
          </a:xfrm>
          <a:prstGeom prst="rect">
            <a:avLst/>
          </a:prstGeom>
          <a:noFill/>
          <a:ln/>
        </p:spPr>
        <p:txBody>
          <a:bodyPr wrap="square" lIns="25400" tIns="25400" rIns="25400" bIns="25400" rtlCol="0" anchor="t">
            <a:normAutofit/>
          </a:bodyPr>
          <a:lstStyle/>
          <a:p>
            <a:pPr algn="l" indent="0" marL="0">
              <a:lnSpc>
                <a:spcPct val="124091"/>
              </a:lnSpc>
              <a:buNone/>
            </a:pPr>
            <a:r>
              <a:rPr lang="en-US" sz="1950" b="1" dirty="0">
                <a:solidFill>
                  <a:srgbClr val="1D1F20"/>
                </a:solidFill>
                <a:latin typeface="Arial" pitchFamily="34" charset="0"/>
                <a:ea typeface="Arial" pitchFamily="34" charset="-122"/>
                <a:cs typeface="Arial" pitchFamily="34" charset="-120"/>
              </a:rPr>
              <a:t>Conclusion : </a:t>
            </a:r>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le deep learning ne remplace pas LightGBM ici, mais les deux ne se trompent pas sur les mêmes cas. Un système à deux modèles est la piste d'amélioration la plus crédible.</a:t>
            </a:r>
            <a:endParaRPr lang="en-US" sz="1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D2D3D"/>
        </a:solidFill>
      </p:bgPr>
    </p:bg>
    <p:spTree>
      <p:nvGrpSpPr>
        <p:cNvPr id="1" name=""/>
        <p:cNvGrpSpPr/>
        <p:nvPr/>
      </p:nvGrpSpPr>
      <p:grpSpPr>
        <a:xfrm>
          <a:off x="0" y="0"/>
          <a:ext cx="0" cy="0"/>
          <a:chOff x="0" y="0"/>
          <a:chExt cx="0" cy="0"/>
        </a:xfrm>
      </p:grpSpPr>
      <p:sp>
        <p:nvSpPr>
          <p:cNvPr id="2" name="Text 0"/>
          <p:cNvSpPr/>
          <p:nvPr/>
        </p:nvSpPr>
        <p:spPr>
          <a:xfrm>
            <a:off x="1066800" y="3175992"/>
            <a:ext cx="17769840" cy="336550"/>
          </a:xfrm>
          <a:prstGeom prst="rect">
            <a:avLst/>
          </a:prstGeom>
          <a:noFill/>
          <a:ln/>
        </p:spPr>
        <p:txBody>
          <a:bodyPr wrap="square" lIns="25400" tIns="25400" rIns="25400" bIns="25400" rtlCol="0" anchor="t">
            <a:normAutofit/>
          </a:bodyPr>
          <a:lstStyle/>
          <a:p>
            <a:pPr algn="l" indent="0" marL="0">
              <a:buNone/>
            </a:pPr>
            <a:r>
              <a:rPr lang="en-US" sz="1950" spc="390" kern="0" dirty="0">
                <a:solidFill>
                  <a:srgbClr val="94BCE3"/>
                </a:solidFill>
                <a:latin typeface="Arial" pitchFamily="34" charset="0"/>
                <a:ea typeface="Arial" pitchFamily="34" charset="-122"/>
                <a:cs typeface="Arial" pitchFamily="34" charset="-120"/>
              </a:rPr>
              <a:t>BLOC DE COMPÉTENCES 05</a:t>
            </a:r>
            <a:endParaRPr lang="en-US" sz="1950" dirty="0"/>
          </a:p>
        </p:txBody>
      </p:sp>
      <p:sp>
        <p:nvSpPr>
          <p:cNvPr id="3" name="Text 1"/>
          <p:cNvSpPr/>
          <p:nvPr/>
        </p:nvSpPr>
        <p:spPr>
          <a:xfrm>
            <a:off x="1066800" y="3855442"/>
            <a:ext cx="14668500" cy="1527770"/>
          </a:xfrm>
          <a:prstGeom prst="rect">
            <a:avLst/>
          </a:prstGeom>
          <a:noFill/>
          <a:ln/>
        </p:spPr>
        <p:txBody>
          <a:bodyPr wrap="square" lIns="25400" tIns="25400" rIns="25400" bIns="25400" rtlCol="0" anchor="t">
            <a:normAutofit/>
          </a:bodyPr>
          <a:lstStyle/>
          <a:p>
            <a:pPr algn="l" indent="0" marL="0">
              <a:lnSpc>
                <a:spcPct val="80068"/>
              </a:lnSpc>
              <a:buNone/>
            </a:pPr>
            <a:r>
              <a:rPr lang="en-US" sz="12750" b="1" spc="-255" kern="0" dirty="0">
                <a:solidFill>
                  <a:srgbClr val="F2F2F3"/>
                </a:solidFill>
                <a:latin typeface="Arial" pitchFamily="34" charset="0"/>
                <a:ea typeface="Arial" pitchFamily="34" charset="-122"/>
                <a:cs typeface="Arial" pitchFamily="34" charset="-120"/>
              </a:rPr>
              <a:t>API &amp; monitoring</a:t>
            </a:r>
            <a:endParaRPr lang="en-US" sz="12750" dirty="0"/>
          </a:p>
        </p:txBody>
      </p:sp>
      <p:sp>
        <p:nvSpPr>
          <p:cNvPr id="4" name="Shape 2"/>
          <p:cNvSpPr/>
          <p:nvPr/>
        </p:nvSpPr>
        <p:spPr>
          <a:xfrm>
            <a:off x="1066800" y="5726113"/>
            <a:ext cx="1524000" cy="9525"/>
          </a:xfrm>
          <a:prstGeom prst="rect">
            <a:avLst/>
          </a:prstGeom>
          <a:solidFill>
            <a:srgbClr val="597EA3"/>
          </a:solidFill>
          <a:ln/>
        </p:spPr>
      </p:sp>
      <p:sp>
        <p:nvSpPr>
          <p:cNvPr id="5" name="Text 3"/>
          <p:cNvSpPr/>
          <p:nvPr/>
        </p:nvSpPr>
        <p:spPr>
          <a:xfrm>
            <a:off x="1066800" y="6116638"/>
            <a:ext cx="12263438" cy="1032470"/>
          </a:xfrm>
          <a:prstGeom prst="rect">
            <a:avLst/>
          </a:prstGeom>
          <a:noFill/>
          <a:ln/>
        </p:spPr>
        <p:txBody>
          <a:bodyPr wrap="square" lIns="25400" tIns="25400" rIns="25400" bIns="25400" rtlCol="0" anchor="t">
            <a:normAutofit/>
          </a:bodyPr>
          <a:lstStyle/>
          <a:p>
            <a:pPr algn="l" indent="0" marL="0">
              <a:lnSpc>
                <a:spcPct val="126290"/>
              </a:lnSpc>
              <a:buNone/>
            </a:pPr>
            <a:r>
              <a:rPr lang="en-US" sz="2700" dirty="0">
                <a:solidFill>
                  <a:srgbClr val="D6EBFF"/>
                </a:solidFill>
                <a:latin typeface="Arial" pitchFamily="34" charset="0"/>
                <a:ea typeface="Arial" pitchFamily="34" charset="-122"/>
                <a:cs typeface="Arial" pitchFamily="34" charset="-120"/>
              </a:rPr>
              <a:t>Servir le modèle en temps réel, le conteneuriser, le tester automatiquement et surveiller son vieillissement.</a:t>
            </a:r>
            <a:endParaRPr lang="en-US" sz="2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3059867"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BC05 · API &amp; MONITORING</a:t>
            </a:r>
            <a:endParaRPr lang="en-US" sz="1800" dirty="0"/>
          </a:p>
        </p:txBody>
      </p:sp>
      <p:sp>
        <p:nvSpPr>
          <p:cNvPr id="3" name="Text 1"/>
          <p:cNvSpPr/>
          <p:nvPr/>
        </p:nvSpPr>
        <p:spPr>
          <a:xfrm>
            <a:off x="15367199" y="685800"/>
            <a:ext cx="2039402"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MISE EN SERVICE</a:t>
            </a:r>
            <a:endParaRPr lang="en-US" sz="1800" dirty="0"/>
          </a:p>
        </p:txBody>
      </p:sp>
      <p:sp>
        <p:nvSpPr>
          <p:cNvPr id="4" name="Text 2"/>
          <p:cNvSpPr/>
          <p:nvPr/>
        </p:nvSpPr>
        <p:spPr>
          <a:xfrm>
            <a:off x="1066800" y="124460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Du notebook au service qui répond</a:t>
            </a:r>
            <a:endParaRPr lang="en-US" sz="5850" dirty="0"/>
          </a:p>
        </p:txBody>
      </p:sp>
      <p:sp>
        <p:nvSpPr>
          <p:cNvPr id="5" name="Shape 3"/>
          <p:cNvSpPr/>
          <p:nvPr/>
        </p:nvSpPr>
        <p:spPr>
          <a:xfrm>
            <a:off x="1066800" y="2288084"/>
            <a:ext cx="9525" cy="1289050"/>
          </a:xfrm>
          <a:prstGeom prst="rect">
            <a:avLst/>
          </a:prstGeom>
          <a:solidFill>
            <a:srgbClr val="1D1F20">
              <a:alpha val="16000"/>
            </a:srgbClr>
          </a:solidFill>
          <a:ln/>
        </p:spPr>
      </p:sp>
      <p:sp>
        <p:nvSpPr>
          <p:cNvPr id="6" name="Text 4"/>
          <p:cNvSpPr/>
          <p:nvPr/>
        </p:nvSpPr>
        <p:spPr>
          <a:xfrm>
            <a:off x="1282700" y="2288084"/>
            <a:ext cx="3953510" cy="723900"/>
          </a:xfrm>
          <a:prstGeom prst="rect">
            <a:avLst/>
          </a:prstGeom>
          <a:noFill/>
          <a:ln/>
        </p:spPr>
        <p:txBody>
          <a:bodyPr wrap="square" lIns="25400" tIns="25400" rIns="25400" bIns="25400" rtlCol="0" anchor="t">
            <a:normAutofit/>
          </a:bodyPr>
          <a:lstStyle/>
          <a:p>
            <a:pPr algn="l" indent="0" marL="0">
              <a:lnSpc>
                <a:spcPct val="86400"/>
              </a:lnSpc>
              <a:buNone/>
            </a:pPr>
            <a:r>
              <a:rPr lang="en-US" sz="5400" dirty="0">
                <a:solidFill>
                  <a:srgbClr val="416180"/>
                </a:solidFill>
                <a:latin typeface="Arial" pitchFamily="34" charset="0"/>
                <a:ea typeface="Arial" pitchFamily="34" charset="-122"/>
                <a:cs typeface="Arial" pitchFamily="34" charset="-120"/>
              </a:rPr>
              <a:t>24–60</a:t>
            </a:r>
            <a:pPr algn="l" indent="0" marL="0">
              <a:lnSpc>
                <a:spcPct val="86400"/>
              </a:lnSpc>
              <a:buNone/>
            </a:pPr>
            <a:r>
              <a:rPr lang="en-US" sz="2550" dirty="0">
                <a:solidFill>
                  <a:srgbClr val="416180"/>
                </a:solidFill>
                <a:latin typeface="Arial" pitchFamily="34" charset="0"/>
                <a:ea typeface="Arial" pitchFamily="34" charset="-122"/>
                <a:cs typeface="Arial" pitchFamily="34" charset="-120"/>
              </a:rPr>
              <a:t>ms</a:t>
            </a:r>
            <a:endParaRPr lang="en-US" sz="5400" dirty="0"/>
          </a:p>
        </p:txBody>
      </p:sp>
      <p:sp>
        <p:nvSpPr>
          <p:cNvPr id="7" name="Text 5"/>
          <p:cNvSpPr/>
          <p:nvPr/>
        </p:nvSpPr>
        <p:spPr>
          <a:xfrm>
            <a:off x="1282700" y="2992934"/>
            <a:ext cx="3701923" cy="622300"/>
          </a:xfrm>
          <a:prstGeom prst="rect">
            <a:avLst/>
          </a:prstGeom>
          <a:noFill/>
          <a:ln/>
        </p:spPr>
        <p:txBody>
          <a:bodyPr wrap="square" lIns="25400" tIns="25400" rIns="25400" bIns="25400" rtlCol="0" anchor="t">
            <a:normAutofit/>
          </a:bodyPr>
          <a:lstStyle/>
          <a:p>
            <a:pPr algn="l" indent="0" marL="0">
              <a:buNone/>
            </a:pPr>
            <a:r>
              <a:rPr lang="en-US" sz="1875" dirty="0">
                <a:solidFill>
                  <a:srgbClr val="5D5D60"/>
                </a:solidFill>
                <a:latin typeface="Arial" pitchFamily="34" charset="0"/>
                <a:ea typeface="Arial" pitchFamily="34" charset="-122"/>
                <a:cs typeface="Arial" pitchFamily="34" charset="-120"/>
              </a:rPr>
              <a:t>par prédiction, conteneur compris — budget métier : 200 ms</a:t>
            </a:r>
            <a:endParaRPr lang="en-US" sz="1875" dirty="0"/>
          </a:p>
        </p:txBody>
      </p:sp>
      <p:sp>
        <p:nvSpPr>
          <p:cNvPr id="8" name="Shape 6"/>
          <p:cNvSpPr/>
          <p:nvPr/>
        </p:nvSpPr>
        <p:spPr>
          <a:xfrm>
            <a:off x="5086350" y="2288084"/>
            <a:ext cx="9525" cy="1289050"/>
          </a:xfrm>
          <a:prstGeom prst="rect">
            <a:avLst/>
          </a:prstGeom>
          <a:solidFill>
            <a:srgbClr val="1D1F20">
              <a:alpha val="16000"/>
            </a:srgbClr>
          </a:solidFill>
          <a:ln/>
        </p:spPr>
      </p:sp>
      <p:sp>
        <p:nvSpPr>
          <p:cNvPr id="9" name="Text 7"/>
          <p:cNvSpPr/>
          <p:nvPr/>
        </p:nvSpPr>
        <p:spPr>
          <a:xfrm>
            <a:off x="5302250" y="2288084"/>
            <a:ext cx="3953510" cy="723900"/>
          </a:xfrm>
          <a:prstGeom prst="rect">
            <a:avLst/>
          </a:prstGeom>
          <a:noFill/>
          <a:ln/>
        </p:spPr>
        <p:txBody>
          <a:bodyPr wrap="square" lIns="25400" tIns="25400" rIns="25400" bIns="25400" rtlCol="0" anchor="t">
            <a:normAutofit/>
          </a:bodyPr>
          <a:lstStyle/>
          <a:p>
            <a:pPr algn="l" indent="0" marL="0">
              <a:lnSpc>
                <a:spcPct val="86400"/>
              </a:lnSpc>
              <a:buNone/>
            </a:pPr>
            <a:r>
              <a:rPr lang="en-US" sz="5400" dirty="0">
                <a:solidFill>
                  <a:srgbClr val="416180"/>
                </a:solidFill>
                <a:latin typeface="Arial" pitchFamily="34" charset="0"/>
                <a:ea typeface="Arial" pitchFamily="34" charset="-122"/>
                <a:cs typeface="Arial" pitchFamily="34" charset="-120"/>
              </a:rPr>
              <a:t>7 / 7</a:t>
            </a:r>
            <a:endParaRPr lang="en-US" sz="5400" dirty="0"/>
          </a:p>
        </p:txBody>
      </p:sp>
      <p:sp>
        <p:nvSpPr>
          <p:cNvPr id="10" name="Text 8"/>
          <p:cNvSpPr/>
          <p:nvPr/>
        </p:nvSpPr>
        <p:spPr>
          <a:xfrm>
            <a:off x="5302250" y="2992934"/>
            <a:ext cx="3701923" cy="622300"/>
          </a:xfrm>
          <a:prstGeom prst="rect">
            <a:avLst/>
          </a:prstGeom>
          <a:noFill/>
          <a:ln/>
        </p:spPr>
        <p:txBody>
          <a:bodyPr wrap="square" lIns="25400" tIns="25400" rIns="25400" bIns="25400" rtlCol="0" anchor="t">
            <a:normAutofit/>
          </a:bodyPr>
          <a:lstStyle/>
          <a:p>
            <a:pPr algn="l" indent="0" marL="0">
              <a:buNone/>
            </a:pPr>
            <a:r>
              <a:rPr lang="en-US" sz="1875" dirty="0">
                <a:solidFill>
                  <a:srgbClr val="5D5D60"/>
                </a:solidFill>
                <a:latin typeface="Arial" pitchFamily="34" charset="0"/>
                <a:ea typeface="Arial" pitchFamily="34" charset="-122"/>
                <a:cs typeface="Arial" pitchFamily="34" charset="-120"/>
              </a:rPr>
              <a:t>tests automatisés : santé, scoring, latence, validation, cache Redis</a:t>
            </a:r>
            <a:endParaRPr lang="en-US" sz="1875" dirty="0"/>
          </a:p>
        </p:txBody>
      </p:sp>
      <p:sp>
        <p:nvSpPr>
          <p:cNvPr id="11" name="Text 9"/>
          <p:cNvSpPr/>
          <p:nvPr/>
        </p:nvSpPr>
        <p:spPr>
          <a:xfrm>
            <a:off x="1066800" y="3786684"/>
            <a:ext cx="8064437" cy="160377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1D1F20"/>
                </a:solidFill>
                <a:latin typeface="Arial" pitchFamily="34" charset="0"/>
                <a:ea typeface="Arial" pitchFamily="34" charset="-122"/>
                <a:cs typeface="Arial" pitchFamily="34" charset="-120"/>
              </a:rPr>
              <a:t>Le modèle LightGBM du BC03 est servi par une API FastAPI conteneurisée. Chaque réponse contient la probabilité de fraude, la décision au seuil retenu, et les </a:t>
            </a:r>
            <a:pPr algn="l" indent="0" marL="0">
              <a:lnSpc>
                <a:spcPct val="126875"/>
              </a:lnSpc>
              <a:buNone/>
            </a:pPr>
            <a:r>
              <a:rPr lang="en-US" sz="2100" b="1" dirty="0">
                <a:solidFill>
                  <a:srgbClr val="1D1F20"/>
                </a:solidFill>
                <a:latin typeface="Arial" pitchFamily="34" charset="0"/>
                <a:ea typeface="Arial" pitchFamily="34" charset="-122"/>
                <a:cs typeface="Arial" pitchFamily="34" charset="-120"/>
              </a:rPr>
              <a:t>cinq facteurs SHAP </a:t>
            </a:r>
            <a:pPr algn="l" indent="0" marL="0">
              <a:lnSpc>
                <a:spcPct val="126875"/>
              </a:lnSpc>
              <a:buNone/>
            </a:pPr>
            <a:r>
              <a:rPr lang="en-US" sz="2100" dirty="0">
                <a:solidFill>
                  <a:srgbClr val="1D1F20"/>
                </a:solidFill>
                <a:latin typeface="Arial" pitchFamily="34" charset="0"/>
                <a:ea typeface="Arial" pitchFamily="34" charset="-122"/>
                <a:cs typeface="Arial" pitchFamily="34" charset="-120"/>
              </a:rPr>
              <a:t>qui l'expliquent — recalculés à la volée pour chaque requête.</a:t>
            </a:r>
            <a:endParaRPr lang="en-US" sz="2100" dirty="0"/>
          </a:p>
        </p:txBody>
      </p:sp>
      <p:sp>
        <p:nvSpPr>
          <p:cNvPr id="12" name="Text 10"/>
          <p:cNvSpPr/>
          <p:nvPr/>
        </p:nvSpPr>
        <p:spPr>
          <a:xfrm>
            <a:off x="1066800" y="5561906"/>
            <a:ext cx="8064437" cy="1971377"/>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5D5D60"/>
                </a:solidFill>
                <a:latin typeface="Arial" pitchFamily="34" charset="0"/>
                <a:ea typeface="Arial" pitchFamily="34" charset="-122"/>
                <a:cs typeface="Arial" pitchFamily="34" charset="-120"/>
              </a:rPr>
              <a:t>Les variables comportementales du client peuvent être enrichies depuis le magasin de caractéristiques Redis mis en place au BC01. Le tout démarre par une commande Docker, et l'image est publiée automatiquement par la chaîne d'intégration continue GitHub Actions.</a:t>
            </a:r>
            <a:endParaRPr lang="en-US" sz="2100" dirty="0"/>
          </a:p>
        </p:txBody>
      </p:sp>
      <p:sp>
        <p:nvSpPr>
          <p:cNvPr id="13" name="Shape 11"/>
          <p:cNvSpPr/>
          <p:nvPr/>
        </p:nvSpPr>
        <p:spPr>
          <a:xfrm>
            <a:off x="1066800" y="7704733"/>
            <a:ext cx="7829550" cy="2609652"/>
          </a:xfrm>
          <a:prstGeom prst="rect">
            <a:avLst/>
          </a:prstGeom>
          <a:ln w="6350">
            <a:solidFill>
              <a:srgbClr val="1D1F20">
                <a:alpha val="16000"/>
              </a:srgbClr>
            </a:solidFill>
            <a:prstDash val="solid"/>
          </a:ln>
        </p:spPr>
      </p:sp>
      <p:sp>
        <p:nvSpPr>
          <p:cNvPr id="14" name="Shape 12"/>
          <p:cNvSpPr/>
          <p:nvPr/>
        </p:nvSpPr>
        <p:spPr>
          <a:xfrm>
            <a:off x="1016000" y="7653933"/>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5" name="Shape 13"/>
          <p:cNvSpPr/>
          <p:nvPr/>
        </p:nvSpPr>
        <p:spPr>
          <a:xfrm>
            <a:off x="8842375" y="10260410"/>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6" name="Text 14"/>
          <p:cNvSpPr/>
          <p:nvPr/>
        </p:nvSpPr>
        <p:spPr>
          <a:xfrm>
            <a:off x="1339850" y="7958733"/>
            <a:ext cx="8011795"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INCIDENTS RÉELS — DOCUMENTÉS, PAS DISSIMULÉS</a:t>
            </a:r>
            <a:endParaRPr lang="en-US" sz="1800" dirty="0"/>
          </a:p>
        </p:txBody>
      </p:sp>
      <p:sp>
        <p:nvSpPr>
          <p:cNvPr id="17" name="Text 15"/>
          <p:cNvSpPr/>
          <p:nvPr/>
        </p:nvSpPr>
        <p:spPr>
          <a:xfrm>
            <a:off x="1339850" y="8327033"/>
            <a:ext cx="7501954" cy="1771452"/>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Trois échecs successifs de la chaîne CI/CD sur les vrais serveurs GitHub (chemin d'exécution des tests, puis deux erreurs de nommage de l'image publiée) avant un passage entièrement vert. Côté conteneur : un blocage SSL du réseau local et une bibliothèque système manquante requise par LightGBM.</a:t>
            </a:r>
            <a:endParaRPr lang="en-US" sz="1950" dirty="0"/>
          </a:p>
        </p:txBody>
      </p:sp>
      <p:sp>
        <p:nvSpPr>
          <p:cNvPr id="18" name="Shape 16"/>
          <p:cNvSpPr/>
          <p:nvPr/>
        </p:nvSpPr>
        <p:spPr>
          <a:xfrm>
            <a:off x="9391650" y="2288084"/>
            <a:ext cx="7829550" cy="8026301"/>
          </a:xfrm>
          <a:prstGeom prst="rect">
            <a:avLst/>
          </a:prstGeom>
          <a:ln w="6350">
            <a:solidFill>
              <a:srgbClr val="1D1F20">
                <a:alpha val="16000"/>
              </a:srgbClr>
            </a:solidFill>
            <a:prstDash val="solid"/>
          </a:ln>
        </p:spPr>
      </p:sp>
      <p:sp>
        <p:nvSpPr>
          <p:cNvPr id="19" name="Shape 17"/>
          <p:cNvSpPr/>
          <p:nvPr/>
        </p:nvSpPr>
        <p:spPr>
          <a:xfrm>
            <a:off x="9340850" y="22372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0" name="Shape 18"/>
          <p:cNvSpPr/>
          <p:nvPr/>
        </p:nvSpPr>
        <p:spPr>
          <a:xfrm>
            <a:off x="17167225" y="22372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1" name="Shape 19"/>
          <p:cNvSpPr/>
          <p:nvPr/>
        </p:nvSpPr>
        <p:spPr>
          <a:xfrm>
            <a:off x="9340850" y="10260410"/>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2" name="Shape 20"/>
          <p:cNvSpPr/>
          <p:nvPr/>
        </p:nvSpPr>
        <p:spPr>
          <a:xfrm>
            <a:off x="17167225" y="10260410"/>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3" name="Text 21"/>
          <p:cNvSpPr/>
          <p:nvPr/>
        </p:nvSpPr>
        <p:spPr>
          <a:xfrm>
            <a:off x="9759951" y="3542109"/>
            <a:ext cx="7802245"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LE TRAJET D'UNE REQUÊTE</a:t>
            </a:r>
            <a:endParaRPr lang="en-US" sz="1800" dirty="0"/>
          </a:p>
        </p:txBody>
      </p:sp>
      <p:sp>
        <p:nvSpPr>
          <p:cNvPr id="24" name="Shape 22"/>
          <p:cNvSpPr/>
          <p:nvPr/>
        </p:nvSpPr>
        <p:spPr>
          <a:xfrm>
            <a:off x="9759951" y="3986610"/>
            <a:ext cx="7092950" cy="647700"/>
          </a:xfrm>
          <a:prstGeom prst="rect">
            <a:avLst/>
          </a:prstGeom>
          <a:ln w="6350">
            <a:solidFill>
              <a:srgbClr val="1D1F20">
                <a:alpha val="16000"/>
              </a:srgbClr>
            </a:solidFill>
            <a:prstDash val="solid"/>
          </a:ln>
        </p:spPr>
      </p:sp>
      <p:sp>
        <p:nvSpPr>
          <p:cNvPr id="25" name="Text 23"/>
          <p:cNvSpPr/>
          <p:nvPr/>
        </p:nvSpPr>
        <p:spPr>
          <a:xfrm>
            <a:off x="9812307" y="4145360"/>
            <a:ext cx="6988239" cy="368300"/>
          </a:xfrm>
          <a:prstGeom prst="rect">
            <a:avLst/>
          </a:prstGeom>
          <a:noFill/>
          <a:ln/>
        </p:spPr>
        <p:txBody>
          <a:bodyPr wrap="square" lIns="25400" tIns="25400" rIns="25400" bIns="25400" rtlCol="0" anchor="t">
            <a:normAutofit/>
          </a:bodyPr>
          <a:lstStyle/>
          <a:p>
            <a:pPr algn="ctr" indent="0" marL="0">
              <a:buNone/>
            </a:pPr>
            <a:r>
              <a:rPr lang="en-US" sz="1950" dirty="0">
                <a:solidFill>
                  <a:srgbClr val="1D1F20"/>
                </a:solidFill>
                <a:latin typeface="Arial" pitchFamily="34" charset="0"/>
                <a:ea typeface="Arial" pitchFamily="34" charset="-122"/>
                <a:cs typeface="Arial" pitchFamily="34" charset="-120"/>
              </a:rPr>
              <a:t>Transaction reçue → validation du format</a:t>
            </a:r>
            <a:endParaRPr lang="en-US" sz="1950" dirty="0"/>
          </a:p>
        </p:txBody>
      </p:sp>
      <p:sp>
        <p:nvSpPr>
          <p:cNvPr id="26" name="Text 24"/>
          <p:cNvSpPr/>
          <p:nvPr/>
        </p:nvSpPr>
        <p:spPr>
          <a:xfrm>
            <a:off x="9405303" y="4805760"/>
            <a:ext cx="7802245" cy="393700"/>
          </a:xfrm>
          <a:prstGeom prst="rect">
            <a:avLst/>
          </a:prstGeom>
          <a:noFill/>
          <a:ln/>
        </p:spPr>
        <p:txBody>
          <a:bodyPr wrap="square" lIns="25400" tIns="25400" rIns="25400" bIns="25400" rtlCol="0" anchor="t">
            <a:normAutofit/>
          </a:bodyPr>
          <a:lstStyle/>
          <a:p>
            <a:pPr algn="ctr" indent="0" marL="0">
              <a:buNone/>
            </a:pPr>
            <a:r>
              <a:rPr lang="en-US" sz="2100" dirty="0">
                <a:solidFill>
                  <a:srgbClr val="416180"/>
                </a:solidFill>
                <a:latin typeface="Arial" pitchFamily="34" charset="0"/>
                <a:ea typeface="Arial" pitchFamily="34" charset="-122"/>
                <a:cs typeface="Arial" pitchFamily="34" charset="-120"/>
              </a:rPr>
              <a:t>↓</a:t>
            </a:r>
            <a:endParaRPr lang="en-US" sz="2100" dirty="0"/>
          </a:p>
        </p:txBody>
      </p:sp>
      <p:sp>
        <p:nvSpPr>
          <p:cNvPr id="27" name="Shape 25"/>
          <p:cNvSpPr/>
          <p:nvPr/>
        </p:nvSpPr>
        <p:spPr>
          <a:xfrm>
            <a:off x="9759951" y="5332809"/>
            <a:ext cx="7092950" cy="615950"/>
          </a:xfrm>
          <a:prstGeom prst="rect">
            <a:avLst/>
          </a:prstGeom>
          <a:ln w="6350">
            <a:solidFill>
              <a:srgbClr val="1D1F20">
                <a:alpha val="16000"/>
              </a:srgbClr>
            </a:solidFill>
            <a:prstDash val="solid"/>
          </a:ln>
        </p:spPr>
      </p:sp>
      <p:sp>
        <p:nvSpPr>
          <p:cNvPr id="28" name="Text 26"/>
          <p:cNvSpPr/>
          <p:nvPr/>
        </p:nvSpPr>
        <p:spPr>
          <a:xfrm>
            <a:off x="9812307" y="5491559"/>
            <a:ext cx="6988239" cy="336550"/>
          </a:xfrm>
          <a:prstGeom prst="rect">
            <a:avLst/>
          </a:prstGeom>
          <a:noFill/>
          <a:ln/>
        </p:spPr>
        <p:txBody>
          <a:bodyPr wrap="square" lIns="25400" tIns="25400" rIns="25400" bIns="25400" rtlCol="0" anchor="t">
            <a:normAutofit/>
          </a:bodyPr>
          <a:lstStyle/>
          <a:p>
            <a:pPr algn="ctr" indent="0" marL="0">
              <a:buNone/>
            </a:pPr>
            <a:r>
              <a:rPr lang="en-US" sz="1950" dirty="0">
                <a:solidFill>
                  <a:srgbClr val="1D1F20"/>
                </a:solidFill>
                <a:latin typeface="Arial" pitchFamily="34" charset="0"/>
                <a:ea typeface="Arial" pitchFamily="34" charset="-122"/>
                <a:cs typeface="Arial" pitchFamily="34" charset="-120"/>
              </a:rPr>
              <a:t>Enrichissement des variables client (Redis)</a:t>
            </a:r>
            <a:endParaRPr lang="en-US" sz="1950" dirty="0"/>
          </a:p>
        </p:txBody>
      </p:sp>
      <p:sp>
        <p:nvSpPr>
          <p:cNvPr id="29" name="Text 27"/>
          <p:cNvSpPr/>
          <p:nvPr/>
        </p:nvSpPr>
        <p:spPr>
          <a:xfrm>
            <a:off x="9405303" y="6120210"/>
            <a:ext cx="7802245" cy="393700"/>
          </a:xfrm>
          <a:prstGeom prst="rect">
            <a:avLst/>
          </a:prstGeom>
          <a:noFill/>
          <a:ln/>
        </p:spPr>
        <p:txBody>
          <a:bodyPr wrap="square" lIns="25400" tIns="25400" rIns="25400" bIns="25400" rtlCol="0" anchor="t">
            <a:normAutofit/>
          </a:bodyPr>
          <a:lstStyle/>
          <a:p>
            <a:pPr algn="ctr" indent="0" marL="0">
              <a:buNone/>
            </a:pPr>
            <a:r>
              <a:rPr lang="en-US" sz="2100" dirty="0">
                <a:solidFill>
                  <a:srgbClr val="416180"/>
                </a:solidFill>
                <a:latin typeface="Arial" pitchFamily="34" charset="0"/>
                <a:ea typeface="Arial" pitchFamily="34" charset="-122"/>
                <a:cs typeface="Arial" pitchFamily="34" charset="-120"/>
              </a:rPr>
              <a:t>↓</a:t>
            </a:r>
            <a:endParaRPr lang="en-US" sz="2100" dirty="0"/>
          </a:p>
        </p:txBody>
      </p:sp>
      <p:sp>
        <p:nvSpPr>
          <p:cNvPr id="30" name="Shape 28"/>
          <p:cNvSpPr/>
          <p:nvPr/>
        </p:nvSpPr>
        <p:spPr>
          <a:xfrm>
            <a:off x="9759951" y="6647259"/>
            <a:ext cx="7092950" cy="654050"/>
          </a:xfrm>
          <a:prstGeom prst="rect">
            <a:avLst/>
          </a:prstGeom>
          <a:solidFill>
            <a:srgbClr val="1D2D3D"/>
          </a:solidFill>
          <a:ln/>
        </p:spPr>
      </p:sp>
      <p:sp>
        <p:nvSpPr>
          <p:cNvPr id="31" name="Text 29"/>
          <p:cNvSpPr/>
          <p:nvPr/>
        </p:nvSpPr>
        <p:spPr>
          <a:xfrm>
            <a:off x="9825007" y="6818709"/>
            <a:ext cx="6962839" cy="349250"/>
          </a:xfrm>
          <a:prstGeom prst="rect">
            <a:avLst/>
          </a:prstGeom>
          <a:noFill/>
          <a:ln/>
        </p:spPr>
        <p:txBody>
          <a:bodyPr wrap="square" lIns="25400" tIns="25400" rIns="25400" bIns="25400" rtlCol="0" anchor="t">
            <a:normAutofit/>
          </a:bodyPr>
          <a:lstStyle/>
          <a:p>
            <a:pPr algn="ctr" indent="0" marL="0">
              <a:buNone/>
            </a:pPr>
            <a:r>
              <a:rPr lang="en-US" sz="2025" dirty="0">
                <a:solidFill>
                  <a:srgbClr val="F2F2F3"/>
                </a:solidFill>
                <a:latin typeface="Arial" pitchFamily="34" charset="0"/>
                <a:ea typeface="Arial" pitchFamily="34" charset="-122"/>
                <a:cs typeface="Arial" pitchFamily="34" charset="-120"/>
              </a:rPr>
              <a:t>Scoring LightGBM + calcul SHAP</a:t>
            </a:r>
            <a:endParaRPr lang="en-US" sz="2025" dirty="0"/>
          </a:p>
        </p:txBody>
      </p:sp>
      <p:sp>
        <p:nvSpPr>
          <p:cNvPr id="32" name="Text 30"/>
          <p:cNvSpPr/>
          <p:nvPr/>
        </p:nvSpPr>
        <p:spPr>
          <a:xfrm>
            <a:off x="9405303" y="7472760"/>
            <a:ext cx="7802245" cy="393700"/>
          </a:xfrm>
          <a:prstGeom prst="rect">
            <a:avLst/>
          </a:prstGeom>
          <a:noFill/>
          <a:ln/>
        </p:spPr>
        <p:txBody>
          <a:bodyPr wrap="square" lIns="25400" tIns="25400" rIns="25400" bIns="25400" rtlCol="0" anchor="t">
            <a:normAutofit/>
          </a:bodyPr>
          <a:lstStyle/>
          <a:p>
            <a:pPr algn="ctr" indent="0" marL="0">
              <a:buNone/>
            </a:pPr>
            <a:r>
              <a:rPr lang="en-US" sz="2100" dirty="0">
                <a:solidFill>
                  <a:srgbClr val="416180"/>
                </a:solidFill>
                <a:latin typeface="Arial" pitchFamily="34" charset="0"/>
                <a:ea typeface="Arial" pitchFamily="34" charset="-122"/>
                <a:cs typeface="Arial" pitchFamily="34" charset="-120"/>
              </a:rPr>
              <a:t>↓</a:t>
            </a:r>
            <a:endParaRPr lang="en-US" sz="2100" dirty="0"/>
          </a:p>
        </p:txBody>
      </p:sp>
      <p:sp>
        <p:nvSpPr>
          <p:cNvPr id="33" name="Shape 31"/>
          <p:cNvSpPr/>
          <p:nvPr/>
        </p:nvSpPr>
        <p:spPr>
          <a:xfrm>
            <a:off x="9759951" y="7999809"/>
            <a:ext cx="7092950" cy="615950"/>
          </a:xfrm>
          <a:prstGeom prst="rect">
            <a:avLst/>
          </a:prstGeom>
          <a:ln w="6350">
            <a:solidFill>
              <a:srgbClr val="1D1F20">
                <a:alpha val="16000"/>
              </a:srgbClr>
            </a:solidFill>
            <a:prstDash val="solid"/>
          </a:ln>
        </p:spPr>
      </p:sp>
      <p:sp>
        <p:nvSpPr>
          <p:cNvPr id="34" name="Text 32"/>
          <p:cNvSpPr/>
          <p:nvPr/>
        </p:nvSpPr>
        <p:spPr>
          <a:xfrm>
            <a:off x="9812307" y="8158559"/>
            <a:ext cx="6988239" cy="336550"/>
          </a:xfrm>
          <a:prstGeom prst="rect">
            <a:avLst/>
          </a:prstGeom>
          <a:noFill/>
          <a:ln/>
        </p:spPr>
        <p:txBody>
          <a:bodyPr wrap="square" lIns="25400" tIns="25400" rIns="25400" bIns="25400" rtlCol="0" anchor="t">
            <a:normAutofit/>
          </a:bodyPr>
          <a:lstStyle/>
          <a:p>
            <a:pPr algn="ctr" indent="0" marL="0">
              <a:buNone/>
            </a:pPr>
            <a:r>
              <a:rPr lang="en-US" sz="1950" dirty="0">
                <a:solidFill>
                  <a:srgbClr val="1D1F20"/>
                </a:solidFill>
                <a:latin typeface="Arial" pitchFamily="34" charset="0"/>
                <a:ea typeface="Arial" pitchFamily="34" charset="-122"/>
                <a:cs typeface="Arial" pitchFamily="34" charset="-120"/>
              </a:rPr>
              <a:t>Réponse : probabilité · décision · 5 facteurs explicatifs</a:t>
            </a:r>
            <a:endParaRPr lang="en-US" sz="1950" dirty="0"/>
          </a:p>
        </p:txBody>
      </p:sp>
      <p:sp>
        <p:nvSpPr>
          <p:cNvPr id="35" name="Text 33"/>
          <p:cNvSpPr/>
          <p:nvPr/>
        </p:nvSpPr>
        <p:spPr>
          <a:xfrm>
            <a:off x="9405303" y="8787210"/>
            <a:ext cx="7802245" cy="311150"/>
          </a:xfrm>
          <a:prstGeom prst="rect">
            <a:avLst/>
          </a:prstGeom>
          <a:noFill/>
          <a:ln/>
        </p:spPr>
        <p:txBody>
          <a:bodyPr wrap="square" lIns="25400" tIns="25400" rIns="25400" bIns="25400" rtlCol="0" anchor="t">
            <a:normAutofit/>
          </a:bodyPr>
          <a:lstStyle/>
          <a:p>
            <a:pPr algn="ctr" indent="0" marL="0">
              <a:buNone/>
            </a:pPr>
            <a:r>
              <a:rPr lang="en-US" sz="1800" dirty="0">
                <a:solidFill>
                  <a:srgbClr val="5D5D60"/>
                </a:solidFill>
                <a:latin typeface="Arial" pitchFamily="34" charset="0"/>
                <a:ea typeface="Arial" pitchFamily="34" charset="-122"/>
                <a:cs typeface="Arial" pitchFamily="34" charset="-120"/>
              </a:rPr>
              <a:t>Conteneur Docker · image publiée par la CI/CD</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3059867"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BC05 · API &amp; MONITORING</a:t>
            </a:r>
            <a:endParaRPr lang="en-US" sz="1800" dirty="0"/>
          </a:p>
        </p:txBody>
      </p:sp>
      <p:sp>
        <p:nvSpPr>
          <p:cNvPr id="3" name="Text 1"/>
          <p:cNvSpPr/>
          <p:nvPr/>
        </p:nvSpPr>
        <p:spPr>
          <a:xfrm>
            <a:off x="14894719" y="685800"/>
            <a:ext cx="2559129"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DÉRIVE DES DONNÉES</a:t>
            </a:r>
            <a:endParaRPr lang="en-US" sz="1800" dirty="0"/>
          </a:p>
        </p:txBody>
      </p:sp>
      <p:sp>
        <p:nvSpPr>
          <p:cNvPr id="4" name="Text 2"/>
          <p:cNvSpPr/>
          <p:nvPr/>
        </p:nvSpPr>
        <p:spPr>
          <a:xfrm>
            <a:off x="1066800" y="122555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Savoir quand le modèle commence à vieillir</a:t>
            </a:r>
            <a:endParaRPr lang="en-US" sz="5850" dirty="0"/>
          </a:p>
        </p:txBody>
      </p:sp>
      <p:sp>
        <p:nvSpPr>
          <p:cNvPr id="5" name="Text 3"/>
          <p:cNvSpPr/>
          <p:nvPr/>
        </p:nvSpPr>
        <p:spPr>
          <a:xfrm>
            <a:off x="1066800" y="2249984"/>
            <a:ext cx="15206662" cy="858044"/>
          </a:xfrm>
          <a:prstGeom prst="rect">
            <a:avLst/>
          </a:prstGeom>
          <a:noFill/>
          <a:ln/>
        </p:spPr>
        <p:txBody>
          <a:bodyPr wrap="square" lIns="25400" tIns="25400" rIns="25400" bIns="25400" rtlCol="0" anchor="t">
            <a:normAutofit/>
          </a:bodyPr>
          <a:lstStyle/>
          <a:p>
            <a:pPr algn="l" indent="0" marL="0">
              <a:lnSpc>
                <a:spcPct val="128724"/>
              </a:lnSpc>
              <a:buNone/>
            </a:pPr>
            <a:r>
              <a:rPr lang="en-US" sz="2175" dirty="0">
                <a:solidFill>
                  <a:srgbClr val="1D1F20"/>
                </a:solidFill>
                <a:latin typeface="Arial" pitchFamily="34" charset="0"/>
                <a:ea typeface="Arial" pitchFamily="34" charset="-122"/>
                <a:cs typeface="Arial" pitchFamily="34" charset="-120"/>
              </a:rPr>
              <a:t>Un modèle se dégrade quand les données réelles s'éloignent de celles sur lesquelles il a appris. Le rapport de dérive compare les deux distributions, colonne par colonne, et alerte au-delà de </a:t>
            </a:r>
            <a:pPr algn="l" indent="0" marL="0">
              <a:lnSpc>
                <a:spcPct val="128724"/>
              </a:lnSpc>
              <a:buNone/>
            </a:pPr>
            <a:r>
              <a:rPr lang="en-US" sz="2175" b="1" dirty="0">
                <a:solidFill>
                  <a:srgbClr val="1D1F20"/>
                </a:solidFill>
                <a:latin typeface="Arial" pitchFamily="34" charset="0"/>
                <a:ea typeface="Arial" pitchFamily="34" charset="-122"/>
                <a:cs typeface="Arial" pitchFamily="34" charset="-120"/>
              </a:rPr>
              <a:t>20 % de colonnes dérivées</a:t>
            </a:r>
            <a:pPr algn="l" indent="0" marL="0">
              <a:lnSpc>
                <a:spcPct val="128724"/>
              </a:lnSpc>
              <a:buNone/>
            </a:pPr>
            <a:r>
              <a:rPr lang="en-US" sz="2175" dirty="0">
                <a:solidFill>
                  <a:srgbClr val="1D1F20"/>
                </a:solidFill>
                <a:latin typeface="Arial" pitchFamily="34" charset="0"/>
                <a:ea typeface="Arial" pitchFamily="34" charset="-122"/>
                <a:cs typeface="Arial" pitchFamily="34" charset="-120"/>
              </a:rPr>
              <a:t>.</a:t>
            </a:r>
            <a:endParaRPr lang="en-US" sz="2175" dirty="0"/>
          </a:p>
        </p:txBody>
      </p:sp>
      <p:sp>
        <p:nvSpPr>
          <p:cNvPr id="6" name="Shape 4"/>
          <p:cNvSpPr/>
          <p:nvPr/>
        </p:nvSpPr>
        <p:spPr>
          <a:xfrm>
            <a:off x="1447800" y="3489027"/>
            <a:ext cx="7105650" cy="4311948"/>
          </a:xfrm>
          <a:prstGeom prst="rect">
            <a:avLst/>
          </a:prstGeom>
          <a:solidFill>
            <a:srgbClr val="F5F5F8"/>
          </a:solidFill>
          <a:ln w="6350">
            <a:solidFill>
              <a:srgbClr val="1D1F20">
                <a:alpha val="16000"/>
              </a:srgbClr>
            </a:solidFill>
            <a:prstDash val="solid"/>
          </a:ln>
        </p:spPr>
      </p:sp>
      <p:sp>
        <p:nvSpPr>
          <p:cNvPr id="7" name="Shape 5"/>
          <p:cNvSpPr/>
          <p:nvPr/>
        </p:nvSpPr>
        <p:spPr>
          <a:xfrm>
            <a:off x="1397000" y="343822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8" name="Shape 6"/>
          <p:cNvSpPr/>
          <p:nvPr/>
        </p:nvSpPr>
        <p:spPr>
          <a:xfrm>
            <a:off x="8499475" y="7747000"/>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9" name="Image 0" descr="preencoded.png">    </p:cNvPr>
          <p:cNvPicPr>
            <a:picLocks noChangeAspect="1"/>
          </p:cNvPicPr>
          <p:nvPr/>
        </p:nvPicPr>
        <p:blipFill>
          <a:blip r:embed="rId1"/>
          <a:srcRect l="-35650" r="-35650" t="0" b="0"/>
          <a:stretch/>
        </p:blipFill>
        <p:spPr>
          <a:xfrm>
            <a:off x="1644650" y="3685877"/>
            <a:ext cx="6711950" cy="3918248"/>
          </a:xfrm>
          <a:prstGeom prst="rect">
            <a:avLst/>
          </a:prstGeom>
        </p:spPr>
      </p:pic>
      <p:sp>
        <p:nvSpPr>
          <p:cNvPr id="10" name="Text 7"/>
          <p:cNvSpPr/>
          <p:nvPr/>
        </p:nvSpPr>
        <p:spPr>
          <a:xfrm>
            <a:off x="1066800" y="8105775"/>
            <a:ext cx="8654415" cy="495300"/>
          </a:xfrm>
          <a:prstGeom prst="rect">
            <a:avLst/>
          </a:prstGeom>
          <a:noFill/>
          <a:ln/>
        </p:spPr>
        <p:txBody>
          <a:bodyPr wrap="square" lIns="25400" tIns="25400" rIns="25400" bIns="25400" rtlCol="0" anchor="t">
            <a:normAutofit/>
          </a:bodyPr>
          <a:lstStyle/>
          <a:p>
            <a:pPr algn="l" indent="0" marL="0">
              <a:buNone/>
            </a:pPr>
            <a:r>
              <a:rPr lang="en-US" sz="3000" dirty="0">
                <a:solidFill>
                  <a:srgbClr val="416180"/>
                </a:solidFill>
                <a:latin typeface="Arial" pitchFamily="34" charset="0"/>
                <a:ea typeface="Arial" pitchFamily="34" charset="-122"/>
                <a:cs typeface="Arial" pitchFamily="34" charset="-120"/>
              </a:rPr>
              <a:t>Scénario normal — 9,1 % · aucune alerte</a:t>
            </a:r>
            <a:endParaRPr lang="en-US" sz="3000" dirty="0"/>
          </a:p>
        </p:txBody>
      </p:sp>
      <p:sp>
        <p:nvSpPr>
          <p:cNvPr id="11" name="Text 8"/>
          <p:cNvSpPr/>
          <p:nvPr/>
        </p:nvSpPr>
        <p:spPr>
          <a:xfrm>
            <a:off x="1066800" y="8601075"/>
            <a:ext cx="8103679" cy="103822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5D5D60"/>
                </a:solidFill>
                <a:latin typeface="Arial" pitchFamily="34" charset="0"/>
                <a:ea typeface="Arial" pitchFamily="34" charset="-122"/>
                <a:cs typeface="Arial" pitchFamily="34" charset="-120"/>
              </a:rPr>
              <a:t>Une seule colonne signalée (le mois), artefact du découpage temporel du BC03 — pas un vrai changement de comportement. Le rapport ne crie pas au loup.</a:t>
            </a:r>
            <a:endParaRPr lang="en-US" sz="1875" dirty="0"/>
          </a:p>
        </p:txBody>
      </p:sp>
      <p:sp>
        <p:nvSpPr>
          <p:cNvPr id="12" name="Shape 9"/>
          <p:cNvSpPr/>
          <p:nvPr/>
        </p:nvSpPr>
        <p:spPr>
          <a:xfrm>
            <a:off x="9734550" y="3489027"/>
            <a:ext cx="7105650" cy="4311948"/>
          </a:xfrm>
          <a:prstGeom prst="rect">
            <a:avLst/>
          </a:prstGeom>
          <a:solidFill>
            <a:srgbClr val="F5F5F8"/>
          </a:solidFill>
          <a:ln w="6350">
            <a:solidFill>
              <a:srgbClr val="1D1F20">
                <a:alpha val="16000"/>
              </a:srgbClr>
            </a:solidFill>
            <a:prstDash val="solid"/>
          </a:ln>
        </p:spPr>
      </p:sp>
      <p:sp>
        <p:nvSpPr>
          <p:cNvPr id="13" name="Shape 10"/>
          <p:cNvSpPr/>
          <p:nvPr/>
        </p:nvSpPr>
        <p:spPr>
          <a:xfrm>
            <a:off x="9683750" y="343822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14" name="Shape 11"/>
          <p:cNvSpPr/>
          <p:nvPr/>
        </p:nvSpPr>
        <p:spPr>
          <a:xfrm>
            <a:off x="16786225" y="7747000"/>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15" name="Image 1" descr="preencoded.png">    </p:cNvPr>
          <p:cNvPicPr>
            <a:picLocks noChangeAspect="1"/>
          </p:cNvPicPr>
          <p:nvPr/>
        </p:nvPicPr>
        <p:blipFill>
          <a:blip r:embed="rId2"/>
          <a:srcRect l="-35650" r="-35650" t="0" b="0"/>
          <a:stretch/>
        </p:blipFill>
        <p:spPr>
          <a:xfrm>
            <a:off x="9931401" y="3685877"/>
            <a:ext cx="6711950" cy="3918248"/>
          </a:xfrm>
          <a:prstGeom prst="rect">
            <a:avLst/>
          </a:prstGeom>
        </p:spPr>
      </p:pic>
      <p:sp>
        <p:nvSpPr>
          <p:cNvPr id="16" name="Text 12"/>
          <p:cNvSpPr/>
          <p:nvPr/>
        </p:nvSpPr>
        <p:spPr>
          <a:xfrm>
            <a:off x="9353550" y="8105775"/>
            <a:ext cx="8654415" cy="495300"/>
          </a:xfrm>
          <a:prstGeom prst="rect">
            <a:avLst/>
          </a:prstGeom>
          <a:noFill/>
          <a:ln/>
        </p:spPr>
        <p:txBody>
          <a:bodyPr wrap="square" lIns="25400" tIns="25400" rIns="25400" bIns="25400" rtlCol="0" anchor="t">
            <a:normAutofit/>
          </a:bodyPr>
          <a:lstStyle/>
          <a:p>
            <a:pPr algn="l" indent="0" marL="0">
              <a:buNone/>
            </a:pPr>
            <a:r>
              <a:rPr lang="en-US" sz="3000" dirty="0">
                <a:solidFill>
                  <a:srgbClr val="416180"/>
                </a:solidFill>
                <a:latin typeface="Arial" pitchFamily="34" charset="0"/>
                <a:ea typeface="Arial" pitchFamily="34" charset="-122"/>
                <a:cs typeface="Arial" pitchFamily="34" charset="-120"/>
              </a:rPr>
              <a:t>Scénario simulé — 27,3 % · alerte</a:t>
            </a:r>
            <a:endParaRPr lang="en-US" sz="3000" dirty="0"/>
          </a:p>
        </p:txBody>
      </p:sp>
      <p:sp>
        <p:nvSpPr>
          <p:cNvPr id="17" name="Text 13"/>
          <p:cNvSpPr/>
          <p:nvPr/>
        </p:nvSpPr>
        <p:spPr>
          <a:xfrm>
            <a:off x="9353550" y="8601075"/>
            <a:ext cx="8103679" cy="1038225"/>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5D5D60"/>
                </a:solidFill>
                <a:latin typeface="Arial" pitchFamily="34" charset="0"/>
                <a:ea typeface="Arial" pitchFamily="34" charset="-122"/>
                <a:cs typeface="Arial" pitchFamily="34" charset="-120"/>
              </a:rPr>
              <a:t>Trois colonnes dérivées (heure, mois, montant) : le seuil est franchi, l'alerte part. Le déclencheur d'un réentraînement est donc opérationnel, pas théorique.</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D2D3D"/>
        </a:solidFill>
      </p:bgPr>
    </p:bg>
    <p:spTree>
      <p:nvGrpSpPr>
        <p:cNvPr id="1" name=""/>
        <p:cNvGrpSpPr/>
        <p:nvPr/>
      </p:nvGrpSpPr>
      <p:grpSpPr>
        <a:xfrm>
          <a:off x="0" y="0"/>
          <a:ext cx="0" cy="0"/>
          <a:chOff x="0" y="0"/>
          <a:chExt cx="0" cy="0"/>
        </a:xfrm>
      </p:grpSpPr>
      <p:sp>
        <p:nvSpPr>
          <p:cNvPr id="2" name="Text 0"/>
          <p:cNvSpPr/>
          <p:nvPr/>
        </p:nvSpPr>
        <p:spPr>
          <a:xfrm>
            <a:off x="1066800" y="3175992"/>
            <a:ext cx="17769840" cy="336550"/>
          </a:xfrm>
          <a:prstGeom prst="rect">
            <a:avLst/>
          </a:prstGeom>
          <a:noFill/>
          <a:ln/>
        </p:spPr>
        <p:txBody>
          <a:bodyPr wrap="square" lIns="25400" tIns="25400" rIns="25400" bIns="25400" rtlCol="0" anchor="t">
            <a:normAutofit/>
          </a:bodyPr>
          <a:lstStyle/>
          <a:p>
            <a:pPr algn="l" indent="0" marL="0">
              <a:buNone/>
            </a:pPr>
            <a:r>
              <a:rPr lang="en-US" sz="1950" spc="390" kern="0" dirty="0">
                <a:solidFill>
                  <a:srgbClr val="94BCE3"/>
                </a:solidFill>
                <a:latin typeface="Arial" pitchFamily="34" charset="0"/>
                <a:ea typeface="Arial" pitchFamily="34" charset="-122"/>
                <a:cs typeface="Arial" pitchFamily="34" charset="-120"/>
              </a:rPr>
              <a:t>BLOC DE COMPÉTENCES 06</a:t>
            </a:r>
            <a:endParaRPr lang="en-US" sz="1950" dirty="0"/>
          </a:p>
        </p:txBody>
      </p:sp>
      <p:sp>
        <p:nvSpPr>
          <p:cNvPr id="3" name="Text 1"/>
          <p:cNvSpPr/>
          <p:nvPr/>
        </p:nvSpPr>
        <p:spPr>
          <a:xfrm>
            <a:off x="1066800" y="3855442"/>
            <a:ext cx="14668500" cy="1527770"/>
          </a:xfrm>
          <a:prstGeom prst="rect">
            <a:avLst/>
          </a:prstGeom>
          <a:noFill/>
          <a:ln/>
        </p:spPr>
        <p:txBody>
          <a:bodyPr wrap="square" lIns="25400" tIns="25400" rIns="25400" bIns="25400" rtlCol="0" anchor="t">
            <a:normAutofit/>
          </a:bodyPr>
          <a:lstStyle/>
          <a:p>
            <a:pPr algn="l" indent="0" marL="0">
              <a:lnSpc>
                <a:spcPct val="80068"/>
              </a:lnSpc>
              <a:buNone/>
            </a:pPr>
            <a:r>
              <a:rPr lang="en-US" sz="12750" b="1" spc="-255" kern="0" dirty="0">
                <a:solidFill>
                  <a:srgbClr val="F2F2F3"/>
                </a:solidFill>
                <a:latin typeface="Arial" pitchFamily="34" charset="0"/>
                <a:ea typeface="Arial" pitchFamily="34" charset="-122"/>
                <a:cs typeface="Arial" pitchFamily="34" charset="-120"/>
              </a:rPr>
              <a:t>Pilotage &amp; conformité</a:t>
            </a:r>
            <a:endParaRPr lang="en-US" sz="12750" dirty="0"/>
          </a:p>
        </p:txBody>
      </p:sp>
      <p:sp>
        <p:nvSpPr>
          <p:cNvPr id="4" name="Shape 2"/>
          <p:cNvSpPr/>
          <p:nvPr/>
        </p:nvSpPr>
        <p:spPr>
          <a:xfrm>
            <a:off x="1066800" y="5726113"/>
            <a:ext cx="1524000" cy="9525"/>
          </a:xfrm>
          <a:prstGeom prst="rect">
            <a:avLst/>
          </a:prstGeom>
          <a:solidFill>
            <a:srgbClr val="597EA3"/>
          </a:solidFill>
          <a:ln/>
        </p:spPr>
      </p:sp>
      <p:sp>
        <p:nvSpPr>
          <p:cNvPr id="5" name="Text 3"/>
          <p:cNvSpPr/>
          <p:nvPr/>
        </p:nvSpPr>
        <p:spPr>
          <a:xfrm>
            <a:off x="1066800" y="6116638"/>
            <a:ext cx="12263438" cy="1032470"/>
          </a:xfrm>
          <a:prstGeom prst="rect">
            <a:avLst/>
          </a:prstGeom>
          <a:noFill/>
          <a:ln/>
        </p:spPr>
        <p:txBody>
          <a:bodyPr wrap="square" lIns="25400" tIns="25400" rIns="25400" bIns="25400" rtlCol="0" anchor="t">
            <a:normAutofit/>
          </a:bodyPr>
          <a:lstStyle/>
          <a:p>
            <a:pPr algn="l" indent="0" marL="0">
              <a:lnSpc>
                <a:spcPct val="126290"/>
              </a:lnSpc>
              <a:buNone/>
            </a:pPr>
            <a:r>
              <a:rPr lang="en-US" sz="2700" dirty="0">
                <a:solidFill>
                  <a:srgbClr val="D6EBFF"/>
                </a:solidFill>
                <a:latin typeface="Arial" pitchFamily="34" charset="0"/>
                <a:ea typeface="Arial" pitchFamily="34" charset="-122"/>
                <a:cs typeface="Arial" pitchFamily="34" charset="-120"/>
              </a:rPr>
              <a:t>Deux livrables qui s'exécutent plutôt que de se déclarer : un audit RGPD sur le schéma réel, et le chiffrage en euros de la décision.</a:t>
            </a:r>
            <a:endParaRPr lang="en-US" sz="2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3829526"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BC06 · PILOTAGE &amp; CONFORMITÉ</a:t>
            </a:r>
            <a:endParaRPr lang="en-US" sz="1800" dirty="0"/>
          </a:p>
        </p:txBody>
      </p:sp>
      <p:sp>
        <p:nvSpPr>
          <p:cNvPr id="3" name="Text 1"/>
          <p:cNvSpPr/>
          <p:nvPr/>
        </p:nvSpPr>
        <p:spPr>
          <a:xfrm>
            <a:off x="15946438" y="685800"/>
            <a:ext cx="1402239"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AUDIT RGPD</a:t>
            </a:r>
            <a:endParaRPr lang="en-US" sz="1800" dirty="0"/>
          </a:p>
        </p:txBody>
      </p:sp>
      <p:sp>
        <p:nvSpPr>
          <p:cNvPr id="4" name="Text 2"/>
          <p:cNvSpPr/>
          <p:nvPr/>
        </p:nvSpPr>
        <p:spPr>
          <a:xfrm>
            <a:off x="1066800" y="124460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Un audit RGPD qui s'exécute — 6 contrôles sur 8</a:t>
            </a:r>
            <a:endParaRPr lang="en-US" sz="5850" dirty="0"/>
          </a:p>
        </p:txBody>
      </p:sp>
      <p:sp>
        <p:nvSpPr>
          <p:cNvPr id="5" name="Text 3"/>
          <p:cNvSpPr/>
          <p:nvPr/>
        </p:nvSpPr>
        <p:spPr>
          <a:xfrm>
            <a:off x="1066800" y="2288084"/>
            <a:ext cx="15206662" cy="858044"/>
          </a:xfrm>
          <a:prstGeom prst="rect">
            <a:avLst/>
          </a:prstGeom>
          <a:noFill/>
          <a:ln/>
        </p:spPr>
        <p:txBody>
          <a:bodyPr wrap="square" lIns="25400" tIns="25400" rIns="25400" bIns="25400" rtlCol="0" anchor="t">
            <a:normAutofit/>
          </a:bodyPr>
          <a:lstStyle/>
          <a:p>
            <a:pPr algn="l" indent="0" marL="0">
              <a:lnSpc>
                <a:spcPct val="128724"/>
              </a:lnSpc>
              <a:buNone/>
            </a:pPr>
            <a:r>
              <a:rPr lang="en-US" sz="2175" dirty="0">
                <a:solidFill>
                  <a:srgbClr val="1D1F20"/>
                </a:solidFill>
                <a:latin typeface="Arial" pitchFamily="34" charset="0"/>
                <a:ea typeface="Arial" pitchFamily="34" charset="-122"/>
                <a:cs typeface="Arial" pitchFamily="34" charset="-120"/>
              </a:rPr>
              <a:t>Plutôt qu'une déclaration de conformité, un script interroge le </a:t>
            </a:r>
            <a:pPr algn="l" indent="0" marL="0">
              <a:lnSpc>
                <a:spcPct val="128724"/>
              </a:lnSpc>
              <a:buNone/>
            </a:pPr>
            <a:r>
              <a:rPr lang="en-US" sz="2175" b="1" dirty="0">
                <a:solidFill>
                  <a:srgbClr val="1D1F20"/>
                </a:solidFill>
                <a:latin typeface="Arial" pitchFamily="34" charset="0"/>
                <a:ea typeface="Arial" pitchFamily="34" charset="-122"/>
                <a:cs typeface="Arial" pitchFamily="34" charset="-120"/>
              </a:rPr>
              <a:t>schéma réel de la base </a:t>
            </a:r>
            <a:pPr algn="l" indent="0" marL="0">
              <a:lnSpc>
                <a:spcPct val="128724"/>
              </a:lnSpc>
              <a:buNone/>
            </a:pPr>
            <a:r>
              <a:rPr lang="en-US" sz="2175" dirty="0">
                <a:solidFill>
                  <a:srgbClr val="1D1F20"/>
                </a:solidFill>
                <a:latin typeface="Arial" pitchFamily="34" charset="0"/>
                <a:ea typeface="Arial" pitchFamily="34" charset="-122"/>
                <a:cs typeface="Arial" pitchFamily="34" charset="-120"/>
              </a:rPr>
              <a:t>et journalise son verdict. Il peut être rejoué à tout moment, et il constate aussi ce qui ne va pas.</a:t>
            </a:r>
            <a:endParaRPr lang="en-US" sz="2175" dirty="0"/>
          </a:p>
        </p:txBody>
      </p:sp>
      <p:sp>
        <p:nvSpPr>
          <p:cNvPr id="6" name="Text 4"/>
          <p:cNvSpPr/>
          <p:nvPr/>
        </p:nvSpPr>
        <p:spPr>
          <a:xfrm>
            <a:off x="1066800" y="3393777"/>
            <a:ext cx="8612505"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CONFORME</a:t>
            </a:r>
            <a:endParaRPr lang="en-US" sz="1800" dirty="0"/>
          </a:p>
        </p:txBody>
      </p:sp>
      <p:sp>
        <p:nvSpPr>
          <p:cNvPr id="7" name="Text 5"/>
          <p:cNvSpPr/>
          <p:nvPr/>
        </p:nvSpPr>
        <p:spPr>
          <a:xfrm>
            <a:off x="1066800" y="3800177"/>
            <a:ext cx="419100" cy="719336"/>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416180"/>
                </a:solidFill>
                <a:latin typeface="Arial" pitchFamily="34" charset="0"/>
                <a:ea typeface="Arial" pitchFamily="34" charset="-122"/>
                <a:cs typeface="Arial" pitchFamily="34" charset="-120"/>
              </a:rPr>
              <a:t>✓</a:t>
            </a:r>
            <a:endParaRPr lang="en-US" sz="1950" dirty="0"/>
          </a:p>
        </p:txBody>
      </p:sp>
      <p:sp>
        <p:nvSpPr>
          <p:cNvPr id="8" name="Text 6"/>
          <p:cNvSpPr/>
          <p:nvPr/>
        </p:nvSpPr>
        <p:spPr>
          <a:xfrm>
            <a:off x="1562100" y="3800177"/>
            <a:ext cx="7554278" cy="719336"/>
          </a:xfrm>
          <a:prstGeom prst="rect">
            <a:avLst/>
          </a:prstGeom>
          <a:noFill/>
          <a:ln/>
        </p:spPr>
        <p:txBody>
          <a:bodyPr wrap="square" lIns="25400" tIns="25400" rIns="25400" bIns="25400" rtlCol="0" anchor="t">
            <a:normAutofit/>
          </a:bodyPr>
          <a:lstStyle/>
          <a:p>
            <a:pPr algn="l" indent="0" marL="0">
              <a:lnSpc>
                <a:spcPct val="119659"/>
              </a:lnSpc>
              <a:buNone/>
            </a:pPr>
            <a:r>
              <a:rPr lang="en-US" sz="1950" b="1" dirty="0">
                <a:solidFill>
                  <a:srgbClr val="1D1F20"/>
                </a:solidFill>
                <a:latin typeface="Arial" pitchFamily="34" charset="0"/>
                <a:ea typeface="Arial" pitchFamily="34" charset="-122"/>
                <a:cs typeface="Arial" pitchFamily="34" charset="-120"/>
              </a:rPr>
              <a:t>Minimisation </a:t>
            </a:r>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(Art. 5.1.c) — aucune donnée nominative, e-mail ou IBAN en clair</a:t>
            </a:r>
            <a:endParaRPr lang="en-US" sz="1950" dirty="0"/>
          </a:p>
        </p:txBody>
      </p:sp>
      <p:sp>
        <p:nvSpPr>
          <p:cNvPr id="9" name="Text 7"/>
          <p:cNvSpPr/>
          <p:nvPr/>
        </p:nvSpPr>
        <p:spPr>
          <a:xfrm>
            <a:off x="1066800" y="4576663"/>
            <a:ext cx="419100" cy="719336"/>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416180"/>
                </a:solidFill>
                <a:latin typeface="Arial" pitchFamily="34" charset="0"/>
                <a:ea typeface="Arial" pitchFamily="34" charset="-122"/>
                <a:cs typeface="Arial" pitchFamily="34" charset="-120"/>
              </a:rPr>
              <a:t>✓</a:t>
            </a:r>
            <a:endParaRPr lang="en-US" sz="1950" dirty="0"/>
          </a:p>
        </p:txBody>
      </p:sp>
      <p:sp>
        <p:nvSpPr>
          <p:cNvPr id="10" name="Text 8"/>
          <p:cNvSpPr/>
          <p:nvPr/>
        </p:nvSpPr>
        <p:spPr>
          <a:xfrm>
            <a:off x="1562100" y="4576663"/>
            <a:ext cx="7554278" cy="719336"/>
          </a:xfrm>
          <a:prstGeom prst="rect">
            <a:avLst/>
          </a:prstGeom>
          <a:noFill/>
          <a:ln/>
        </p:spPr>
        <p:txBody>
          <a:bodyPr wrap="square" lIns="25400" tIns="25400" rIns="25400" bIns="25400" rtlCol="0" anchor="t">
            <a:normAutofit/>
          </a:bodyPr>
          <a:lstStyle/>
          <a:p>
            <a:pPr algn="l" indent="0" marL="0">
              <a:lnSpc>
                <a:spcPct val="119659"/>
              </a:lnSpc>
              <a:buNone/>
            </a:pPr>
            <a:r>
              <a:rPr lang="en-US" sz="1950" b="1" dirty="0">
                <a:solidFill>
                  <a:srgbClr val="1D1F20"/>
                </a:solidFill>
                <a:latin typeface="Arial" pitchFamily="34" charset="0"/>
                <a:ea typeface="Arial" pitchFamily="34" charset="-122"/>
                <a:cs typeface="Arial" pitchFamily="34" charset="-120"/>
              </a:rPr>
              <a:t>Pseudonymisation </a:t>
            </a:r>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(Art. 4.5, 25) — l'identifiant client est un UUID opaque</a:t>
            </a:r>
            <a:endParaRPr lang="en-US" sz="1950" dirty="0"/>
          </a:p>
        </p:txBody>
      </p:sp>
      <p:sp>
        <p:nvSpPr>
          <p:cNvPr id="11" name="Text 9"/>
          <p:cNvSpPr/>
          <p:nvPr/>
        </p:nvSpPr>
        <p:spPr>
          <a:xfrm>
            <a:off x="1066800" y="5353149"/>
            <a:ext cx="419100" cy="385068"/>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416180"/>
                </a:solidFill>
                <a:latin typeface="Arial" pitchFamily="34" charset="0"/>
                <a:ea typeface="Arial" pitchFamily="34" charset="-122"/>
                <a:cs typeface="Arial" pitchFamily="34" charset="-120"/>
              </a:rPr>
              <a:t>✓</a:t>
            </a:r>
            <a:endParaRPr lang="en-US" sz="1950" dirty="0"/>
          </a:p>
        </p:txBody>
      </p:sp>
      <p:sp>
        <p:nvSpPr>
          <p:cNvPr id="12" name="Text 10"/>
          <p:cNvSpPr/>
          <p:nvPr/>
        </p:nvSpPr>
        <p:spPr>
          <a:xfrm>
            <a:off x="1562100" y="5353149"/>
            <a:ext cx="8067675" cy="385068"/>
          </a:xfrm>
          <a:prstGeom prst="rect">
            <a:avLst/>
          </a:prstGeom>
          <a:noFill/>
          <a:ln/>
        </p:spPr>
        <p:txBody>
          <a:bodyPr wrap="square" lIns="25400" tIns="25400" rIns="25400" bIns="25400" rtlCol="0" anchor="t">
            <a:normAutofit/>
          </a:bodyPr>
          <a:lstStyle/>
          <a:p>
            <a:pPr algn="l" indent="0" marL="0">
              <a:lnSpc>
                <a:spcPct val="119659"/>
              </a:lnSpc>
              <a:buNone/>
            </a:pPr>
            <a:r>
              <a:rPr lang="en-US" sz="1950" b="1" dirty="0">
                <a:solidFill>
                  <a:srgbClr val="1D1F20"/>
                </a:solidFill>
                <a:latin typeface="Arial" pitchFamily="34" charset="0"/>
                <a:ea typeface="Arial" pitchFamily="34" charset="-122"/>
                <a:cs typeface="Arial" pitchFamily="34" charset="-120"/>
              </a:rPr>
              <a:t>Sécurité </a:t>
            </a:r>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(Art. 32) — aucun numéro de carte ni cryptogramme stocké</a:t>
            </a:r>
            <a:endParaRPr lang="en-US" sz="1950" dirty="0"/>
          </a:p>
        </p:txBody>
      </p:sp>
      <p:sp>
        <p:nvSpPr>
          <p:cNvPr id="13" name="Text 11"/>
          <p:cNvSpPr/>
          <p:nvPr/>
        </p:nvSpPr>
        <p:spPr>
          <a:xfrm>
            <a:off x="1066800" y="5795367"/>
            <a:ext cx="419100" cy="719336"/>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416180"/>
                </a:solidFill>
                <a:latin typeface="Arial" pitchFamily="34" charset="0"/>
                <a:ea typeface="Arial" pitchFamily="34" charset="-122"/>
                <a:cs typeface="Arial" pitchFamily="34" charset="-120"/>
              </a:rPr>
              <a:t>✓</a:t>
            </a:r>
            <a:endParaRPr lang="en-US" sz="1950" dirty="0"/>
          </a:p>
        </p:txBody>
      </p:sp>
      <p:sp>
        <p:nvSpPr>
          <p:cNvPr id="14" name="Text 12"/>
          <p:cNvSpPr/>
          <p:nvPr/>
        </p:nvSpPr>
        <p:spPr>
          <a:xfrm>
            <a:off x="1562100" y="5795367"/>
            <a:ext cx="7554278" cy="719336"/>
          </a:xfrm>
          <a:prstGeom prst="rect">
            <a:avLst/>
          </a:prstGeom>
          <a:noFill/>
          <a:ln/>
        </p:spPr>
        <p:txBody>
          <a:bodyPr wrap="square" lIns="25400" tIns="25400" rIns="25400" bIns="25400" rtlCol="0" anchor="t">
            <a:normAutofit/>
          </a:bodyPr>
          <a:lstStyle/>
          <a:p>
            <a:pPr algn="l" indent="0" marL="0">
              <a:lnSpc>
                <a:spcPct val="119659"/>
              </a:lnSpc>
              <a:buNone/>
            </a:pPr>
            <a:r>
              <a:rPr lang="en-US" sz="1950" b="1" dirty="0">
                <a:solidFill>
                  <a:srgbClr val="1D1F20"/>
                </a:solidFill>
                <a:latin typeface="Arial" pitchFamily="34" charset="0"/>
                <a:ea typeface="Arial" pitchFamily="34" charset="-122"/>
                <a:cs typeface="Arial" pitchFamily="34" charset="-120"/>
              </a:rPr>
              <a:t>Droit à l'explication </a:t>
            </a:r>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(Art. 22) — SHAP hors ligne et dans chaque réponse de l'API</a:t>
            </a:r>
            <a:endParaRPr lang="en-US" sz="1950" dirty="0"/>
          </a:p>
        </p:txBody>
      </p:sp>
      <p:sp>
        <p:nvSpPr>
          <p:cNvPr id="15" name="Text 13"/>
          <p:cNvSpPr/>
          <p:nvPr/>
        </p:nvSpPr>
        <p:spPr>
          <a:xfrm>
            <a:off x="1066800" y="6571854"/>
            <a:ext cx="419100" cy="719336"/>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416180"/>
                </a:solidFill>
                <a:latin typeface="Arial" pitchFamily="34" charset="0"/>
                <a:ea typeface="Arial" pitchFamily="34" charset="-122"/>
                <a:cs typeface="Arial" pitchFamily="34" charset="-120"/>
              </a:rPr>
              <a:t>✓</a:t>
            </a:r>
            <a:endParaRPr lang="en-US" sz="1950" dirty="0"/>
          </a:p>
        </p:txBody>
      </p:sp>
      <p:sp>
        <p:nvSpPr>
          <p:cNvPr id="16" name="Text 14"/>
          <p:cNvSpPr/>
          <p:nvPr/>
        </p:nvSpPr>
        <p:spPr>
          <a:xfrm>
            <a:off x="1562100" y="6571854"/>
            <a:ext cx="7554278" cy="719336"/>
          </a:xfrm>
          <a:prstGeom prst="rect">
            <a:avLst/>
          </a:prstGeom>
          <a:noFill/>
          <a:ln/>
        </p:spPr>
        <p:txBody>
          <a:bodyPr wrap="square" lIns="25400" tIns="25400" rIns="25400" bIns="25400" rtlCol="0" anchor="t">
            <a:normAutofit/>
          </a:bodyPr>
          <a:lstStyle/>
          <a:p>
            <a:pPr algn="l" indent="0" marL="0">
              <a:lnSpc>
                <a:spcPct val="119659"/>
              </a:lnSpc>
              <a:buNone/>
            </a:pPr>
            <a:r>
              <a:rPr lang="en-US" sz="1950" b="1" dirty="0">
                <a:solidFill>
                  <a:srgbClr val="1D1F20"/>
                </a:solidFill>
                <a:latin typeface="Arial" pitchFamily="34" charset="0"/>
                <a:ea typeface="Arial" pitchFamily="34" charset="-122"/>
                <a:cs typeface="Arial" pitchFamily="34" charset="-120"/>
              </a:rPr>
              <a:t>Responsabilisation </a:t>
            </a:r>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(Art. 5.2) — journal des traitements et des contrôles qualité</a:t>
            </a:r>
            <a:endParaRPr lang="en-US" sz="1950" dirty="0"/>
          </a:p>
        </p:txBody>
      </p:sp>
      <p:sp>
        <p:nvSpPr>
          <p:cNvPr id="17" name="Text 15"/>
          <p:cNvSpPr/>
          <p:nvPr/>
        </p:nvSpPr>
        <p:spPr>
          <a:xfrm>
            <a:off x="1066800" y="7348339"/>
            <a:ext cx="419100" cy="719336"/>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416180"/>
                </a:solidFill>
                <a:latin typeface="Arial" pitchFamily="34" charset="0"/>
                <a:ea typeface="Arial" pitchFamily="34" charset="-122"/>
                <a:cs typeface="Arial" pitchFamily="34" charset="-120"/>
              </a:rPr>
              <a:t>✓</a:t>
            </a:r>
            <a:endParaRPr lang="en-US" sz="1950" dirty="0"/>
          </a:p>
        </p:txBody>
      </p:sp>
      <p:sp>
        <p:nvSpPr>
          <p:cNvPr id="18" name="Text 16"/>
          <p:cNvSpPr/>
          <p:nvPr/>
        </p:nvSpPr>
        <p:spPr>
          <a:xfrm>
            <a:off x="1562100" y="7348339"/>
            <a:ext cx="7554278" cy="719336"/>
          </a:xfrm>
          <a:prstGeom prst="rect">
            <a:avLst/>
          </a:prstGeom>
          <a:noFill/>
          <a:ln/>
        </p:spPr>
        <p:txBody>
          <a:bodyPr wrap="square" lIns="25400" tIns="25400" rIns="25400" bIns="25400" rtlCol="0" anchor="t">
            <a:normAutofit/>
          </a:bodyPr>
          <a:lstStyle/>
          <a:p>
            <a:pPr algn="l" indent="0" marL="0">
              <a:lnSpc>
                <a:spcPct val="119659"/>
              </a:lnSpc>
              <a:buNone/>
            </a:pPr>
            <a:r>
              <a:rPr lang="en-US" sz="1950" b="1" dirty="0">
                <a:solidFill>
                  <a:srgbClr val="1D1F20"/>
                </a:solidFill>
                <a:latin typeface="Arial" pitchFamily="34" charset="0"/>
                <a:ea typeface="Arial" pitchFamily="34" charset="-122"/>
                <a:cs typeface="Arial" pitchFamily="34" charset="-120"/>
              </a:rPr>
              <a:t>Droits des personnes </a:t>
            </a:r>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(Art. 15-17) — aucune table de correspondance identité ↔ pseudonyme</a:t>
            </a:r>
            <a:endParaRPr lang="en-US" sz="1950" dirty="0"/>
          </a:p>
        </p:txBody>
      </p:sp>
      <p:sp>
        <p:nvSpPr>
          <p:cNvPr id="19" name="Text 17"/>
          <p:cNvSpPr/>
          <p:nvPr/>
        </p:nvSpPr>
        <p:spPr>
          <a:xfrm>
            <a:off x="9391650" y="3393777"/>
            <a:ext cx="8612505"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NON CONFORME — ASSUMÉ ET DOCUMENTÉ</a:t>
            </a:r>
            <a:endParaRPr lang="en-US" sz="1800" dirty="0"/>
          </a:p>
        </p:txBody>
      </p:sp>
      <p:sp>
        <p:nvSpPr>
          <p:cNvPr id="20" name="Text 18"/>
          <p:cNvSpPr/>
          <p:nvPr/>
        </p:nvSpPr>
        <p:spPr>
          <a:xfrm>
            <a:off x="9391650" y="3800177"/>
            <a:ext cx="419100" cy="1053604"/>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5D5D60"/>
                </a:solidFill>
                <a:latin typeface="Arial" pitchFamily="34" charset="0"/>
                <a:ea typeface="Arial" pitchFamily="34" charset="-122"/>
                <a:cs typeface="Arial" pitchFamily="34" charset="-120"/>
              </a:rPr>
              <a:t>✕</a:t>
            </a:r>
            <a:endParaRPr lang="en-US" sz="1950" dirty="0"/>
          </a:p>
        </p:txBody>
      </p:sp>
      <p:sp>
        <p:nvSpPr>
          <p:cNvPr id="21" name="Text 19"/>
          <p:cNvSpPr/>
          <p:nvPr/>
        </p:nvSpPr>
        <p:spPr>
          <a:xfrm>
            <a:off x="9886950" y="3800177"/>
            <a:ext cx="7554278" cy="1053604"/>
          </a:xfrm>
          <a:prstGeom prst="rect">
            <a:avLst/>
          </a:prstGeom>
          <a:noFill/>
          <a:ln/>
        </p:spPr>
        <p:txBody>
          <a:bodyPr wrap="square" lIns="25400" tIns="25400" rIns="25400" bIns="25400" rtlCol="0" anchor="t">
            <a:normAutofit/>
          </a:bodyPr>
          <a:lstStyle/>
          <a:p>
            <a:pPr algn="l" indent="0" marL="0">
              <a:lnSpc>
                <a:spcPct val="119659"/>
              </a:lnSpc>
              <a:buNone/>
            </a:pPr>
            <a:r>
              <a:rPr lang="en-US" sz="1950" b="1" dirty="0">
                <a:solidFill>
                  <a:srgbClr val="1D1F20"/>
                </a:solidFill>
                <a:latin typeface="Arial" pitchFamily="34" charset="0"/>
                <a:ea typeface="Arial" pitchFamily="34" charset="-122"/>
                <a:cs typeface="Arial" pitchFamily="34" charset="-120"/>
              </a:rPr>
              <a:t>Limitation de conservation </a:t>
            </a:r>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(Art. 5.1.e) — aucune purge automatique des transactions anciennes. À formaliser (5 ans en contexte bancaire).</a:t>
            </a:r>
            <a:endParaRPr lang="en-US" sz="1950" dirty="0"/>
          </a:p>
        </p:txBody>
      </p:sp>
      <p:sp>
        <p:nvSpPr>
          <p:cNvPr id="22" name="Text 20"/>
          <p:cNvSpPr/>
          <p:nvPr/>
        </p:nvSpPr>
        <p:spPr>
          <a:xfrm>
            <a:off x="9391650" y="4910932"/>
            <a:ext cx="419100" cy="1053604"/>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5D5D60"/>
                </a:solidFill>
                <a:latin typeface="Arial" pitchFamily="34" charset="0"/>
                <a:ea typeface="Arial" pitchFamily="34" charset="-122"/>
                <a:cs typeface="Arial" pitchFamily="34" charset="-120"/>
              </a:rPr>
              <a:t>✕</a:t>
            </a:r>
            <a:endParaRPr lang="en-US" sz="1950" dirty="0"/>
          </a:p>
        </p:txBody>
      </p:sp>
      <p:sp>
        <p:nvSpPr>
          <p:cNvPr id="23" name="Text 21"/>
          <p:cNvSpPr/>
          <p:nvPr/>
        </p:nvSpPr>
        <p:spPr>
          <a:xfrm>
            <a:off x="9886950" y="4910932"/>
            <a:ext cx="7554278" cy="1053604"/>
          </a:xfrm>
          <a:prstGeom prst="rect">
            <a:avLst/>
          </a:prstGeom>
          <a:noFill/>
          <a:ln/>
        </p:spPr>
        <p:txBody>
          <a:bodyPr wrap="square" lIns="25400" tIns="25400" rIns="25400" bIns="25400" rtlCol="0" anchor="t">
            <a:normAutofit/>
          </a:bodyPr>
          <a:lstStyle/>
          <a:p>
            <a:pPr algn="l" indent="0" marL="0">
              <a:lnSpc>
                <a:spcPct val="119659"/>
              </a:lnSpc>
              <a:buNone/>
            </a:pPr>
            <a:r>
              <a:rPr lang="en-US" sz="1950" b="1" dirty="0">
                <a:solidFill>
                  <a:srgbClr val="1D1F20"/>
                </a:solidFill>
                <a:latin typeface="Arial" pitchFamily="34" charset="0"/>
                <a:ea typeface="Arial" pitchFamily="34" charset="-122"/>
                <a:cs typeface="Arial" pitchFamily="34" charset="-120"/>
              </a:rPr>
              <a:t>Sécurité </a:t>
            </a:r>
            <a:pPr algn="l" indent="0" marL="0">
              <a:lnSpc>
                <a:spcPct val="119659"/>
              </a:lnSpc>
              <a:buNone/>
            </a:pPr>
            <a:r>
              <a:rPr lang="en-US" sz="1950" dirty="0">
                <a:solidFill>
                  <a:srgbClr val="1D1F20"/>
                </a:solidFill>
                <a:latin typeface="Arial" pitchFamily="34" charset="0"/>
                <a:ea typeface="Arial" pitchFamily="34" charset="-122"/>
                <a:cs typeface="Arial" pitchFamily="34" charset="-120"/>
              </a:rPr>
              <a:t>(Art. 32) — un mot de passe de démonstration figure dans le dépôt. Acceptable en local, à externaliser avant tout déploiement réel.</a:t>
            </a:r>
            <a:endParaRPr lang="en-US" sz="1950" dirty="0"/>
          </a:p>
        </p:txBody>
      </p:sp>
      <p:sp>
        <p:nvSpPr>
          <p:cNvPr id="24" name="Shape 22"/>
          <p:cNvSpPr/>
          <p:nvPr/>
        </p:nvSpPr>
        <p:spPr>
          <a:xfrm>
            <a:off x="9391650" y="6135985"/>
            <a:ext cx="7829550" cy="1916311"/>
          </a:xfrm>
          <a:prstGeom prst="rect">
            <a:avLst/>
          </a:prstGeom>
          <a:ln w="6350">
            <a:solidFill>
              <a:srgbClr val="1D1F20">
                <a:alpha val="16000"/>
              </a:srgbClr>
            </a:solidFill>
            <a:prstDash val="solid"/>
          </a:ln>
        </p:spPr>
      </p:sp>
      <p:sp>
        <p:nvSpPr>
          <p:cNvPr id="25" name="Shape 23"/>
          <p:cNvSpPr/>
          <p:nvPr/>
        </p:nvSpPr>
        <p:spPr>
          <a:xfrm>
            <a:off x="9340850" y="6085186"/>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6" name="Shape 24"/>
          <p:cNvSpPr/>
          <p:nvPr/>
        </p:nvSpPr>
        <p:spPr>
          <a:xfrm>
            <a:off x="17167225" y="7998321"/>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27" name="Text 25"/>
          <p:cNvSpPr/>
          <p:nvPr/>
        </p:nvSpPr>
        <p:spPr>
          <a:xfrm>
            <a:off x="9664700" y="6389986"/>
            <a:ext cx="8011795"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INCIDENT — FAUX POSITIF DE L'AUDIT</a:t>
            </a:r>
            <a:endParaRPr lang="en-US" sz="1800" dirty="0"/>
          </a:p>
        </p:txBody>
      </p:sp>
      <p:sp>
        <p:nvSpPr>
          <p:cNvPr id="28" name="Text 26"/>
          <p:cNvSpPr/>
          <p:nvPr/>
        </p:nvSpPr>
        <p:spPr>
          <a:xfrm>
            <a:off x="9664700" y="6758285"/>
            <a:ext cx="7501954" cy="107811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1D1F20"/>
                </a:solidFill>
                <a:latin typeface="Arial" pitchFamily="34" charset="0"/>
                <a:ea typeface="Arial" pitchFamily="34" charset="-122"/>
                <a:cs typeface="Arial" pitchFamily="34" charset="-120"/>
              </a:rPr>
              <a:t>Le script signalait le nom des agences comme donnée personnelle. C'est une donnée d'entreprise, pas de personne physique : la règle a été corrigée et la justification conservée dans le code.</a:t>
            </a:r>
            <a:endParaRPr lang="en-US" sz="1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2F3"/>
        </a:solidFill>
      </p:bgPr>
    </p:bg>
    <p:spTree>
      <p:nvGrpSpPr>
        <p:cNvPr id="1" name=""/>
        <p:cNvGrpSpPr/>
        <p:nvPr/>
      </p:nvGrpSpPr>
      <p:grpSpPr>
        <a:xfrm>
          <a:off x="0" y="0"/>
          <a:ext cx="0" cy="0"/>
          <a:chOff x="0" y="0"/>
          <a:chExt cx="0" cy="0"/>
        </a:xfrm>
      </p:grpSpPr>
      <p:sp>
        <p:nvSpPr>
          <p:cNvPr id="2" name="Text 0"/>
          <p:cNvSpPr/>
          <p:nvPr/>
        </p:nvSpPr>
        <p:spPr>
          <a:xfrm>
            <a:off x="1066800" y="685800"/>
            <a:ext cx="3829526"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416180"/>
                </a:solidFill>
                <a:latin typeface="Arial" pitchFamily="34" charset="0"/>
                <a:ea typeface="Arial" pitchFamily="34" charset="-122"/>
                <a:cs typeface="Arial" pitchFamily="34" charset="-120"/>
              </a:rPr>
              <a:t>BC06 · PILOTAGE &amp; CONFORMITÉ</a:t>
            </a:r>
            <a:endParaRPr lang="en-US" sz="1800" dirty="0"/>
          </a:p>
        </p:txBody>
      </p:sp>
      <p:sp>
        <p:nvSpPr>
          <p:cNvPr id="3" name="Text 1"/>
          <p:cNvSpPr/>
          <p:nvPr/>
        </p:nvSpPr>
        <p:spPr>
          <a:xfrm>
            <a:off x="15225911" y="685800"/>
            <a:ext cx="2194818" cy="31115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5D5D60"/>
                </a:solidFill>
                <a:latin typeface="Arial" pitchFamily="34" charset="0"/>
                <a:ea typeface="Arial" pitchFamily="34" charset="-122"/>
                <a:cs typeface="Arial" pitchFamily="34" charset="-120"/>
              </a:rPr>
              <a:t>IMPACT FINANCIER</a:t>
            </a:r>
            <a:endParaRPr lang="en-US" sz="1800" dirty="0"/>
          </a:p>
        </p:txBody>
      </p:sp>
      <p:sp>
        <p:nvSpPr>
          <p:cNvPr id="4" name="Text 2"/>
          <p:cNvSpPr/>
          <p:nvPr/>
        </p:nvSpPr>
        <p:spPr>
          <a:xfrm>
            <a:off x="1066800" y="1225550"/>
            <a:ext cx="17769840" cy="795834"/>
          </a:xfrm>
          <a:prstGeom prst="rect">
            <a:avLst/>
          </a:prstGeom>
          <a:noFill/>
          <a:ln/>
        </p:spPr>
        <p:txBody>
          <a:bodyPr wrap="square" lIns="25400" tIns="25400" rIns="25400" bIns="25400" rtlCol="0" anchor="t">
            <a:normAutofit/>
          </a:bodyPr>
          <a:lstStyle/>
          <a:p>
            <a:pPr algn="l" indent="0" marL="0">
              <a:lnSpc>
                <a:spcPct val="88400"/>
              </a:lnSpc>
              <a:buNone/>
            </a:pPr>
            <a:r>
              <a:rPr lang="en-US" sz="5850" b="1" spc="-88" kern="0" dirty="0">
                <a:solidFill>
                  <a:srgbClr val="1D1F20"/>
                </a:solidFill>
                <a:latin typeface="Arial" pitchFamily="34" charset="0"/>
                <a:ea typeface="Arial" pitchFamily="34" charset="-122"/>
                <a:cs typeface="Arial" pitchFamily="34" charset="-120"/>
              </a:rPr>
              <a:t>Le meilleur modèle statistique n'est pas le plus rentable</a:t>
            </a:r>
            <a:endParaRPr lang="en-US" sz="5850" dirty="0"/>
          </a:p>
        </p:txBody>
      </p:sp>
      <p:sp>
        <p:nvSpPr>
          <p:cNvPr id="5" name="Shape 3"/>
          <p:cNvSpPr/>
          <p:nvPr/>
        </p:nvSpPr>
        <p:spPr>
          <a:xfrm>
            <a:off x="1447800" y="2402384"/>
            <a:ext cx="7634089" cy="7046416"/>
          </a:xfrm>
          <a:prstGeom prst="rect">
            <a:avLst/>
          </a:prstGeom>
          <a:solidFill>
            <a:srgbClr val="F5F5F8"/>
          </a:solidFill>
          <a:ln w="6350">
            <a:solidFill>
              <a:srgbClr val="1D1F20">
                <a:alpha val="16000"/>
              </a:srgbClr>
            </a:solidFill>
            <a:prstDash val="solid"/>
          </a:ln>
        </p:spPr>
      </p:sp>
      <p:sp>
        <p:nvSpPr>
          <p:cNvPr id="6" name="Shape 4"/>
          <p:cNvSpPr/>
          <p:nvPr/>
        </p:nvSpPr>
        <p:spPr>
          <a:xfrm>
            <a:off x="1397000" y="23515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7" name="Shape 5"/>
          <p:cNvSpPr/>
          <p:nvPr/>
        </p:nvSpPr>
        <p:spPr>
          <a:xfrm>
            <a:off x="9027914" y="2351584"/>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8" name="Shape 6"/>
          <p:cNvSpPr/>
          <p:nvPr/>
        </p:nvSpPr>
        <p:spPr>
          <a:xfrm>
            <a:off x="1397000"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9" name="Shape 7"/>
          <p:cNvSpPr/>
          <p:nvPr/>
        </p:nvSpPr>
        <p:spPr>
          <a:xfrm>
            <a:off x="9027914" y="9394825"/>
            <a:ext cx="104775" cy="104775"/>
          </a:xfrm>
          <a:prstGeom prst="rect">
            <a:avLst/>
          </a:prstGeom>
          <a:gradFill rotWithShape="1">
            <a:gsLst>
              <a:gs pos="0">
                <a:srgbClr val="8B8D8E">
                  <a:alpha val="100000"/>
                </a:srgbClr>
              </a:gs>
              <a:gs pos="100000">
                <a:srgbClr val="8B8D8E">
                  <a:alpha val="100000"/>
                </a:srgbClr>
              </a:gs>
            </a:gsLst>
            <a:lin ang="5400000" scaled="0"/>
          </a:gradFill>
          <a:ln/>
        </p:spPr>
      </p:sp>
      <p:pic>
        <p:nvPicPr>
          <p:cNvPr id="10" name="Image 0" descr="preencoded.png">    </p:cNvPr>
          <p:cNvPicPr>
            <a:picLocks noChangeAspect="1"/>
          </p:cNvPicPr>
          <p:nvPr/>
        </p:nvPicPr>
        <p:blipFill>
          <a:blip r:embed="rId1"/>
          <a:srcRect l="0" r="0" t="-21577" b="-21577"/>
          <a:stretch/>
        </p:blipFill>
        <p:spPr>
          <a:xfrm>
            <a:off x="1682750" y="2637334"/>
            <a:ext cx="7164189" cy="5897067"/>
          </a:xfrm>
          <a:prstGeom prst="rect">
            <a:avLst/>
          </a:prstGeom>
        </p:spPr>
      </p:pic>
      <p:sp>
        <p:nvSpPr>
          <p:cNvPr id="11" name="Text 8"/>
          <p:cNvSpPr/>
          <p:nvPr/>
        </p:nvSpPr>
        <p:spPr>
          <a:xfrm>
            <a:off x="1682750" y="8667750"/>
            <a:ext cx="7379115" cy="584200"/>
          </a:xfrm>
          <a:prstGeom prst="rect">
            <a:avLst/>
          </a:prstGeom>
          <a:noFill/>
          <a:ln/>
        </p:spPr>
        <p:txBody>
          <a:bodyPr wrap="square" lIns="25400" tIns="25400" rIns="25400" bIns="25400" rtlCol="0" anchor="t">
            <a:normAutofit/>
          </a:bodyPr>
          <a:lstStyle/>
          <a:p>
            <a:pPr algn="l" indent="0" marL="0">
              <a:buNone/>
            </a:pPr>
            <a:r>
              <a:rPr lang="en-US" sz="1800" dirty="0">
                <a:solidFill>
                  <a:srgbClr val="5D5D60"/>
                </a:solidFill>
                <a:latin typeface="Arial" pitchFamily="34" charset="0"/>
                <a:ea typeface="Arial" pitchFamily="34" charset="-122"/>
                <a:cs typeface="Arial" pitchFamily="34" charset="-120"/>
              </a:rPr>
              <a:t>Fraude évitée, fraude manquée et coût des fausses alertes, aux deux seuils, sur 80 000 transactions de test.</a:t>
            </a:r>
            <a:endParaRPr lang="en-US" sz="1800" dirty="0"/>
          </a:p>
        </p:txBody>
      </p:sp>
      <p:sp>
        <p:nvSpPr>
          <p:cNvPr id="12" name="Shape 9"/>
          <p:cNvSpPr/>
          <p:nvPr/>
        </p:nvSpPr>
        <p:spPr>
          <a:xfrm>
            <a:off x="9920090" y="3207842"/>
            <a:ext cx="7301012" cy="9525"/>
          </a:xfrm>
          <a:prstGeom prst="rect">
            <a:avLst/>
          </a:prstGeom>
          <a:solidFill>
            <a:srgbClr val="1D1F20">
              <a:alpha val="30000"/>
            </a:srgbClr>
          </a:solidFill>
          <a:ln/>
        </p:spPr>
      </p:sp>
      <p:sp>
        <p:nvSpPr>
          <p:cNvPr id="13" name="Text 10"/>
          <p:cNvSpPr/>
          <p:nvPr/>
        </p:nvSpPr>
        <p:spPr>
          <a:xfrm>
            <a:off x="12949833" y="2839542"/>
            <a:ext cx="2275800" cy="31115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D5D60"/>
                </a:solidFill>
                <a:latin typeface="Arial" pitchFamily="34" charset="0"/>
                <a:ea typeface="Arial" pitchFamily="34" charset="-122"/>
                <a:cs typeface="Arial" pitchFamily="34" charset="-120"/>
              </a:rPr>
              <a:t>SEUIL 0,50</a:t>
            </a:r>
            <a:endParaRPr lang="en-US" sz="1800" dirty="0"/>
          </a:p>
        </p:txBody>
      </p:sp>
      <p:sp>
        <p:nvSpPr>
          <p:cNvPr id="14" name="Text 11"/>
          <p:cNvSpPr/>
          <p:nvPr/>
        </p:nvSpPr>
        <p:spPr>
          <a:xfrm>
            <a:off x="15152093" y="2839542"/>
            <a:ext cx="2275800" cy="31115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D5D60"/>
                </a:solidFill>
                <a:latin typeface="Arial" pitchFamily="34" charset="0"/>
                <a:ea typeface="Arial" pitchFamily="34" charset="-122"/>
                <a:cs typeface="Arial" pitchFamily="34" charset="-120"/>
              </a:rPr>
              <a:t>SEUIL 0,98</a:t>
            </a:r>
            <a:endParaRPr lang="en-US" sz="1800" dirty="0"/>
          </a:p>
        </p:txBody>
      </p:sp>
      <p:sp>
        <p:nvSpPr>
          <p:cNvPr id="15" name="Shape 12"/>
          <p:cNvSpPr/>
          <p:nvPr/>
        </p:nvSpPr>
        <p:spPr>
          <a:xfrm>
            <a:off x="9920090" y="3779342"/>
            <a:ext cx="7301012" cy="9525"/>
          </a:xfrm>
          <a:prstGeom prst="rect">
            <a:avLst/>
          </a:prstGeom>
          <a:solidFill>
            <a:srgbClr val="1D1F20">
              <a:alpha val="10000"/>
            </a:srgbClr>
          </a:solidFill>
          <a:ln/>
        </p:spPr>
      </p:sp>
      <p:sp>
        <p:nvSpPr>
          <p:cNvPr id="16" name="Text 13"/>
          <p:cNvSpPr/>
          <p:nvPr/>
        </p:nvSpPr>
        <p:spPr>
          <a:xfrm>
            <a:off x="9920090" y="3347542"/>
            <a:ext cx="3186033" cy="336550"/>
          </a:xfrm>
          <a:prstGeom prst="rect">
            <a:avLst/>
          </a:prstGeom>
          <a:noFill/>
          <a:ln/>
        </p:spPr>
        <p:txBody>
          <a:bodyPr wrap="square" lIns="25400" tIns="25400" rIns="25400" bIns="25400" rtlCol="0" anchor="t">
            <a:normAutofit/>
          </a:bodyPr>
          <a:lstStyle/>
          <a:p>
            <a:pPr algn="l" indent="0" marL="0">
              <a:buNone/>
            </a:pPr>
            <a:r>
              <a:rPr lang="en-US" sz="1950" dirty="0">
                <a:solidFill>
                  <a:srgbClr val="1D1F20"/>
                </a:solidFill>
                <a:latin typeface="Arial" pitchFamily="34" charset="0"/>
                <a:ea typeface="Arial" pitchFamily="34" charset="-122"/>
                <a:cs typeface="Arial" pitchFamily="34" charset="-120"/>
              </a:rPr>
              <a:t>Fraude évitée</a:t>
            </a:r>
            <a:endParaRPr lang="en-US" sz="1950" dirty="0"/>
          </a:p>
        </p:txBody>
      </p:sp>
      <p:sp>
        <p:nvSpPr>
          <p:cNvPr id="17" name="Text 14"/>
          <p:cNvSpPr/>
          <p:nvPr/>
        </p:nvSpPr>
        <p:spPr>
          <a:xfrm>
            <a:off x="12949833" y="3347542"/>
            <a:ext cx="2275800" cy="336550"/>
          </a:xfrm>
          <a:prstGeom prst="rect">
            <a:avLst/>
          </a:prstGeom>
          <a:noFill/>
          <a:ln/>
        </p:spPr>
        <p:txBody>
          <a:bodyPr wrap="square" lIns="25400" tIns="25400" rIns="25400" bIns="25400" rtlCol="0" anchor="t">
            <a:normAutofit/>
          </a:bodyPr>
          <a:lstStyle/>
          <a:p>
            <a:pPr algn="l" indent="0" marL="0">
              <a:buNone/>
            </a:pPr>
            <a:r>
              <a:rPr lang="en-US" sz="1950" dirty="0">
                <a:solidFill>
                  <a:srgbClr val="1D1F20"/>
                </a:solidFill>
                <a:latin typeface="Arial" pitchFamily="34" charset="0"/>
                <a:ea typeface="Arial" pitchFamily="34" charset="-122"/>
                <a:cs typeface="Arial" pitchFamily="34" charset="-120"/>
              </a:rPr>
              <a:t>292 884 €</a:t>
            </a:r>
            <a:endParaRPr lang="en-US" sz="1950" dirty="0"/>
          </a:p>
        </p:txBody>
      </p:sp>
      <p:sp>
        <p:nvSpPr>
          <p:cNvPr id="18" name="Text 15"/>
          <p:cNvSpPr/>
          <p:nvPr/>
        </p:nvSpPr>
        <p:spPr>
          <a:xfrm>
            <a:off x="15152093" y="3347542"/>
            <a:ext cx="2275800" cy="336550"/>
          </a:xfrm>
          <a:prstGeom prst="rect">
            <a:avLst/>
          </a:prstGeom>
          <a:noFill/>
          <a:ln/>
        </p:spPr>
        <p:txBody>
          <a:bodyPr wrap="square" lIns="25400" tIns="25400" rIns="25400" bIns="25400" rtlCol="0" anchor="t">
            <a:normAutofit/>
          </a:bodyPr>
          <a:lstStyle/>
          <a:p>
            <a:pPr algn="l" indent="0" marL="0">
              <a:buNone/>
            </a:pPr>
            <a:r>
              <a:rPr lang="en-US" sz="1950" dirty="0">
                <a:solidFill>
                  <a:srgbClr val="1D1F20"/>
                </a:solidFill>
                <a:latin typeface="Arial" pitchFamily="34" charset="0"/>
                <a:ea typeface="Arial" pitchFamily="34" charset="-122"/>
                <a:cs typeface="Arial" pitchFamily="34" charset="-120"/>
              </a:rPr>
              <a:t>266 895 €</a:t>
            </a:r>
            <a:endParaRPr lang="en-US" sz="1950" dirty="0"/>
          </a:p>
        </p:txBody>
      </p:sp>
      <p:sp>
        <p:nvSpPr>
          <p:cNvPr id="19" name="Shape 16"/>
          <p:cNvSpPr/>
          <p:nvPr/>
        </p:nvSpPr>
        <p:spPr>
          <a:xfrm>
            <a:off x="9920090" y="4350842"/>
            <a:ext cx="7301012" cy="9525"/>
          </a:xfrm>
          <a:prstGeom prst="rect">
            <a:avLst/>
          </a:prstGeom>
          <a:solidFill>
            <a:srgbClr val="1D1F20">
              <a:alpha val="10000"/>
            </a:srgbClr>
          </a:solidFill>
          <a:ln/>
        </p:spPr>
      </p:sp>
      <p:sp>
        <p:nvSpPr>
          <p:cNvPr id="20" name="Text 17"/>
          <p:cNvSpPr/>
          <p:nvPr/>
        </p:nvSpPr>
        <p:spPr>
          <a:xfrm>
            <a:off x="9920090" y="3919042"/>
            <a:ext cx="3186033" cy="336550"/>
          </a:xfrm>
          <a:prstGeom prst="rect">
            <a:avLst/>
          </a:prstGeom>
          <a:noFill/>
          <a:ln/>
        </p:spPr>
        <p:txBody>
          <a:bodyPr wrap="square" lIns="25400" tIns="25400" rIns="25400" bIns="25400" rtlCol="0" anchor="t">
            <a:normAutofit/>
          </a:bodyPr>
          <a:lstStyle/>
          <a:p>
            <a:pPr algn="l" indent="0" marL="0">
              <a:buNone/>
            </a:pPr>
            <a:r>
              <a:rPr lang="en-US" sz="1950" dirty="0">
                <a:solidFill>
                  <a:srgbClr val="1D1F20"/>
                </a:solidFill>
                <a:latin typeface="Arial" pitchFamily="34" charset="0"/>
                <a:ea typeface="Arial" pitchFamily="34" charset="-122"/>
                <a:cs typeface="Arial" pitchFamily="34" charset="-120"/>
              </a:rPr>
              <a:t>Fraude manquée</a:t>
            </a:r>
            <a:endParaRPr lang="en-US" sz="1950" dirty="0"/>
          </a:p>
        </p:txBody>
      </p:sp>
      <p:sp>
        <p:nvSpPr>
          <p:cNvPr id="21" name="Text 18"/>
          <p:cNvSpPr/>
          <p:nvPr/>
        </p:nvSpPr>
        <p:spPr>
          <a:xfrm>
            <a:off x="12949833" y="3919042"/>
            <a:ext cx="2275800" cy="336550"/>
          </a:xfrm>
          <a:prstGeom prst="rect">
            <a:avLst/>
          </a:prstGeom>
          <a:noFill/>
          <a:ln/>
        </p:spPr>
        <p:txBody>
          <a:bodyPr wrap="square" lIns="25400" tIns="25400" rIns="25400" bIns="25400" rtlCol="0" anchor="t">
            <a:normAutofit/>
          </a:bodyPr>
          <a:lstStyle/>
          <a:p>
            <a:pPr algn="l" indent="0" marL="0">
              <a:buNone/>
            </a:pPr>
            <a:r>
              <a:rPr lang="en-US" sz="1950" dirty="0">
                <a:solidFill>
                  <a:srgbClr val="1D1F20"/>
                </a:solidFill>
                <a:latin typeface="Arial" pitchFamily="34" charset="0"/>
                <a:ea typeface="Arial" pitchFamily="34" charset="-122"/>
                <a:cs typeface="Arial" pitchFamily="34" charset="-120"/>
              </a:rPr>
              <a:t>4 355 €</a:t>
            </a:r>
            <a:endParaRPr lang="en-US" sz="1950" dirty="0"/>
          </a:p>
        </p:txBody>
      </p:sp>
      <p:sp>
        <p:nvSpPr>
          <p:cNvPr id="22" name="Text 19"/>
          <p:cNvSpPr/>
          <p:nvPr/>
        </p:nvSpPr>
        <p:spPr>
          <a:xfrm>
            <a:off x="15152093" y="3919042"/>
            <a:ext cx="2275800" cy="336550"/>
          </a:xfrm>
          <a:prstGeom prst="rect">
            <a:avLst/>
          </a:prstGeom>
          <a:noFill/>
          <a:ln/>
        </p:spPr>
        <p:txBody>
          <a:bodyPr wrap="square" lIns="25400" tIns="25400" rIns="25400" bIns="25400" rtlCol="0" anchor="t">
            <a:normAutofit/>
          </a:bodyPr>
          <a:lstStyle/>
          <a:p>
            <a:pPr algn="l" indent="0" marL="0">
              <a:buNone/>
            </a:pPr>
            <a:r>
              <a:rPr lang="en-US" sz="1950" dirty="0">
                <a:solidFill>
                  <a:srgbClr val="1D1F20"/>
                </a:solidFill>
                <a:latin typeface="Arial" pitchFamily="34" charset="0"/>
                <a:ea typeface="Arial" pitchFamily="34" charset="-122"/>
                <a:cs typeface="Arial" pitchFamily="34" charset="-120"/>
              </a:rPr>
              <a:t>30 344 €</a:t>
            </a:r>
            <a:endParaRPr lang="en-US" sz="1950" dirty="0"/>
          </a:p>
        </p:txBody>
      </p:sp>
      <p:sp>
        <p:nvSpPr>
          <p:cNvPr id="23" name="Shape 20"/>
          <p:cNvSpPr/>
          <p:nvPr/>
        </p:nvSpPr>
        <p:spPr>
          <a:xfrm>
            <a:off x="9920090" y="4922342"/>
            <a:ext cx="7301012" cy="9525"/>
          </a:xfrm>
          <a:prstGeom prst="rect">
            <a:avLst/>
          </a:prstGeom>
          <a:solidFill>
            <a:srgbClr val="1D1F20">
              <a:alpha val="10000"/>
            </a:srgbClr>
          </a:solidFill>
          <a:ln/>
        </p:spPr>
      </p:sp>
      <p:sp>
        <p:nvSpPr>
          <p:cNvPr id="24" name="Text 21"/>
          <p:cNvSpPr/>
          <p:nvPr/>
        </p:nvSpPr>
        <p:spPr>
          <a:xfrm>
            <a:off x="9920090" y="4490542"/>
            <a:ext cx="3186033" cy="336550"/>
          </a:xfrm>
          <a:prstGeom prst="rect">
            <a:avLst/>
          </a:prstGeom>
          <a:noFill/>
          <a:ln/>
        </p:spPr>
        <p:txBody>
          <a:bodyPr wrap="square" lIns="25400" tIns="25400" rIns="25400" bIns="25400" rtlCol="0" anchor="t">
            <a:normAutofit/>
          </a:bodyPr>
          <a:lstStyle/>
          <a:p>
            <a:pPr algn="l" indent="0" marL="0">
              <a:buNone/>
            </a:pPr>
            <a:r>
              <a:rPr lang="en-US" sz="1950" dirty="0">
                <a:solidFill>
                  <a:srgbClr val="1D1F20"/>
                </a:solidFill>
                <a:latin typeface="Arial" pitchFamily="34" charset="0"/>
                <a:ea typeface="Arial" pitchFamily="34" charset="-122"/>
                <a:cs typeface="Arial" pitchFamily="34" charset="-120"/>
              </a:rPr>
              <a:t>Fausses alertes</a:t>
            </a:r>
            <a:endParaRPr lang="en-US" sz="1950" dirty="0"/>
          </a:p>
        </p:txBody>
      </p:sp>
      <p:sp>
        <p:nvSpPr>
          <p:cNvPr id="25" name="Text 22"/>
          <p:cNvSpPr/>
          <p:nvPr/>
        </p:nvSpPr>
        <p:spPr>
          <a:xfrm>
            <a:off x="12949833" y="4490542"/>
            <a:ext cx="2275800" cy="336550"/>
          </a:xfrm>
          <a:prstGeom prst="rect">
            <a:avLst/>
          </a:prstGeom>
          <a:noFill/>
          <a:ln/>
        </p:spPr>
        <p:txBody>
          <a:bodyPr wrap="square" lIns="25400" tIns="25400" rIns="25400" bIns="25400" rtlCol="0" anchor="t">
            <a:normAutofit/>
          </a:bodyPr>
          <a:lstStyle/>
          <a:p>
            <a:pPr algn="l" indent="0" marL="0">
              <a:buNone/>
            </a:pPr>
            <a:r>
              <a:rPr lang="en-US" sz="1950" dirty="0">
                <a:solidFill>
                  <a:srgbClr val="1D1F20"/>
                </a:solidFill>
                <a:latin typeface="Arial" pitchFamily="34" charset="0"/>
                <a:ea typeface="Arial" pitchFamily="34" charset="-122"/>
                <a:cs typeface="Arial" pitchFamily="34" charset="-120"/>
              </a:rPr>
              <a:t>758 · 6 064 €</a:t>
            </a:r>
            <a:endParaRPr lang="en-US" sz="1950" dirty="0"/>
          </a:p>
        </p:txBody>
      </p:sp>
      <p:sp>
        <p:nvSpPr>
          <p:cNvPr id="26" name="Text 23"/>
          <p:cNvSpPr/>
          <p:nvPr/>
        </p:nvSpPr>
        <p:spPr>
          <a:xfrm>
            <a:off x="15152093" y="4490542"/>
            <a:ext cx="2275800" cy="336550"/>
          </a:xfrm>
          <a:prstGeom prst="rect">
            <a:avLst/>
          </a:prstGeom>
          <a:noFill/>
          <a:ln/>
        </p:spPr>
        <p:txBody>
          <a:bodyPr wrap="square" lIns="25400" tIns="25400" rIns="25400" bIns="25400" rtlCol="0" anchor="t">
            <a:normAutofit/>
          </a:bodyPr>
          <a:lstStyle/>
          <a:p>
            <a:pPr algn="l" indent="0" marL="0">
              <a:buNone/>
            </a:pPr>
            <a:r>
              <a:rPr lang="en-US" sz="1950" dirty="0">
                <a:solidFill>
                  <a:srgbClr val="1D1F20"/>
                </a:solidFill>
                <a:latin typeface="Arial" pitchFamily="34" charset="0"/>
                <a:ea typeface="Arial" pitchFamily="34" charset="-122"/>
                <a:cs typeface="Arial" pitchFamily="34" charset="-120"/>
              </a:rPr>
              <a:t>122 · 976 €</a:t>
            </a:r>
            <a:endParaRPr lang="en-US" sz="1950" dirty="0"/>
          </a:p>
        </p:txBody>
      </p:sp>
      <p:sp>
        <p:nvSpPr>
          <p:cNvPr id="27" name="Shape 24"/>
          <p:cNvSpPr/>
          <p:nvPr/>
        </p:nvSpPr>
        <p:spPr>
          <a:xfrm>
            <a:off x="9920090" y="4928692"/>
            <a:ext cx="7301012" cy="615950"/>
          </a:xfrm>
          <a:prstGeom prst="rect">
            <a:avLst/>
          </a:prstGeom>
          <a:solidFill>
            <a:srgbClr val="1D2D3D"/>
          </a:solidFill>
          <a:ln/>
        </p:spPr>
      </p:sp>
      <p:sp>
        <p:nvSpPr>
          <p:cNvPr id="28" name="Text 25"/>
          <p:cNvSpPr/>
          <p:nvPr/>
        </p:nvSpPr>
        <p:spPr>
          <a:xfrm>
            <a:off x="10034390" y="5081092"/>
            <a:ext cx="3082568" cy="349250"/>
          </a:xfrm>
          <a:prstGeom prst="rect">
            <a:avLst/>
          </a:prstGeom>
          <a:noFill/>
          <a:ln/>
        </p:spPr>
        <p:txBody>
          <a:bodyPr wrap="square" lIns="25400" tIns="25400" rIns="25400" bIns="25400" rtlCol="0" anchor="t">
            <a:normAutofit/>
          </a:bodyPr>
          <a:lstStyle/>
          <a:p>
            <a:pPr algn="l" indent="0" marL="0">
              <a:buNone/>
            </a:pPr>
            <a:r>
              <a:rPr lang="en-US" sz="2025" b="1" dirty="0">
                <a:solidFill>
                  <a:srgbClr val="F2F2F3"/>
                </a:solidFill>
                <a:latin typeface="Arial" pitchFamily="34" charset="0"/>
                <a:ea typeface="Arial" pitchFamily="34" charset="-122"/>
                <a:cs typeface="Arial" pitchFamily="34" charset="-120"/>
              </a:rPr>
              <a:t>Bénéfice net</a:t>
            </a:r>
            <a:endParaRPr lang="en-US" sz="2025" dirty="0"/>
          </a:p>
        </p:txBody>
      </p:sp>
      <p:sp>
        <p:nvSpPr>
          <p:cNvPr id="29" name="Text 26"/>
          <p:cNvSpPr/>
          <p:nvPr/>
        </p:nvSpPr>
        <p:spPr>
          <a:xfrm>
            <a:off x="12970073" y="5081092"/>
            <a:ext cx="2201803" cy="349250"/>
          </a:xfrm>
          <a:prstGeom prst="rect">
            <a:avLst/>
          </a:prstGeom>
          <a:noFill/>
          <a:ln/>
        </p:spPr>
        <p:txBody>
          <a:bodyPr wrap="square" lIns="25400" tIns="25400" rIns="25400" bIns="25400" rtlCol="0" anchor="t">
            <a:normAutofit/>
          </a:bodyPr>
          <a:lstStyle/>
          <a:p>
            <a:pPr algn="l" indent="0" marL="0">
              <a:buNone/>
            </a:pPr>
            <a:r>
              <a:rPr lang="en-US" sz="2025" b="1" dirty="0">
                <a:solidFill>
                  <a:srgbClr val="F2F2F3"/>
                </a:solidFill>
                <a:latin typeface="Arial" pitchFamily="34" charset="0"/>
                <a:ea typeface="Arial" pitchFamily="34" charset="-122"/>
                <a:cs typeface="Arial" pitchFamily="34" charset="-120"/>
              </a:rPr>
              <a:t>286 820 €</a:t>
            </a:r>
            <a:endParaRPr lang="en-US" sz="2025" dirty="0"/>
          </a:p>
        </p:txBody>
      </p:sp>
      <p:sp>
        <p:nvSpPr>
          <p:cNvPr id="30" name="Text 27"/>
          <p:cNvSpPr/>
          <p:nvPr/>
        </p:nvSpPr>
        <p:spPr>
          <a:xfrm>
            <a:off x="15105063" y="5081092"/>
            <a:ext cx="2201912" cy="349250"/>
          </a:xfrm>
          <a:prstGeom prst="rect">
            <a:avLst/>
          </a:prstGeom>
          <a:noFill/>
          <a:ln/>
        </p:spPr>
        <p:txBody>
          <a:bodyPr wrap="square" lIns="25400" tIns="25400" rIns="25400" bIns="25400" rtlCol="0" anchor="t">
            <a:normAutofit/>
          </a:bodyPr>
          <a:lstStyle/>
          <a:p>
            <a:pPr algn="l" indent="0" marL="0">
              <a:buNone/>
            </a:pPr>
            <a:r>
              <a:rPr lang="en-US" sz="2025" dirty="0">
                <a:solidFill>
                  <a:srgbClr val="F2F2F3"/>
                </a:solidFill>
                <a:latin typeface="Arial" pitchFamily="34" charset="0"/>
                <a:ea typeface="Arial" pitchFamily="34" charset="-122"/>
                <a:cs typeface="Arial" pitchFamily="34" charset="-120"/>
              </a:rPr>
              <a:t>265 919 €</a:t>
            </a:r>
            <a:endParaRPr lang="en-US" sz="2025" dirty="0"/>
          </a:p>
        </p:txBody>
      </p:sp>
      <p:sp>
        <p:nvSpPr>
          <p:cNvPr id="31" name="Shape 28"/>
          <p:cNvSpPr/>
          <p:nvPr/>
        </p:nvSpPr>
        <p:spPr>
          <a:xfrm>
            <a:off x="9920090" y="5735142"/>
            <a:ext cx="7301012" cy="2445941"/>
          </a:xfrm>
          <a:prstGeom prst="rect">
            <a:avLst/>
          </a:prstGeom>
          <a:ln w="6350">
            <a:solidFill>
              <a:srgbClr val="1D1F20">
                <a:alpha val="16000"/>
              </a:srgbClr>
            </a:solidFill>
            <a:prstDash val="solid"/>
          </a:ln>
        </p:spPr>
      </p:sp>
      <p:sp>
        <p:nvSpPr>
          <p:cNvPr id="32" name="Shape 29"/>
          <p:cNvSpPr/>
          <p:nvPr/>
        </p:nvSpPr>
        <p:spPr>
          <a:xfrm>
            <a:off x="9869289" y="5684341"/>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33" name="Shape 30"/>
          <p:cNvSpPr/>
          <p:nvPr/>
        </p:nvSpPr>
        <p:spPr>
          <a:xfrm>
            <a:off x="17167127" y="8127107"/>
            <a:ext cx="104775" cy="104775"/>
          </a:xfrm>
          <a:prstGeom prst="rect">
            <a:avLst/>
          </a:prstGeom>
          <a:gradFill rotWithShape="1">
            <a:gsLst>
              <a:gs pos="0">
                <a:srgbClr val="8B8D8E">
                  <a:alpha val="100000"/>
                </a:srgbClr>
              </a:gs>
              <a:gs pos="100000">
                <a:srgbClr val="8B8D8E">
                  <a:alpha val="100000"/>
                </a:srgbClr>
              </a:gs>
            </a:gsLst>
            <a:lin ang="5400000" scaled="0"/>
          </a:gradFill>
          <a:ln/>
        </p:spPr>
      </p:sp>
      <p:sp>
        <p:nvSpPr>
          <p:cNvPr id="34" name="Text 31"/>
          <p:cNvSpPr/>
          <p:nvPr/>
        </p:nvSpPr>
        <p:spPr>
          <a:xfrm>
            <a:off x="10212189" y="6008191"/>
            <a:ext cx="7388493"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16180"/>
                </a:solidFill>
                <a:latin typeface="Arial" pitchFamily="34" charset="0"/>
                <a:ea typeface="Arial" pitchFamily="34" charset="-122"/>
                <a:cs typeface="Arial" pitchFamily="34" charset="-120"/>
              </a:rPr>
              <a:t>LE CONSTAT CLÉ DU PROJET</a:t>
            </a:r>
            <a:endParaRPr lang="en-US" sz="1800" dirty="0"/>
          </a:p>
        </p:txBody>
      </p:sp>
      <p:sp>
        <p:nvSpPr>
          <p:cNvPr id="35" name="Text 32"/>
          <p:cNvSpPr/>
          <p:nvPr/>
        </p:nvSpPr>
        <p:spPr>
          <a:xfrm>
            <a:off x="10212189" y="6376492"/>
            <a:ext cx="6918316" cy="1569641"/>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1D1F20"/>
                </a:solidFill>
                <a:latin typeface="Arial" pitchFamily="34" charset="0"/>
                <a:ea typeface="Arial" pitchFamily="34" charset="-122"/>
                <a:cs typeface="Arial" pitchFamily="34" charset="-120"/>
              </a:rPr>
              <a:t>Le seuil « optimal » au sens statistique coûte </a:t>
            </a:r>
            <a:pPr algn="l" indent="0" marL="0">
              <a:lnSpc>
                <a:spcPct val="122500"/>
              </a:lnSpc>
              <a:buNone/>
            </a:pPr>
            <a:r>
              <a:rPr lang="en-US" sz="2100" b="1" dirty="0">
                <a:solidFill>
                  <a:srgbClr val="1D1F20"/>
                </a:solidFill>
                <a:latin typeface="Arial" pitchFamily="34" charset="0"/>
                <a:ea typeface="Arial" pitchFamily="34" charset="-122"/>
                <a:cs typeface="Arial" pitchFamily="34" charset="-120"/>
              </a:rPr>
              <a:t>20 901 € de bénéfice en moins </a:t>
            </a:r>
            <a:pPr algn="l" indent="0" marL="0">
              <a:lnSpc>
                <a:spcPct val="122500"/>
              </a:lnSpc>
              <a:buNone/>
            </a:pPr>
            <a:r>
              <a:rPr lang="en-US" sz="2100" dirty="0">
                <a:solidFill>
                  <a:srgbClr val="1D1F20"/>
                </a:solidFill>
                <a:latin typeface="Arial" pitchFamily="34" charset="0"/>
                <a:ea typeface="Arial" pitchFamily="34" charset="-122"/>
                <a:cs typeface="Arial" pitchFamily="34" charset="-120"/>
              </a:rPr>
              <a:t>: une fraude manquée coûte son montant réel, une fausse alerte coûte 8 €. La décision finale se prend en euros, pas en F1.</a:t>
            </a:r>
            <a:endParaRPr lang="en-US" sz="2100" dirty="0"/>
          </a:p>
        </p:txBody>
      </p:sp>
      <p:sp>
        <p:nvSpPr>
          <p:cNvPr id="36" name="Text 33"/>
          <p:cNvSpPr/>
          <p:nvPr/>
        </p:nvSpPr>
        <p:spPr>
          <a:xfrm>
            <a:off x="9920090" y="8371582"/>
            <a:ext cx="7520042"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5D5D60"/>
                </a:solidFill>
                <a:latin typeface="Arial" pitchFamily="34" charset="0"/>
                <a:ea typeface="Arial" pitchFamily="34" charset="-122"/>
                <a:cs typeface="Arial" pitchFamily="34" charset="-120"/>
              </a:rPr>
              <a:t>Hypothèse à valider avec le métier : coût unitaire d'une fausse alerte fixé à 8 €. L'annualisation (× 4,8) est une extrapolation linéaire, pas une mesure.</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D2D3D"/>
        </a:solidFill>
      </p:bgPr>
    </p:bg>
    <p:spTree>
      <p:nvGrpSpPr>
        <p:cNvPr id="1" name=""/>
        <p:cNvGrpSpPr/>
        <p:nvPr/>
      </p:nvGrpSpPr>
      <p:grpSpPr>
        <a:xfrm>
          <a:off x="0" y="0"/>
          <a:ext cx="0" cy="0"/>
          <a:chOff x="0" y="0"/>
          <a:chExt cx="0" cy="0"/>
        </a:xfrm>
      </p:grpSpPr>
      <p:sp>
        <p:nvSpPr>
          <p:cNvPr id="2" name="Text 0"/>
          <p:cNvSpPr/>
          <p:nvPr/>
        </p:nvSpPr>
        <p:spPr>
          <a:xfrm>
            <a:off x="1066800" y="762000"/>
            <a:ext cx="17769840" cy="336550"/>
          </a:xfrm>
          <a:prstGeom prst="rect">
            <a:avLst/>
          </a:prstGeom>
          <a:noFill/>
          <a:ln/>
        </p:spPr>
        <p:txBody>
          <a:bodyPr wrap="square" lIns="25400" tIns="25400" rIns="25400" bIns="25400" rtlCol="0" anchor="t">
            <a:normAutofit/>
          </a:bodyPr>
          <a:lstStyle/>
          <a:p>
            <a:pPr algn="l" indent="0" marL="0">
              <a:buNone/>
            </a:pPr>
            <a:r>
              <a:rPr lang="en-US" sz="1950" spc="390" kern="0" dirty="0">
                <a:solidFill>
                  <a:srgbClr val="94BCE3"/>
                </a:solidFill>
                <a:latin typeface="Arial" pitchFamily="34" charset="0"/>
                <a:ea typeface="Arial" pitchFamily="34" charset="-122"/>
                <a:cs typeface="Arial" pitchFamily="34" charset="-120"/>
              </a:rPr>
              <a:t>CONCLUSION</a:t>
            </a:r>
            <a:endParaRPr lang="en-US" sz="1950" dirty="0"/>
          </a:p>
        </p:txBody>
      </p:sp>
      <p:sp>
        <p:nvSpPr>
          <p:cNvPr id="3" name="Text 1"/>
          <p:cNvSpPr/>
          <p:nvPr/>
        </p:nvSpPr>
        <p:spPr>
          <a:xfrm>
            <a:off x="1066800" y="1308100"/>
            <a:ext cx="14225588" cy="1866900"/>
          </a:xfrm>
          <a:prstGeom prst="rect">
            <a:avLst/>
          </a:prstGeom>
          <a:noFill/>
          <a:ln/>
        </p:spPr>
        <p:txBody>
          <a:bodyPr wrap="square" lIns="25400" tIns="25400" rIns="25400" bIns="25400" rtlCol="0" anchor="t">
            <a:normAutofit/>
          </a:bodyPr>
          <a:lstStyle/>
          <a:p>
            <a:pPr algn="l" indent="0" marL="0">
              <a:lnSpc>
                <a:spcPct val="86747"/>
              </a:lnSpc>
              <a:buNone/>
            </a:pPr>
            <a:r>
              <a:rPr lang="en-US" sz="7200" b="1" spc="-108" kern="0" dirty="0">
                <a:solidFill>
                  <a:srgbClr val="F2F2F3"/>
                </a:solidFill>
                <a:latin typeface="Arial" pitchFamily="34" charset="0"/>
                <a:ea typeface="Arial" pitchFamily="34" charset="-122"/>
                <a:cs typeface="Arial" pitchFamily="34" charset="-120"/>
              </a:rPr>
              <a:t>Une chaîne complète, un modèle en service, une décision chiffrée</a:t>
            </a:r>
            <a:endParaRPr lang="en-US" sz="7200" dirty="0"/>
          </a:p>
        </p:txBody>
      </p:sp>
      <p:sp>
        <p:nvSpPr>
          <p:cNvPr id="4" name="Shape 2"/>
          <p:cNvSpPr/>
          <p:nvPr/>
        </p:nvSpPr>
        <p:spPr>
          <a:xfrm>
            <a:off x="1066800" y="3888581"/>
            <a:ext cx="3752850" cy="9525"/>
          </a:xfrm>
          <a:prstGeom prst="rect">
            <a:avLst/>
          </a:prstGeom>
          <a:solidFill>
            <a:srgbClr val="416180"/>
          </a:solidFill>
          <a:ln/>
        </p:spPr>
      </p:sp>
      <p:sp>
        <p:nvSpPr>
          <p:cNvPr id="5" name="Text 3"/>
          <p:cNvSpPr/>
          <p:nvPr/>
        </p:nvSpPr>
        <p:spPr>
          <a:xfrm>
            <a:off x="1066800" y="4085431"/>
            <a:ext cx="4128135" cy="762000"/>
          </a:xfrm>
          <a:prstGeom prst="rect">
            <a:avLst/>
          </a:prstGeom>
          <a:noFill/>
          <a:ln/>
        </p:spPr>
        <p:txBody>
          <a:bodyPr wrap="square" lIns="25400" tIns="25400" rIns="25400" bIns="25400" rtlCol="0" anchor="t">
            <a:normAutofit/>
          </a:bodyPr>
          <a:lstStyle/>
          <a:p>
            <a:pPr algn="l" indent="0" marL="0">
              <a:lnSpc>
                <a:spcPct val="87023"/>
              </a:lnSpc>
              <a:buNone/>
            </a:pPr>
            <a:r>
              <a:rPr lang="en-US" sz="5700" dirty="0">
                <a:solidFill>
                  <a:srgbClr val="F2F2F3"/>
                </a:solidFill>
                <a:latin typeface="Arial" pitchFamily="34" charset="0"/>
                <a:ea typeface="Arial" pitchFamily="34" charset="-122"/>
                <a:cs typeface="Arial" pitchFamily="34" charset="-120"/>
              </a:rPr>
              <a:t>0,998</a:t>
            </a:r>
            <a:endParaRPr lang="en-US" sz="5700" dirty="0"/>
          </a:p>
        </p:txBody>
      </p:sp>
      <p:sp>
        <p:nvSpPr>
          <p:cNvPr id="6" name="Text 4"/>
          <p:cNvSpPr/>
          <p:nvPr/>
        </p:nvSpPr>
        <p:spPr>
          <a:xfrm>
            <a:off x="1066800" y="4866481"/>
            <a:ext cx="3865436" cy="622300"/>
          </a:xfrm>
          <a:prstGeom prst="rect">
            <a:avLst/>
          </a:prstGeom>
          <a:noFill/>
          <a:ln/>
        </p:spPr>
        <p:txBody>
          <a:bodyPr wrap="square" lIns="25400" tIns="25400" rIns="25400" bIns="25400" rtlCol="0" anchor="t">
            <a:normAutofit/>
          </a:bodyPr>
          <a:lstStyle/>
          <a:p>
            <a:pPr algn="l" indent="0" marL="0">
              <a:buNone/>
            </a:pPr>
            <a:r>
              <a:rPr lang="en-US" sz="1875" dirty="0">
                <a:solidFill>
                  <a:srgbClr val="94BCE3"/>
                </a:solidFill>
                <a:latin typeface="Arial" pitchFamily="34" charset="0"/>
                <a:ea typeface="Arial" pitchFamily="34" charset="-122"/>
                <a:cs typeface="Arial" pitchFamily="34" charset="-120"/>
              </a:rPr>
              <a:t>AUC du modèle retenu, servi en production</a:t>
            </a:r>
            <a:endParaRPr lang="en-US" sz="1875" dirty="0"/>
          </a:p>
        </p:txBody>
      </p:sp>
      <p:sp>
        <p:nvSpPr>
          <p:cNvPr id="7" name="Shape 5"/>
          <p:cNvSpPr/>
          <p:nvPr/>
        </p:nvSpPr>
        <p:spPr>
          <a:xfrm>
            <a:off x="5200650" y="3888581"/>
            <a:ext cx="3752850" cy="9525"/>
          </a:xfrm>
          <a:prstGeom prst="rect">
            <a:avLst/>
          </a:prstGeom>
          <a:solidFill>
            <a:srgbClr val="416180"/>
          </a:solidFill>
          <a:ln/>
        </p:spPr>
      </p:sp>
      <p:sp>
        <p:nvSpPr>
          <p:cNvPr id="8" name="Text 6"/>
          <p:cNvSpPr/>
          <p:nvPr/>
        </p:nvSpPr>
        <p:spPr>
          <a:xfrm>
            <a:off x="5200650" y="4085431"/>
            <a:ext cx="4128135" cy="762000"/>
          </a:xfrm>
          <a:prstGeom prst="rect">
            <a:avLst/>
          </a:prstGeom>
          <a:noFill/>
          <a:ln/>
        </p:spPr>
        <p:txBody>
          <a:bodyPr wrap="square" lIns="25400" tIns="25400" rIns="25400" bIns="25400" rtlCol="0" anchor="t">
            <a:normAutofit/>
          </a:bodyPr>
          <a:lstStyle/>
          <a:p>
            <a:pPr algn="l" indent="0" marL="0">
              <a:lnSpc>
                <a:spcPct val="87023"/>
              </a:lnSpc>
              <a:buNone/>
            </a:pPr>
            <a:r>
              <a:rPr lang="en-US" sz="5700" dirty="0">
                <a:solidFill>
                  <a:srgbClr val="F2F2F3"/>
                </a:solidFill>
                <a:latin typeface="Arial" pitchFamily="34" charset="0"/>
                <a:ea typeface="Arial" pitchFamily="34" charset="-122"/>
                <a:cs typeface="Arial" pitchFamily="34" charset="-120"/>
              </a:rPr>
              <a:t>24–60 ms</a:t>
            </a:r>
            <a:endParaRPr lang="en-US" sz="5700" dirty="0"/>
          </a:p>
        </p:txBody>
      </p:sp>
      <p:sp>
        <p:nvSpPr>
          <p:cNvPr id="9" name="Text 7"/>
          <p:cNvSpPr/>
          <p:nvPr/>
        </p:nvSpPr>
        <p:spPr>
          <a:xfrm>
            <a:off x="5200650" y="4866481"/>
            <a:ext cx="3865436" cy="622300"/>
          </a:xfrm>
          <a:prstGeom prst="rect">
            <a:avLst/>
          </a:prstGeom>
          <a:noFill/>
          <a:ln/>
        </p:spPr>
        <p:txBody>
          <a:bodyPr wrap="square" lIns="25400" tIns="25400" rIns="25400" bIns="25400" rtlCol="0" anchor="t">
            <a:normAutofit/>
          </a:bodyPr>
          <a:lstStyle/>
          <a:p>
            <a:pPr algn="l" indent="0" marL="0">
              <a:buNone/>
            </a:pPr>
            <a:r>
              <a:rPr lang="en-US" sz="1875" dirty="0">
                <a:solidFill>
                  <a:srgbClr val="94BCE3"/>
                </a:solidFill>
                <a:latin typeface="Arial" pitchFamily="34" charset="0"/>
                <a:ea typeface="Arial" pitchFamily="34" charset="-122"/>
                <a:cs typeface="Arial" pitchFamily="34" charset="-120"/>
              </a:rPr>
              <a:t>par décision, explication SHAP comprise</a:t>
            </a:r>
            <a:endParaRPr lang="en-US" sz="1875" dirty="0"/>
          </a:p>
        </p:txBody>
      </p:sp>
      <p:sp>
        <p:nvSpPr>
          <p:cNvPr id="10" name="Shape 8"/>
          <p:cNvSpPr/>
          <p:nvPr/>
        </p:nvSpPr>
        <p:spPr>
          <a:xfrm>
            <a:off x="9334500" y="3888581"/>
            <a:ext cx="3752850" cy="9525"/>
          </a:xfrm>
          <a:prstGeom prst="rect">
            <a:avLst/>
          </a:prstGeom>
          <a:solidFill>
            <a:srgbClr val="416180"/>
          </a:solidFill>
          <a:ln/>
        </p:spPr>
      </p:sp>
      <p:sp>
        <p:nvSpPr>
          <p:cNvPr id="11" name="Text 9"/>
          <p:cNvSpPr/>
          <p:nvPr/>
        </p:nvSpPr>
        <p:spPr>
          <a:xfrm>
            <a:off x="9334500" y="4085431"/>
            <a:ext cx="4128135" cy="762000"/>
          </a:xfrm>
          <a:prstGeom prst="rect">
            <a:avLst/>
          </a:prstGeom>
          <a:noFill/>
          <a:ln/>
        </p:spPr>
        <p:txBody>
          <a:bodyPr wrap="square" lIns="25400" tIns="25400" rIns="25400" bIns="25400" rtlCol="0" anchor="t">
            <a:normAutofit/>
          </a:bodyPr>
          <a:lstStyle/>
          <a:p>
            <a:pPr algn="l" indent="0" marL="0">
              <a:lnSpc>
                <a:spcPct val="87023"/>
              </a:lnSpc>
              <a:buNone/>
            </a:pPr>
            <a:r>
              <a:rPr lang="en-US" sz="5700" dirty="0">
                <a:solidFill>
                  <a:srgbClr val="F2F2F3"/>
                </a:solidFill>
                <a:latin typeface="Arial" pitchFamily="34" charset="0"/>
                <a:ea typeface="Arial" pitchFamily="34" charset="-122"/>
                <a:cs typeface="Arial" pitchFamily="34" charset="-120"/>
              </a:rPr>
              <a:t>286 820 €</a:t>
            </a:r>
            <a:endParaRPr lang="en-US" sz="5700" dirty="0"/>
          </a:p>
        </p:txBody>
      </p:sp>
      <p:sp>
        <p:nvSpPr>
          <p:cNvPr id="12" name="Text 10"/>
          <p:cNvSpPr/>
          <p:nvPr/>
        </p:nvSpPr>
        <p:spPr>
          <a:xfrm>
            <a:off x="9334500" y="4866481"/>
            <a:ext cx="3865436" cy="622300"/>
          </a:xfrm>
          <a:prstGeom prst="rect">
            <a:avLst/>
          </a:prstGeom>
          <a:noFill/>
          <a:ln/>
        </p:spPr>
        <p:txBody>
          <a:bodyPr wrap="square" lIns="25400" tIns="25400" rIns="25400" bIns="25400" rtlCol="0" anchor="t">
            <a:normAutofit/>
          </a:bodyPr>
          <a:lstStyle/>
          <a:p>
            <a:pPr algn="l" indent="0" marL="0">
              <a:buNone/>
            </a:pPr>
            <a:r>
              <a:rPr lang="en-US" sz="1875" dirty="0">
                <a:solidFill>
                  <a:srgbClr val="94BCE3"/>
                </a:solidFill>
                <a:latin typeface="Arial" pitchFamily="34" charset="0"/>
                <a:ea typeface="Arial" pitchFamily="34" charset="-122"/>
                <a:cs typeface="Arial" pitchFamily="34" charset="-120"/>
              </a:rPr>
              <a:t>de bénéfice net sur la période de test</a:t>
            </a:r>
            <a:endParaRPr lang="en-US" sz="1875" dirty="0"/>
          </a:p>
        </p:txBody>
      </p:sp>
      <p:sp>
        <p:nvSpPr>
          <p:cNvPr id="13" name="Shape 11"/>
          <p:cNvSpPr/>
          <p:nvPr/>
        </p:nvSpPr>
        <p:spPr>
          <a:xfrm>
            <a:off x="13468350" y="3888581"/>
            <a:ext cx="3752850" cy="9525"/>
          </a:xfrm>
          <a:prstGeom prst="rect">
            <a:avLst/>
          </a:prstGeom>
          <a:solidFill>
            <a:srgbClr val="416180"/>
          </a:solidFill>
          <a:ln/>
        </p:spPr>
      </p:sp>
      <p:sp>
        <p:nvSpPr>
          <p:cNvPr id="14" name="Text 12"/>
          <p:cNvSpPr/>
          <p:nvPr/>
        </p:nvSpPr>
        <p:spPr>
          <a:xfrm>
            <a:off x="13468350" y="4085431"/>
            <a:ext cx="4128135" cy="762000"/>
          </a:xfrm>
          <a:prstGeom prst="rect">
            <a:avLst/>
          </a:prstGeom>
          <a:noFill/>
          <a:ln/>
        </p:spPr>
        <p:txBody>
          <a:bodyPr wrap="square" lIns="25400" tIns="25400" rIns="25400" bIns="25400" rtlCol="0" anchor="t">
            <a:normAutofit/>
          </a:bodyPr>
          <a:lstStyle/>
          <a:p>
            <a:pPr algn="l" indent="0" marL="0">
              <a:lnSpc>
                <a:spcPct val="87023"/>
              </a:lnSpc>
              <a:buNone/>
            </a:pPr>
            <a:r>
              <a:rPr lang="en-US" sz="5700" dirty="0">
                <a:solidFill>
                  <a:srgbClr val="F2F2F3"/>
                </a:solidFill>
                <a:latin typeface="Arial" pitchFamily="34" charset="0"/>
                <a:ea typeface="Arial" pitchFamily="34" charset="-122"/>
                <a:cs typeface="Arial" pitchFamily="34" charset="-120"/>
              </a:rPr>
              <a:t>11</a:t>
            </a:r>
            <a:endParaRPr lang="en-US" sz="5700" dirty="0"/>
          </a:p>
        </p:txBody>
      </p:sp>
      <p:sp>
        <p:nvSpPr>
          <p:cNvPr id="15" name="Text 13"/>
          <p:cNvSpPr/>
          <p:nvPr/>
        </p:nvSpPr>
        <p:spPr>
          <a:xfrm>
            <a:off x="13468350" y="4866481"/>
            <a:ext cx="3865436" cy="622300"/>
          </a:xfrm>
          <a:prstGeom prst="rect">
            <a:avLst/>
          </a:prstGeom>
          <a:noFill/>
          <a:ln/>
        </p:spPr>
        <p:txBody>
          <a:bodyPr wrap="square" lIns="25400" tIns="25400" rIns="25400" bIns="25400" rtlCol="0" anchor="t">
            <a:normAutofit/>
          </a:bodyPr>
          <a:lstStyle/>
          <a:p>
            <a:pPr algn="l" indent="0" marL="0">
              <a:buNone/>
            </a:pPr>
            <a:r>
              <a:rPr lang="en-US" sz="1875" dirty="0">
                <a:solidFill>
                  <a:srgbClr val="94BCE3"/>
                </a:solidFill>
                <a:latin typeface="Arial" pitchFamily="34" charset="0"/>
                <a:ea typeface="Arial" pitchFamily="34" charset="-122"/>
                <a:cs typeface="Arial" pitchFamily="34" charset="-120"/>
              </a:rPr>
              <a:t>incidents réels rencontrés, corrigés et documentés</a:t>
            </a:r>
            <a:endParaRPr lang="en-US" sz="1875" dirty="0"/>
          </a:p>
        </p:txBody>
      </p:sp>
      <p:sp>
        <p:nvSpPr>
          <p:cNvPr id="16" name="Text 14"/>
          <p:cNvSpPr/>
          <p:nvPr/>
        </p:nvSpPr>
        <p:spPr>
          <a:xfrm>
            <a:off x="1066800" y="6202363"/>
            <a:ext cx="8549640"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94BCE3"/>
                </a:solidFill>
                <a:latin typeface="Arial" pitchFamily="34" charset="0"/>
                <a:ea typeface="Arial" pitchFamily="34" charset="-122"/>
                <a:cs typeface="Arial" pitchFamily="34" charset="-120"/>
              </a:rPr>
              <a:t>LIMITES ASSUMÉES</a:t>
            </a:r>
            <a:endParaRPr lang="en-US" sz="1800" dirty="0"/>
          </a:p>
        </p:txBody>
      </p:sp>
      <p:sp>
        <p:nvSpPr>
          <p:cNvPr id="17" name="Text 15"/>
          <p:cNvSpPr/>
          <p:nvPr/>
        </p:nvSpPr>
        <p:spPr>
          <a:xfrm>
            <a:off x="1066800" y="6589713"/>
            <a:ext cx="8005572" cy="1156692"/>
          </a:xfrm>
          <a:prstGeom prst="rect">
            <a:avLst/>
          </a:prstGeom>
          <a:noFill/>
          <a:ln/>
        </p:spPr>
        <p:txBody>
          <a:bodyPr wrap="square" lIns="25400" tIns="25400" rIns="25400" bIns="25400" rtlCol="0" anchor="t">
            <a:normAutofit/>
          </a:bodyPr>
          <a:lstStyle/>
          <a:p>
            <a:pPr algn="l" indent="0" marL="0">
              <a:lnSpc>
                <a:spcPct val="124947"/>
              </a:lnSpc>
              <a:buNone/>
            </a:pPr>
            <a:r>
              <a:rPr lang="en-US" sz="2025" dirty="0">
                <a:solidFill>
                  <a:srgbClr val="D6EBFF"/>
                </a:solidFill>
                <a:latin typeface="Arial" pitchFamily="34" charset="0"/>
                <a:ea typeface="Arial" pitchFamily="34" charset="-122"/>
                <a:cs typeface="Arial" pitchFamily="34" charset="-120"/>
              </a:rPr>
              <a:t>Données simulées — certains signaux, comme le pays inhabituel, y sont trop parfaits. Le coût d'une fausse alerte est une hypothèse. Aucune politique de purge n'est encore implémentée.</a:t>
            </a:r>
            <a:endParaRPr lang="en-US" sz="2025" dirty="0"/>
          </a:p>
        </p:txBody>
      </p:sp>
      <p:sp>
        <p:nvSpPr>
          <p:cNvPr id="18" name="Text 16"/>
          <p:cNvSpPr/>
          <p:nvPr/>
        </p:nvSpPr>
        <p:spPr>
          <a:xfrm>
            <a:off x="9448800" y="6202363"/>
            <a:ext cx="8549640" cy="3111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94BCE3"/>
                </a:solidFill>
                <a:latin typeface="Arial" pitchFamily="34" charset="0"/>
                <a:ea typeface="Arial" pitchFamily="34" charset="-122"/>
                <a:cs typeface="Arial" pitchFamily="34" charset="-120"/>
              </a:rPr>
              <a:t>PERSPECTIVES</a:t>
            </a:r>
            <a:endParaRPr lang="en-US" sz="1800" dirty="0"/>
          </a:p>
        </p:txBody>
      </p:sp>
      <p:sp>
        <p:nvSpPr>
          <p:cNvPr id="19" name="Text 17"/>
          <p:cNvSpPr/>
          <p:nvPr/>
        </p:nvSpPr>
        <p:spPr>
          <a:xfrm>
            <a:off x="9448800" y="6589713"/>
            <a:ext cx="8005572" cy="1529556"/>
          </a:xfrm>
          <a:prstGeom prst="rect">
            <a:avLst/>
          </a:prstGeom>
          <a:noFill/>
          <a:ln/>
        </p:spPr>
        <p:txBody>
          <a:bodyPr wrap="square" lIns="25400" tIns="25400" rIns="25400" bIns="25400" rtlCol="0" anchor="t">
            <a:normAutofit/>
          </a:bodyPr>
          <a:lstStyle/>
          <a:p>
            <a:pPr algn="l" indent="0" marL="0">
              <a:lnSpc>
                <a:spcPct val="124947"/>
              </a:lnSpc>
              <a:buNone/>
            </a:pPr>
            <a:r>
              <a:rPr lang="en-US" sz="2025" dirty="0">
                <a:solidFill>
                  <a:srgbClr val="D6EBFF"/>
                </a:solidFill>
                <a:latin typeface="Arial" pitchFamily="34" charset="0"/>
                <a:ea typeface="Arial" pitchFamily="34" charset="-122"/>
                <a:cs typeface="Arial" pitchFamily="34" charset="-120"/>
              </a:rPr>
              <a:t>Combiner LightGBM et LSTM (74 fraudes complémentaires), automatiser le réentraînement sur alerte de dérive, formaliser la rétention et externaliser les secrets, valider le coût des fausses alertes avec le métier.</a:t>
            </a:r>
            <a:endParaRPr lang="en-US" sz="2025" dirty="0"/>
          </a:p>
        </p:txBody>
      </p:sp>
      <p:sp>
        <p:nvSpPr>
          <p:cNvPr id="20" name="Shape 18"/>
          <p:cNvSpPr/>
          <p:nvPr/>
        </p:nvSpPr>
        <p:spPr>
          <a:xfrm>
            <a:off x="1066800" y="8832850"/>
            <a:ext cx="16154400" cy="9525"/>
          </a:xfrm>
          <a:prstGeom prst="rect">
            <a:avLst/>
          </a:prstGeom>
          <a:solidFill>
            <a:srgbClr val="416180"/>
          </a:solidFill>
          <a:ln/>
        </p:spPr>
      </p:sp>
      <p:sp>
        <p:nvSpPr>
          <p:cNvPr id="21" name="Text 19"/>
          <p:cNvSpPr/>
          <p:nvPr/>
        </p:nvSpPr>
        <p:spPr>
          <a:xfrm>
            <a:off x="1066800" y="9067800"/>
            <a:ext cx="2810917" cy="495300"/>
          </a:xfrm>
          <a:prstGeom prst="rect">
            <a:avLst/>
          </a:prstGeom>
          <a:noFill/>
          <a:ln/>
        </p:spPr>
        <p:txBody>
          <a:bodyPr wrap="square" lIns="25400" tIns="25400" rIns="25400" bIns="25400" rtlCol="0" anchor="t">
            <a:normAutofit/>
          </a:bodyPr>
          <a:lstStyle/>
          <a:p>
            <a:pPr algn="l" indent="0" marL="0">
              <a:buNone/>
            </a:pPr>
            <a:r>
              <a:rPr lang="en-US" sz="3000" dirty="0">
                <a:solidFill>
                  <a:srgbClr val="F2F2F3"/>
                </a:solidFill>
                <a:latin typeface="Arial" pitchFamily="34" charset="0"/>
                <a:ea typeface="Arial" pitchFamily="34" charset="-122"/>
                <a:cs typeface="Arial" pitchFamily="34" charset="-120"/>
              </a:rPr>
              <a:t>Merci — questions ?</a:t>
            </a:r>
            <a:endParaRPr lang="en-US" sz="3000" dirty="0"/>
          </a:p>
        </p:txBody>
      </p:sp>
      <p:sp>
        <p:nvSpPr>
          <p:cNvPr id="22" name="Text 20"/>
          <p:cNvSpPr/>
          <p:nvPr/>
        </p:nvSpPr>
        <p:spPr>
          <a:xfrm>
            <a:off x="10614422" y="9251950"/>
            <a:ext cx="7267456" cy="311150"/>
          </a:xfrm>
          <a:prstGeom prst="rect">
            <a:avLst/>
          </a:prstGeom>
          <a:noFill/>
          <a:ln/>
        </p:spPr>
        <p:txBody>
          <a:bodyPr wrap="square" lIns="25400" tIns="25400" rIns="25400" bIns="25400" rtlCol="0" anchor="t">
            <a:normAutofit/>
          </a:bodyPr>
          <a:lstStyle/>
          <a:p>
            <a:pPr algn="l" indent="0" marL="0">
              <a:buNone/>
            </a:pPr>
            <a:r>
              <a:rPr lang="en-US" sz="1800" dirty="0">
                <a:solidFill>
                  <a:srgbClr val="94BCE3"/>
                </a:solidFill>
                <a:latin typeface="Arial" pitchFamily="34" charset="0"/>
                <a:ea typeface="Arial" pitchFamily="34" charset="-122"/>
                <a:cs typeface="Arial" pitchFamily="34" charset="-120"/>
              </a:rPr>
              <a:t>Khawla Ben Mansour · github.com/k-b-mansour/Detection-Fraude-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2026-09-09T19:16:03Z</dcterms:created>
  <dcterms:modified xsi:type="dcterms:W3CDTF">2026-09-09T19:16:03Z</dcterms:modified>
</cp:coreProperties>
</file>